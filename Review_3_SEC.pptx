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506" r:id="rId6"/>
    <p:sldId id="2147470494" r:id="rId7"/>
    <p:sldId id="2147470505" r:id="rId8"/>
    <p:sldId id="2147470498" r:id="rId9"/>
    <p:sldId id="2147470497" r:id="rId10"/>
    <p:sldId id="2147470507" r:id="rId11"/>
    <p:sldId id="2147470499" r:id="rId12"/>
    <p:sldId id="2147470508" r:id="rId13"/>
    <p:sldId id="2147470502" r:id="rId14"/>
    <p:sldId id="21474705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BDA"/>
    <a:srgbClr val="FFFFFF"/>
    <a:srgbClr val="25B9ED"/>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5399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algn="ctr"/>
            <a:r>
              <a:rPr lang="en-IN" sz="3600" b="1" dirty="0">
                <a:solidFill>
                  <a:schemeClr val="bg1"/>
                </a:solidFill>
              </a:rPr>
              <a:t>SEC EDGAR Forensic Audit System</a:t>
            </a:r>
          </a:p>
          <a:p>
            <a:pPr algn="ctr"/>
            <a:r>
              <a:rPr lang="en-IN" sz="3600" dirty="0">
                <a:solidFill>
                  <a:schemeClr val="bg1"/>
                </a:solidFill>
              </a:rPr>
              <a:t>A Dual-Pipeline Architecture for Zero-Hallucination Financial Auditing</a:t>
            </a:r>
          </a:p>
          <a:p>
            <a:pPr algn="ct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Kishan Patel</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2604953026"/>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8589364" y="57036"/>
            <a:ext cx="3602636"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933C432A-B355-D871-A071-7FA9BCDB46A3}"/>
              </a:ext>
            </a:extLst>
          </p:cNvPr>
          <p:cNvSpPr>
            <a:spLocks noGrp="1" noChangeArrowheads="1"/>
          </p:cNvSpPr>
          <p:nvPr>
            <p:ph type="body" sz="quarter" idx="13"/>
          </p:nvPr>
        </p:nvSpPr>
        <p:spPr bwMode="auto">
          <a:xfrm>
            <a:off x="217696" y="1191756"/>
            <a:ext cx="11484128" cy="513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IN" b="0" dirty="0">
                <a:solidFill>
                  <a:schemeClr val="tx1"/>
                </a:solidFill>
                <a:latin typeface="+mn-lt"/>
              </a:rPr>
              <a:t>The SEC Forensic Audit System is an AI-based tool that helps analysts and auditors check whether the numbers and statements in a company's 10-K and 10-Q reports are accurate and consistent. It pulls exact figures from the official SEC XBRL data into a database, so numeric questions are answered by a direct SQL lookup and not guessed by an AI from tables.</a:t>
            </a:r>
          </a:p>
          <a:p>
            <a:pPr marL="0" indent="0" algn="just" eaLnBrk="0" fontAlgn="base" hangingPunct="0">
              <a:spcBef>
                <a:spcPct val="0"/>
              </a:spcBef>
              <a:spcAft>
                <a:spcPct val="0"/>
              </a:spcAft>
              <a:buNone/>
            </a:pPr>
            <a:endParaRPr lang="en-IN" b="0" dirty="0">
              <a:solidFill>
                <a:schemeClr val="tx1"/>
              </a:solidFill>
              <a:latin typeface="+mn-lt"/>
            </a:endParaRPr>
          </a:p>
          <a:p>
            <a:pPr algn="just" eaLnBrk="0" fontAlgn="base" hangingPunct="0">
              <a:spcBef>
                <a:spcPct val="0"/>
              </a:spcBef>
              <a:spcAft>
                <a:spcPct val="0"/>
              </a:spcAft>
            </a:pPr>
            <a:r>
              <a:rPr lang="en-IN" b="0" dirty="0">
                <a:solidFill>
                  <a:schemeClr val="tx1"/>
                </a:solidFill>
                <a:latin typeface="+mn-lt"/>
              </a:rPr>
              <a:t>It splits each report into its standard sections (risk factors, MD&amp;A, footnotes), searches them with a mix of meaning-based and keyword-based retrieval, and compares figures across filings to detect restatements. An LLM then cross-checks management's claims against the footnote disclosures and gives a result of contradiction, qualification or none, with a source citation, so analysts can find hidden risks much faster than reading hundreds of pages.</a:t>
            </a:r>
            <a:endParaRPr kumimoji="0" lang="en-US" altLang="en-US"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lvl="0" algn="just"/>
            <a:r>
              <a:rPr lang="en-IN" b="0" dirty="0">
                <a:solidFill>
                  <a:schemeClr val="tx1"/>
                </a:solidFill>
                <a:latin typeface="+mn-lt"/>
              </a:rPr>
              <a:t>Automate the processing of SEC filings (10-K and 10-Q) by pulling exact financial figures from the official XBRL data and splitting the report text into its standard sections: risk factors, MD&amp;A and footnotes.</a:t>
            </a:r>
          </a:p>
          <a:p>
            <a:pPr lvl="0" algn="just"/>
            <a:r>
              <a:rPr lang="en-IN" b="0" dirty="0">
                <a:solidFill>
                  <a:schemeClr val="tx1"/>
                </a:solidFill>
                <a:latin typeface="+mn-lt"/>
              </a:rPr>
              <a:t>Answer numeric questions with a direct database (SQL) lookup, so every number is exact and not guessed by an AI from a table. </a:t>
            </a:r>
          </a:p>
          <a:p>
            <a:pPr lvl="0" algn="just"/>
            <a:r>
              <a:rPr lang="en-IN" b="0" dirty="0">
                <a:solidFill>
                  <a:schemeClr val="tx1"/>
                </a:solidFill>
                <a:latin typeface="+mn-lt"/>
              </a:rPr>
              <a:t>Cross-check figures across multiple filings to catch restatements, where a company changes a number it reported earlier, and show the dollar and percentage difference.</a:t>
            </a:r>
          </a:p>
          <a:p>
            <a:pPr lvl="0" algn="just"/>
            <a:r>
              <a:rPr lang="en-IN" b="0" dirty="0">
                <a:solidFill>
                  <a:schemeClr val="tx1"/>
                </a:solidFill>
                <a:latin typeface="+mn-lt"/>
              </a:rPr>
              <a:t>Compare the MD&amp;A claims with the footnote disclosures, and give an explainable result of contradiction, qualification or none, with a source citation, to support human analysts.</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8724275" y="57036"/>
            <a:ext cx="3467725"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p:txBody>
          <a:bodyPr/>
          <a:lstStyle/>
          <a:p>
            <a:pPr marL="0" indent="0">
              <a:buNone/>
            </a:pPr>
            <a:r>
              <a:rPr lang="en-IN" dirty="0">
                <a:latin typeface="+mn-lt"/>
              </a:rPr>
              <a:t>Module 1: Zero-Hallucination Numeric Engine (</a:t>
            </a:r>
            <a:r>
              <a:rPr lang="en-IN" dirty="0" err="1">
                <a:latin typeface="+mn-lt"/>
              </a:rPr>
              <a:t>DuckDB</a:t>
            </a:r>
            <a:r>
              <a:rPr lang="en-IN" dirty="0">
                <a:latin typeface="+mn-lt"/>
              </a:rPr>
              <a:t>)</a:t>
            </a:r>
          </a:p>
          <a:p>
            <a:pPr lvl="0"/>
            <a:r>
              <a:rPr lang="en-IN" b="0" dirty="0">
                <a:solidFill>
                  <a:srgbClr val="30BBDA"/>
                </a:solidFill>
                <a:latin typeface="+mn-lt"/>
              </a:rPr>
              <a:t>Loads XBRL financial facts from SEC EDGAR into an embedded </a:t>
            </a:r>
            <a:r>
              <a:rPr lang="en-IN" b="0" dirty="0" err="1">
                <a:solidFill>
                  <a:srgbClr val="30BBDA"/>
                </a:solidFill>
                <a:latin typeface="+mn-lt"/>
              </a:rPr>
              <a:t>DuckDB</a:t>
            </a:r>
            <a:r>
              <a:rPr lang="en-IN" b="0" dirty="0">
                <a:solidFill>
                  <a:srgbClr val="30BBDA"/>
                </a:solidFill>
                <a:latin typeface="+mn-lt"/>
              </a:rPr>
              <a:t> database</a:t>
            </a:r>
          </a:p>
          <a:p>
            <a:pPr lvl="0"/>
            <a:r>
              <a:rPr lang="en-IN" b="0" dirty="0">
                <a:solidFill>
                  <a:srgbClr val="30BBDA"/>
                </a:solidFill>
                <a:latin typeface="+mn-lt"/>
              </a:rPr>
              <a:t>Answers number questions with a direct SQL lookup, so figures are exact and not guessed by AI</a:t>
            </a:r>
          </a:p>
          <a:p>
            <a:pPr marL="0" indent="0">
              <a:buNone/>
            </a:pPr>
            <a:r>
              <a:rPr lang="en-IN" dirty="0">
                <a:latin typeface="+mn-lt"/>
              </a:rPr>
              <a:t>Module 2: Restatement &amp; Revision Detection</a:t>
            </a:r>
          </a:p>
          <a:p>
            <a:pPr lvl="0"/>
            <a:r>
              <a:rPr lang="en-IN" b="0" dirty="0">
                <a:solidFill>
                  <a:srgbClr val="30BBDA"/>
                </a:solidFill>
                <a:latin typeface="+mn-lt"/>
              </a:rPr>
              <a:t>Compares the same figure across different filing dates for the same reporting period</a:t>
            </a:r>
          </a:p>
          <a:p>
            <a:pPr lvl="0"/>
            <a:r>
              <a:rPr lang="en-IN" b="0" dirty="0">
                <a:solidFill>
                  <a:srgbClr val="30BBDA"/>
                </a:solidFill>
                <a:latin typeface="+mn-lt"/>
              </a:rPr>
              <a:t>Calculates the dollar change and percentage change when a company revises a number.</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IN" b="1" dirty="0">
                <a:solidFill>
                  <a:schemeClr val="bg1"/>
                </a:solidFill>
              </a:rPr>
              <a:t>SEC EDGAR Forensic Audit System</a:t>
            </a:r>
          </a:p>
          <a:p>
            <a:pPr algn="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63B6-5FCE-26A5-A685-8650014A16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16BBD39-64DD-6C5C-F76B-5F9C3DB45373}"/>
              </a:ext>
            </a:extLst>
          </p:cNvPr>
          <p:cNvSpPr>
            <a:spLocks noGrp="1"/>
          </p:cNvSpPr>
          <p:nvPr>
            <p:ph type="body" sz="quarter" idx="13"/>
          </p:nvPr>
        </p:nvSpPr>
        <p:spPr/>
        <p:txBody>
          <a:bodyPr/>
          <a:lstStyle/>
          <a:p>
            <a:pPr marL="0" indent="0">
              <a:buNone/>
            </a:pPr>
            <a:r>
              <a:rPr lang="en-IN" dirty="0">
                <a:latin typeface="+mn-lt"/>
              </a:rPr>
              <a:t>Module 3: Section-Aware Hybrid Search</a:t>
            </a:r>
          </a:p>
          <a:p>
            <a:pPr lvl="0"/>
            <a:r>
              <a:rPr lang="en-IN" b="0" dirty="0">
                <a:solidFill>
                  <a:srgbClr val="30BBDA"/>
                </a:solidFill>
                <a:latin typeface="+mn-lt"/>
              </a:rPr>
              <a:t>Splits filings into SEC sections (Item 1A, Item 7, Item 8) and searches them with </a:t>
            </a:r>
            <a:r>
              <a:rPr lang="en-IN" b="0" dirty="0" err="1">
                <a:solidFill>
                  <a:srgbClr val="30BBDA"/>
                </a:solidFill>
                <a:latin typeface="+mn-lt"/>
              </a:rPr>
              <a:t>ChromaDB</a:t>
            </a:r>
            <a:r>
              <a:rPr lang="en-IN" b="0" dirty="0">
                <a:solidFill>
                  <a:srgbClr val="30BBDA"/>
                </a:solidFill>
                <a:latin typeface="+mn-lt"/>
              </a:rPr>
              <a:t> vectors, BM25 keywords and </a:t>
            </a:r>
            <a:r>
              <a:rPr lang="en-IN" b="0" dirty="0" err="1">
                <a:solidFill>
                  <a:srgbClr val="30BBDA"/>
                </a:solidFill>
                <a:latin typeface="+mn-lt"/>
              </a:rPr>
              <a:t>Flashrank</a:t>
            </a:r>
            <a:r>
              <a:rPr lang="en-IN" b="0" dirty="0">
                <a:solidFill>
                  <a:srgbClr val="30BBDA"/>
                </a:solidFill>
                <a:latin typeface="+mn-lt"/>
              </a:rPr>
              <a:t> reranking</a:t>
            </a:r>
          </a:p>
          <a:p>
            <a:pPr lvl="0"/>
            <a:r>
              <a:rPr lang="en-IN" b="0" dirty="0">
                <a:solidFill>
                  <a:srgbClr val="30BBDA"/>
                </a:solidFill>
                <a:latin typeface="+mn-lt"/>
              </a:rPr>
              <a:t>Returns the most relevant passages with the section and filing they came from</a:t>
            </a:r>
          </a:p>
          <a:p>
            <a:pPr marL="0" indent="0">
              <a:buNone/>
            </a:pPr>
            <a:r>
              <a:rPr lang="en-IN" dirty="0"/>
              <a:t>Mo</a:t>
            </a:r>
            <a:r>
              <a:rPr lang="en-IN" dirty="0">
                <a:latin typeface="+mn-lt"/>
              </a:rPr>
              <a:t>dule 4: Dual-Pass LLM Forensic Verifier</a:t>
            </a:r>
          </a:p>
          <a:p>
            <a:pPr lvl="0"/>
            <a:r>
              <a:rPr lang="en-IN" b="0" dirty="0">
                <a:solidFill>
                  <a:srgbClr val="30BBDA"/>
                </a:solidFill>
                <a:latin typeface="+mn-lt"/>
              </a:rPr>
              <a:t>Pass A retrieves MD&amp;A claims and Pass B retrieves footnote disclosures on the same topic</a:t>
            </a:r>
          </a:p>
          <a:p>
            <a:pPr lvl="0"/>
            <a:r>
              <a:rPr lang="en-IN" b="0" dirty="0">
                <a:solidFill>
                  <a:srgbClr val="30BBDA"/>
                </a:solidFill>
                <a:latin typeface="+mn-lt"/>
              </a:rPr>
              <a:t>Google Gemini compares them and returns </a:t>
            </a:r>
            <a:r>
              <a:rPr lang="en-IN" b="0" dirty="0" err="1">
                <a:solidFill>
                  <a:srgbClr val="30BBDA"/>
                </a:solidFill>
                <a:latin typeface="+mn-lt"/>
              </a:rPr>
              <a:t>Contradiction,Qualification</a:t>
            </a:r>
            <a:r>
              <a:rPr lang="en-IN" b="0" dirty="0">
                <a:solidFill>
                  <a:srgbClr val="30BBDA"/>
                </a:solidFill>
                <a:latin typeface="+mn-lt"/>
              </a:rPr>
              <a:t> or None, with a short explanation</a:t>
            </a:r>
          </a:p>
        </p:txBody>
      </p:sp>
      <p:sp>
        <p:nvSpPr>
          <p:cNvPr id="3" name="TextBox 2">
            <a:extLst>
              <a:ext uri="{FF2B5EF4-FFF2-40B4-BE49-F238E27FC236}">
                <a16:creationId xmlns:a16="http://schemas.microsoft.com/office/drawing/2014/main" id="{5BD55D70-5086-D685-BB03-3CE0B38BEBE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D82FA69-9DD2-9E3C-EE5B-186098EFFCA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14AB54-7A0D-15FC-3B0D-534714E466F3}"/>
              </a:ext>
            </a:extLst>
          </p:cNvPr>
          <p:cNvSpPr txBox="1"/>
          <p:nvPr/>
        </p:nvSpPr>
        <p:spPr>
          <a:xfrm>
            <a:off x="8724275" y="57036"/>
            <a:ext cx="3467725"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3240097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algn="just"/>
            <a:r>
              <a:rPr lang="en-IN" b="0" dirty="0">
                <a:solidFill>
                  <a:schemeClr val="tx1"/>
                </a:solidFill>
                <a:latin typeface="+mn-lt"/>
              </a:rPr>
              <a:t>Companies like Apple, Tesla and JPMorgan file reports (10-K and 10-Q) that are 100 to 300+ pages long, with big tables, management's summary and legal footnotes. Reading them by hand takes hours, and AI chatbots often get the numbers wrong because they cut tables into pieces and lose which number belongs to which row, column and year.</a:t>
            </a:r>
          </a:p>
          <a:p>
            <a:pPr algn="just"/>
            <a:r>
              <a:rPr lang="en-IN" b="0" dirty="0">
                <a:solidFill>
                  <a:schemeClr val="tx1"/>
                </a:solidFill>
                <a:latin typeface="+mn-lt"/>
              </a:rPr>
              <a:t>AI tools also can't compare the same number across different reports, so quiet changes go unnoticed. They also miss hidden risks: management's summary sounds positive, while lawsuits and losses are buried in the footnotes, and normal AI search never checks one against the other.</a:t>
            </a:r>
            <a:endParaRPr lang="en-US" b="0" dirty="0">
              <a:solidFill>
                <a:schemeClr val="tx1"/>
              </a:solidFill>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8619344" y="57036"/>
            <a:ext cx="3572656"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390907" y="1214183"/>
            <a:ext cx="10624338" cy="4142989"/>
          </a:xfrm>
        </p:spPr>
        <p:txBody>
          <a:bodyPr/>
          <a:lstStyle/>
          <a:p>
            <a:pPr marL="0" indent="0">
              <a:lnSpc>
                <a:spcPct val="150000"/>
              </a:lnSpc>
              <a:buNone/>
            </a:pPr>
            <a:r>
              <a:rPr lang="en-US" sz="2400" b="0" dirty="0">
                <a:solidFill>
                  <a:srgbClr val="5583D1"/>
                </a:solidFill>
                <a:latin typeface="+mn-lt"/>
              </a:rPr>
              <a:t>Calibri body 28</a:t>
            </a: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390907" y="445509"/>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356185" y="1134720"/>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92ED685-8E5B-C58F-8932-67CD9472E5C7}"/>
              </a:ext>
            </a:extLst>
          </p:cNvPr>
          <p:cNvSpPr/>
          <p:nvPr/>
        </p:nvSpPr>
        <p:spPr>
          <a:xfrm>
            <a:off x="390907" y="1386756"/>
            <a:ext cx="24653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Data Collection:</a:t>
            </a:r>
            <a:br>
              <a:rPr lang="en-IN" dirty="0"/>
            </a:br>
            <a:r>
              <a:rPr lang="en-IN" dirty="0"/>
              <a:t>SEC EDGAR, XBRL facts and HTML filing text.</a:t>
            </a:r>
          </a:p>
        </p:txBody>
      </p:sp>
      <p:sp>
        <p:nvSpPr>
          <p:cNvPr id="9" name="Rectangle 8">
            <a:extLst>
              <a:ext uri="{FF2B5EF4-FFF2-40B4-BE49-F238E27FC236}">
                <a16:creationId xmlns:a16="http://schemas.microsoft.com/office/drawing/2014/main" id="{4787DF57-9F38-A56E-38E7-33792DAA261E}"/>
              </a:ext>
            </a:extLst>
          </p:cNvPr>
          <p:cNvSpPr/>
          <p:nvPr/>
        </p:nvSpPr>
        <p:spPr>
          <a:xfrm>
            <a:off x="3476692" y="1386756"/>
            <a:ext cx="311658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err="1"/>
              <a:t>InParsing</a:t>
            </a:r>
            <a:r>
              <a:rPr lang="en-IN" b="1" dirty="0"/>
              <a:t> &amp; Sectioning:</a:t>
            </a:r>
            <a:r>
              <a:rPr lang="en-IN" dirty="0"/>
              <a:t> </a:t>
            </a:r>
            <a:br>
              <a:rPr lang="en-IN" dirty="0"/>
            </a:br>
            <a:r>
              <a:rPr lang="en-IN" dirty="0"/>
              <a:t>split into Item 1A, Item 7 and Item 8.</a:t>
            </a:r>
          </a:p>
        </p:txBody>
      </p:sp>
      <p:sp>
        <p:nvSpPr>
          <p:cNvPr id="11" name="Rectangle 10">
            <a:extLst>
              <a:ext uri="{FF2B5EF4-FFF2-40B4-BE49-F238E27FC236}">
                <a16:creationId xmlns:a16="http://schemas.microsoft.com/office/drawing/2014/main" id="{8014B049-4AE3-419F-73D0-88958C83020E}"/>
              </a:ext>
            </a:extLst>
          </p:cNvPr>
          <p:cNvSpPr/>
          <p:nvPr/>
        </p:nvSpPr>
        <p:spPr>
          <a:xfrm>
            <a:off x="7337133" y="1383328"/>
            <a:ext cx="311658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Storage &amp; Indexing:</a:t>
            </a:r>
            <a:br>
              <a:rPr lang="en-IN" dirty="0"/>
            </a:br>
            <a:r>
              <a:rPr lang="en-IN" dirty="0" err="1"/>
              <a:t>DuckDB</a:t>
            </a:r>
            <a:r>
              <a:rPr lang="en-IN" dirty="0"/>
              <a:t> for numbers, </a:t>
            </a:r>
            <a:r>
              <a:rPr lang="en-IN" dirty="0" err="1"/>
              <a:t>ChromaDB</a:t>
            </a:r>
            <a:r>
              <a:rPr lang="en-IN" dirty="0"/>
              <a:t> and BM25 for text</a:t>
            </a:r>
          </a:p>
        </p:txBody>
      </p:sp>
      <p:sp>
        <p:nvSpPr>
          <p:cNvPr id="15" name="Rectangle 14">
            <a:extLst>
              <a:ext uri="{FF2B5EF4-FFF2-40B4-BE49-F238E27FC236}">
                <a16:creationId xmlns:a16="http://schemas.microsoft.com/office/drawing/2014/main" id="{A7F038BF-A0BA-8B17-FC16-F1AF6F66EED2}"/>
              </a:ext>
            </a:extLst>
          </p:cNvPr>
          <p:cNvSpPr/>
          <p:nvPr/>
        </p:nvSpPr>
        <p:spPr>
          <a:xfrm>
            <a:off x="7245943" y="3773246"/>
            <a:ext cx="3298968" cy="11290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Retrieval &amp; Execution:</a:t>
            </a:r>
            <a:br>
              <a:rPr lang="en-IN" dirty="0"/>
            </a:br>
            <a:r>
              <a:rPr lang="en-IN" dirty="0"/>
              <a:t>SQL lookup, or hybrid search with </a:t>
            </a:r>
            <a:r>
              <a:rPr lang="en-IN" dirty="0" err="1"/>
              <a:t>Flashrank</a:t>
            </a:r>
            <a:r>
              <a:rPr lang="en-IN" dirty="0"/>
              <a:t> reranking.</a:t>
            </a:r>
          </a:p>
        </p:txBody>
      </p:sp>
      <p:sp>
        <p:nvSpPr>
          <p:cNvPr id="21" name="Rectangle 20">
            <a:extLst>
              <a:ext uri="{FF2B5EF4-FFF2-40B4-BE49-F238E27FC236}">
                <a16:creationId xmlns:a16="http://schemas.microsoft.com/office/drawing/2014/main" id="{14BD7628-BA74-BA76-973A-BA061C89E9E3}"/>
              </a:ext>
            </a:extLst>
          </p:cNvPr>
          <p:cNvSpPr/>
          <p:nvPr/>
        </p:nvSpPr>
        <p:spPr>
          <a:xfrm>
            <a:off x="3417219" y="3773246"/>
            <a:ext cx="3298968" cy="11290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Cross-Verification:</a:t>
            </a:r>
            <a:br>
              <a:rPr lang="en-IN" dirty="0"/>
            </a:br>
            <a:r>
              <a:rPr lang="en-IN" dirty="0" err="1"/>
              <a:t>Rulrestatement</a:t>
            </a:r>
            <a:r>
              <a:rPr lang="en-IN" dirty="0"/>
              <a:t> check, and MD&amp;A against footnotes with the LLM.</a:t>
            </a:r>
          </a:p>
        </p:txBody>
      </p:sp>
      <p:sp>
        <p:nvSpPr>
          <p:cNvPr id="23" name="Rectangle 22">
            <a:extLst>
              <a:ext uri="{FF2B5EF4-FFF2-40B4-BE49-F238E27FC236}">
                <a16:creationId xmlns:a16="http://schemas.microsoft.com/office/drawing/2014/main" id="{BCF91BDF-68F3-B532-044F-8EEC54156FEC}"/>
              </a:ext>
            </a:extLst>
          </p:cNvPr>
          <p:cNvSpPr/>
          <p:nvPr/>
        </p:nvSpPr>
        <p:spPr>
          <a:xfrm>
            <a:off x="535085" y="3773245"/>
            <a:ext cx="2465300" cy="11290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Cited Answer:</a:t>
            </a:r>
            <a:br>
              <a:rPr lang="en-IN" dirty="0"/>
            </a:br>
            <a:r>
              <a:rPr lang="en-IN" dirty="0"/>
              <a:t>contradiction, qualification or none, with the source.</a:t>
            </a:r>
          </a:p>
        </p:txBody>
      </p:sp>
      <p:cxnSp>
        <p:nvCxnSpPr>
          <p:cNvPr id="28" name="Straight Arrow Connector 27">
            <a:extLst>
              <a:ext uri="{FF2B5EF4-FFF2-40B4-BE49-F238E27FC236}">
                <a16:creationId xmlns:a16="http://schemas.microsoft.com/office/drawing/2014/main" id="{F35A9175-EFDD-8F8F-0510-39F7BDF1F274}"/>
              </a:ext>
            </a:extLst>
          </p:cNvPr>
          <p:cNvCxnSpPr>
            <a:stCxn id="7" idx="3"/>
            <a:endCxn id="9" idx="1"/>
          </p:cNvCxnSpPr>
          <p:nvPr/>
        </p:nvCxnSpPr>
        <p:spPr>
          <a:xfrm>
            <a:off x="2856207" y="1843956"/>
            <a:ext cx="62048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D7F17EBC-D07A-F1DA-5C75-08774E9D1A11}"/>
              </a:ext>
            </a:extLst>
          </p:cNvPr>
          <p:cNvCxnSpPr>
            <a:stCxn id="9" idx="3"/>
            <a:endCxn id="11" idx="1"/>
          </p:cNvCxnSpPr>
          <p:nvPr/>
        </p:nvCxnSpPr>
        <p:spPr>
          <a:xfrm flipV="1">
            <a:off x="6593280" y="1840528"/>
            <a:ext cx="743853" cy="34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F164679-BB22-311B-42C7-A96B59E90B60}"/>
              </a:ext>
            </a:extLst>
          </p:cNvPr>
          <p:cNvCxnSpPr>
            <a:cxnSpLocks/>
            <a:stCxn id="11" idx="2"/>
            <a:endCxn id="4" idx="0"/>
          </p:cNvCxnSpPr>
          <p:nvPr/>
        </p:nvCxnSpPr>
        <p:spPr>
          <a:xfrm>
            <a:off x="8895427" y="2297728"/>
            <a:ext cx="0" cy="2822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F4C7CB76-382D-EE2B-B3FF-33C5C6C8691D}"/>
              </a:ext>
            </a:extLst>
          </p:cNvPr>
          <p:cNvCxnSpPr>
            <a:cxnSpLocks/>
            <a:endCxn id="21" idx="3"/>
          </p:cNvCxnSpPr>
          <p:nvPr/>
        </p:nvCxnSpPr>
        <p:spPr>
          <a:xfrm flipH="1">
            <a:off x="6716187" y="4337792"/>
            <a:ext cx="620946"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DC997720-BBB2-F5C2-2EF5-46C6E519D9A3}"/>
              </a:ext>
            </a:extLst>
          </p:cNvPr>
          <p:cNvCxnSpPr>
            <a:cxnSpLocks/>
            <a:stCxn id="21" idx="1"/>
            <a:endCxn id="23" idx="3"/>
          </p:cNvCxnSpPr>
          <p:nvPr/>
        </p:nvCxnSpPr>
        <p:spPr>
          <a:xfrm flipH="1" flipV="1">
            <a:off x="3000385" y="4337788"/>
            <a:ext cx="416834" cy="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Rectangle 3">
            <a:extLst>
              <a:ext uri="{FF2B5EF4-FFF2-40B4-BE49-F238E27FC236}">
                <a16:creationId xmlns:a16="http://schemas.microsoft.com/office/drawing/2014/main" id="{698427F8-EC96-415F-C4BF-527A020F4945}"/>
              </a:ext>
            </a:extLst>
          </p:cNvPr>
          <p:cNvSpPr/>
          <p:nvPr/>
        </p:nvSpPr>
        <p:spPr>
          <a:xfrm>
            <a:off x="7337133" y="2580001"/>
            <a:ext cx="311658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Query Routing:</a:t>
            </a:r>
          </a:p>
          <a:p>
            <a:pPr algn="ctr"/>
            <a:r>
              <a:rPr lang="en-IN" dirty="0"/>
              <a:t>numeric, narrative, restatement or contradiction.</a:t>
            </a:r>
          </a:p>
        </p:txBody>
      </p:sp>
      <p:cxnSp>
        <p:nvCxnSpPr>
          <p:cNvPr id="18" name="Straight Arrow Connector 17">
            <a:extLst>
              <a:ext uri="{FF2B5EF4-FFF2-40B4-BE49-F238E27FC236}">
                <a16:creationId xmlns:a16="http://schemas.microsoft.com/office/drawing/2014/main" id="{A7E00ED3-3347-A865-A90C-572DFB434309}"/>
              </a:ext>
            </a:extLst>
          </p:cNvPr>
          <p:cNvCxnSpPr>
            <a:cxnSpLocks/>
            <a:stCxn id="4" idx="2"/>
            <a:endCxn id="15" idx="0"/>
          </p:cNvCxnSpPr>
          <p:nvPr/>
        </p:nvCxnSpPr>
        <p:spPr>
          <a:xfrm>
            <a:off x="8895427" y="3494401"/>
            <a:ext cx="0" cy="2788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EC400048-B328-FC8C-7E58-0BA8D485860C}"/>
              </a:ext>
            </a:extLst>
          </p:cNvPr>
          <p:cNvSpPr txBox="1"/>
          <p:nvPr/>
        </p:nvSpPr>
        <p:spPr>
          <a:xfrm>
            <a:off x="8784237" y="14990"/>
            <a:ext cx="3997828" cy="646331"/>
          </a:xfrm>
          <a:prstGeom prst="rect">
            <a:avLst/>
          </a:prstGeom>
          <a:noFill/>
        </p:spPr>
        <p:txBody>
          <a:bodyPr wrap="square" rtlCol="0">
            <a:spAutoFit/>
          </a:bodyPr>
          <a:lstStyle/>
          <a:p>
            <a:r>
              <a:rPr lang="en-IN" b="1" dirty="0">
                <a:solidFill>
                  <a:schemeClr val="bg1"/>
                </a:solidFill>
              </a:rPr>
              <a:t>SEC EDGAR Forensic Audit System</a:t>
            </a:r>
          </a:p>
          <a:p>
            <a:endParaRPr lang="en-IN" dirty="0"/>
          </a:p>
        </p:txBody>
      </p:sp>
    </p:spTree>
    <p:extLst>
      <p:ext uri="{BB962C8B-B14F-4D97-AF65-F5344CB8AC3E}">
        <p14:creationId xmlns:p14="http://schemas.microsoft.com/office/powerpoint/2010/main" val="3694876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9142946" y="1921666"/>
            <a:ext cx="1466511" cy="1052256"/>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8424473" y="57036"/>
            <a:ext cx="3767528" cy="369332"/>
          </a:xfrm>
          <a:prstGeom prst="rect">
            <a:avLst/>
          </a:prstGeom>
          <a:noFill/>
        </p:spPr>
        <p:txBody>
          <a:bodyPr wrap="square" rtlCol="0">
            <a:spAutoFit/>
          </a:bodyPr>
          <a:lstStyle/>
          <a:p>
            <a:pPr algn="ctr"/>
            <a:r>
              <a:rPr lang="en-IN" b="1" dirty="0">
                <a:solidFill>
                  <a:schemeClr val="bg1"/>
                </a:solidFill>
              </a:rPr>
              <a:t>SEC EDGAR Forensic Audit System</a:t>
            </a:r>
          </a:p>
        </p:txBody>
      </p:sp>
      <p:graphicFrame>
        <p:nvGraphicFramePr>
          <p:cNvPr id="7" name="Table 6">
            <a:extLst>
              <a:ext uri="{FF2B5EF4-FFF2-40B4-BE49-F238E27FC236}">
                <a16:creationId xmlns:a16="http://schemas.microsoft.com/office/drawing/2014/main" id="{E39FDA89-1E71-E4BE-EF56-6563C995BDAF}"/>
              </a:ext>
            </a:extLst>
          </p:cNvPr>
          <p:cNvGraphicFramePr>
            <a:graphicFrameLocks noGrp="1"/>
          </p:cNvGraphicFramePr>
          <p:nvPr>
            <p:extLst>
              <p:ext uri="{D42A27DB-BD31-4B8C-83A1-F6EECF244321}">
                <p14:modId xmlns:p14="http://schemas.microsoft.com/office/powerpoint/2010/main" val="1947458278"/>
              </p:ext>
            </p:extLst>
          </p:nvPr>
        </p:nvGraphicFramePr>
        <p:xfrm>
          <a:off x="619479" y="1368208"/>
          <a:ext cx="10948827" cy="4987247"/>
        </p:xfrm>
        <a:graphic>
          <a:graphicData uri="http://schemas.openxmlformats.org/drawingml/2006/table">
            <a:tbl>
              <a:tblPr/>
              <a:tblGrid>
                <a:gridCol w="4743443">
                  <a:extLst>
                    <a:ext uri="{9D8B030D-6E8A-4147-A177-3AD203B41FA5}">
                      <a16:colId xmlns:a16="http://schemas.microsoft.com/office/drawing/2014/main" val="2341965718"/>
                    </a:ext>
                  </a:extLst>
                </a:gridCol>
                <a:gridCol w="6205384">
                  <a:extLst>
                    <a:ext uri="{9D8B030D-6E8A-4147-A177-3AD203B41FA5}">
                      <a16:colId xmlns:a16="http://schemas.microsoft.com/office/drawing/2014/main" val="3339799810"/>
                    </a:ext>
                  </a:extLst>
                </a:gridCol>
              </a:tblGrid>
              <a:tr h="341787">
                <a:tc>
                  <a:txBody>
                    <a:bodyPr/>
                    <a:lstStyle/>
                    <a:p>
                      <a:pPr>
                        <a:buNone/>
                      </a:pPr>
                      <a:r>
                        <a:rPr lang="en-IN" b="1" dirty="0"/>
                        <a:t>Approach / Algorithm / Tool</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B9ED"/>
                    </a:solidFill>
                  </a:tcPr>
                </a:tc>
                <a:tc>
                  <a:txBody>
                    <a:bodyPr/>
                    <a:lstStyle/>
                    <a:p>
                      <a:pPr>
                        <a:buNone/>
                      </a:pPr>
                      <a:r>
                        <a:rPr lang="en-IN" b="1" dirty="0"/>
                        <a:t>Role in SEC Forensic Audit System</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B9ED"/>
                    </a:solidFill>
                  </a:tcPr>
                </a:tc>
                <a:extLst>
                  <a:ext uri="{0D108BD9-81ED-4DB2-BD59-A6C34878D82A}">
                    <a16:rowId xmlns:a16="http://schemas.microsoft.com/office/drawing/2014/main" val="379564188"/>
                  </a:ext>
                </a:extLst>
              </a:tr>
              <a:tr h="341787">
                <a:tc>
                  <a:txBody>
                    <a:bodyPr/>
                    <a:lstStyle/>
                    <a:p>
                      <a:pPr>
                        <a:buNone/>
                      </a:pPr>
                      <a:r>
                        <a:rPr lang="en-IN" b="1"/>
                        <a:t>edgartools</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Fetch XBRL facts and filing text from SEC EDGAR</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94457514"/>
                  </a:ext>
                </a:extLst>
              </a:tr>
              <a:tr h="598127">
                <a:tc>
                  <a:txBody>
                    <a:bodyPr/>
                    <a:lstStyle/>
                    <a:p>
                      <a:pPr>
                        <a:buNone/>
                      </a:pPr>
                      <a:r>
                        <a:rPr lang="en-IN" b="1"/>
                        <a:t>BeautifulSoup4 + Regex Section Parsing</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Convert HTML filings to text and split them into Item 1A, Item 7 and Item 8</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07361359"/>
                  </a:ext>
                </a:extLst>
              </a:tr>
              <a:tr h="341787">
                <a:tc>
                  <a:txBody>
                    <a:bodyPr/>
                    <a:lstStyle/>
                    <a:p>
                      <a:pPr>
                        <a:buNone/>
                      </a:pPr>
                      <a:r>
                        <a:rPr lang="en-IN" b="1"/>
                        <a:t>DuckDB</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Store XBRL financial facts and run exact SQL lookups</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04932415"/>
                  </a:ext>
                </a:extLst>
              </a:tr>
              <a:tr h="598127">
                <a:tc>
                  <a:txBody>
                    <a:bodyPr/>
                    <a:lstStyle/>
                    <a:p>
                      <a:pPr>
                        <a:buNone/>
                      </a:pPr>
                      <a:r>
                        <a:rPr lang="en-IN" b="1"/>
                        <a:t>Period-Matched Restatement Check</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Compare the same figure across filing dates, matching exact period start and end dates</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85716274"/>
                  </a:ext>
                </a:extLst>
              </a:tr>
              <a:tr h="598127">
                <a:tc>
                  <a:txBody>
                    <a:bodyPr/>
                    <a:lstStyle/>
                    <a:p>
                      <a:pPr>
                        <a:buNone/>
                      </a:pPr>
                      <a:r>
                        <a:rPr lang="en-IN" b="1"/>
                        <a:t>Sentence-Aware Chunking</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Break report text into 1,200-character chunks with 200 overlap</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1377745"/>
                  </a:ext>
                </a:extLst>
              </a:tr>
              <a:tr h="341787">
                <a:tc>
                  <a:txBody>
                    <a:bodyPr/>
                    <a:lstStyle/>
                    <a:p>
                      <a:pPr>
                        <a:buNone/>
                      </a:pPr>
                      <a:r>
                        <a:rPr lang="en-IN" b="1"/>
                        <a:t>ChromaDB + BM25 Hybrid Search</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Find passages by meaning (vectors) and by exact keywords</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63211314"/>
                  </a:ext>
                </a:extLst>
              </a:tr>
              <a:tr h="598127">
                <a:tc>
                  <a:txBody>
                    <a:bodyPr/>
                    <a:lstStyle/>
                    <a:p>
                      <a:pPr>
                        <a:buNone/>
                      </a:pPr>
                      <a:r>
                        <a:rPr lang="en-IN" b="1"/>
                        <a:t>Flashrank</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Rerank the combined results and keep the most relevant passages</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54384062"/>
                  </a:ext>
                </a:extLst>
              </a:tr>
              <a:tr h="598127">
                <a:tc>
                  <a:txBody>
                    <a:bodyPr/>
                    <a:lstStyle/>
                    <a:p>
                      <a:pPr>
                        <a:buNone/>
                      </a:pPr>
                      <a:r>
                        <a:rPr lang="en-IN" b="1"/>
                        <a:t>Gemini LLM Verifier</a:t>
                      </a:r>
                      <a:endParaRPr lang="en-IN"/>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Compare MD&amp;A claims with footnotes and return contradiction, qualification or none</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0086159"/>
                  </a:ext>
                </a:extLst>
              </a:tr>
              <a:tr h="341787">
                <a:tc>
                  <a:txBody>
                    <a:bodyPr/>
                    <a:lstStyle/>
                    <a:p>
                      <a:pPr>
                        <a:buNone/>
                      </a:pPr>
                      <a:r>
                        <a:rPr lang="en-IN" b="1" dirty="0" err="1"/>
                        <a:t>Streamlit</a:t>
                      </a:r>
                      <a:endParaRPr lang="en-IN" dirty="0"/>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Dashboard for asking questions and viewing cited answers</a:t>
                      </a:r>
                    </a:p>
                  </a:txBody>
                  <a:tcPr marL="97066" marR="970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51098922"/>
                  </a:ext>
                </a:extLst>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8694295" y="57036"/>
            <a:ext cx="3497705"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A61A54F4-3A1F-125F-F27F-4A1A40F3DCE5}"/>
              </a:ext>
            </a:extLst>
          </p:cNvPr>
          <p:cNvSpPr>
            <a:spLocks noGrp="1" noChangeArrowheads="1"/>
          </p:cNvSpPr>
          <p:nvPr>
            <p:ph type="body" sz="quarter" idx="13"/>
          </p:nvPr>
        </p:nvSpPr>
        <p:spPr bwMode="auto">
          <a:xfrm>
            <a:off x="221274" y="1581398"/>
            <a:ext cx="11744734" cy="41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r>
              <a:rPr lang="en-IN" b="0" dirty="0">
                <a:solidFill>
                  <a:schemeClr val="tx1"/>
                </a:solidFill>
                <a:latin typeface="+mn-lt"/>
              </a:rPr>
              <a:t>Fixed-size chunking cuts tables, so numbers lose their row and column labels and the AI picks wrong values.</a:t>
            </a:r>
          </a:p>
          <a:p>
            <a:pPr lvl="0" algn="just"/>
            <a:r>
              <a:rPr lang="en-IN" b="0" dirty="0">
                <a:solidFill>
                  <a:schemeClr val="tx1"/>
                </a:solidFill>
                <a:latin typeface="+mn-lt"/>
              </a:rPr>
              <a:t>A direct database lookup removes this problem for numbers.</a:t>
            </a:r>
          </a:p>
          <a:p>
            <a:pPr lvl="0" algn="just"/>
            <a:r>
              <a:rPr lang="en-IN" b="0" dirty="0">
                <a:solidFill>
                  <a:schemeClr val="tx1"/>
                </a:solidFill>
                <a:latin typeface="+mn-lt"/>
              </a:rPr>
              <a:t>The system worked on technology, automotive and banking filings.</a:t>
            </a:r>
          </a:p>
          <a:p>
            <a:pPr lvl="0" algn="just"/>
            <a:r>
              <a:rPr lang="en-IN" b="0" dirty="0">
                <a:solidFill>
                  <a:schemeClr val="tx1"/>
                </a:solidFill>
                <a:latin typeface="+mn-lt"/>
              </a:rPr>
              <a:t>Restatement checks must match exact period dates. Without that, one quarter was compared with a full year and gave a false 233% change.</a:t>
            </a:r>
          </a:p>
          <a:p>
            <a:pPr lvl="0" algn="just"/>
            <a:r>
              <a:rPr lang="en-IN" b="0" dirty="0">
                <a:solidFill>
                  <a:schemeClr val="tx1"/>
                </a:solidFill>
                <a:latin typeface="+mn-lt"/>
              </a:rPr>
              <a:t>Keyword routing alone was not enough. Risk questions that mentioned a finance word were wrongly sent to SQL until I added an override list.</a:t>
            </a:r>
          </a:p>
          <a:p>
            <a:pPr marL="0" lvl="0" indent="0" algn="just" eaLnBrk="0" fontAlgn="base" hangingPunct="0">
              <a:lnSpc>
                <a:spcPct val="100000"/>
              </a:lnSpc>
              <a:spcBef>
                <a:spcPct val="0"/>
              </a:spcBef>
              <a:spcAft>
                <a:spcPct val="0"/>
              </a:spcAft>
              <a:buNone/>
            </a:pPr>
            <a:endParaRPr kumimoji="0" lang="en-US" altLang="en-US"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0BF71-D1FA-5F44-7C58-9AEC2F73D1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97F84C-84D0-1106-D2F4-94372F58DEE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Results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7550197-CEFB-8FE5-36F8-FE12A143AB0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1F7BEFA-0945-DC54-CB92-0760FEA3EF89}"/>
              </a:ext>
            </a:extLst>
          </p:cNvPr>
          <p:cNvSpPr txBox="1"/>
          <p:nvPr/>
        </p:nvSpPr>
        <p:spPr>
          <a:xfrm>
            <a:off x="8664315" y="57036"/>
            <a:ext cx="3527685"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63583080-7B91-20AE-01B4-26AB0CEB0ED4}"/>
              </a:ext>
            </a:extLst>
          </p:cNvPr>
          <p:cNvSpPr>
            <a:spLocks noGrp="1" noChangeArrowheads="1"/>
          </p:cNvSpPr>
          <p:nvPr>
            <p:ph type="body" sz="quarter" idx="13"/>
          </p:nvPr>
        </p:nvSpPr>
        <p:spPr bwMode="auto">
          <a:xfrm>
            <a:off x="221274" y="1796327"/>
            <a:ext cx="11744734"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b="0" dirty="0" err="1">
                <a:solidFill>
                  <a:schemeClr val="tx1"/>
                </a:solidFill>
                <a:latin typeface="+mn-lt"/>
              </a:rPr>
              <a:t>DuckDB</a:t>
            </a:r>
            <a:r>
              <a:rPr lang="en-IN" b="0" dirty="0">
                <a:solidFill>
                  <a:schemeClr val="tx1"/>
                </a:solidFill>
                <a:latin typeface="+mn-lt"/>
              </a:rPr>
              <a:t> answered 7 of 7 test queries exactly (100%) on Apple and Tesla filings.</a:t>
            </a:r>
          </a:p>
          <a:p>
            <a:pPr lvl="0"/>
            <a:r>
              <a:rPr lang="en-IN" b="0" dirty="0">
                <a:solidFill>
                  <a:schemeClr val="tx1"/>
                </a:solidFill>
                <a:latin typeface="+mn-lt"/>
              </a:rPr>
              <a:t>JPMorgan FY2024 revenue came out as $177,556 million, matching its 10-K.</a:t>
            </a:r>
          </a:p>
          <a:p>
            <a:pPr lvl="0"/>
            <a:r>
              <a:rPr lang="en-IN" b="0" dirty="0">
                <a:solidFill>
                  <a:schemeClr val="tx1"/>
                </a:solidFill>
                <a:latin typeface="+mn-lt"/>
              </a:rPr>
              <a:t>72,183 facts were stored from Apple, Tesla and JPMorgan filings.</a:t>
            </a:r>
          </a:p>
          <a:p>
            <a:pPr lvl="0"/>
            <a:r>
              <a:rPr lang="en-IN" b="0" dirty="0">
                <a:solidFill>
                  <a:schemeClr val="tx1"/>
                </a:solidFill>
                <a:latin typeface="+mn-lt"/>
              </a:rPr>
              <a:t>The Gemini verifier flagged a contradiction between MD&amp;A and footnotes, with a written explanation.</a:t>
            </a:r>
          </a:p>
        </p:txBody>
      </p:sp>
    </p:spTree>
    <p:extLst>
      <p:ext uri="{BB962C8B-B14F-4D97-AF65-F5344CB8AC3E}">
        <p14:creationId xmlns:p14="http://schemas.microsoft.com/office/powerpoint/2010/main" val="2705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6" y="1271219"/>
            <a:ext cx="10624338" cy="4142989"/>
          </a:xfrm>
        </p:spPr>
        <p:txBody>
          <a:bodyPr/>
          <a:lstStyle/>
          <a:p>
            <a:pPr algn="just"/>
            <a:r>
              <a:rPr lang="en-IN" b="0" dirty="0">
                <a:solidFill>
                  <a:schemeClr val="tx1"/>
                </a:solidFill>
              </a:rPr>
              <a:t>The SEC Forensic Audit System shows that splitting numbers and text into two tracks works. Exact figures come from a SQL database built on XBRL data, so the AI never has to guess them. In testing, this gave 7 of 7 correct answers, while the naive RAG baseline got 0 of 7 on the same queries.</a:t>
            </a:r>
          </a:p>
          <a:p>
            <a:pPr algn="just"/>
            <a:r>
              <a:rPr lang="en-IN" b="0" dirty="0">
                <a:solidFill>
                  <a:schemeClr val="tx1"/>
                </a:solidFill>
              </a:rPr>
              <a:t>Report text is searched with hybrid retrieval, and an LLM checks management's claims against the footnotes. This helps analysts find possible hidden risks faster, with a source for every answer.</a:t>
            </a:r>
            <a:endParaRPr lang="en-US" b="0" dirty="0">
              <a:solidFill>
                <a:schemeClr val="tx1"/>
              </a:solidFill>
              <a:latin typeface="+mn-lt"/>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8739266" y="57036"/>
            <a:ext cx="3452734"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30E3-7BE9-3214-CF48-E41EE1B6E3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675624-38FF-0D57-E648-CD4278AE5112}"/>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Future</a:t>
            </a:r>
            <a:r>
              <a:rPr lang="en-US" sz="3600" b="1" dirty="0">
                <a:solidFill>
                  <a:srgbClr val="5B9BD5">
                    <a:lumMod val="50000"/>
                  </a:srgbClr>
                </a:solidFill>
                <a:latin typeface="Calibri" panose="020F0502020204030204"/>
              </a:rPr>
              <a:t> Scope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F50D939-6F8A-9753-E41E-804894B4279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F014030-219C-1B60-E0F6-790E041D82C7}"/>
              </a:ext>
            </a:extLst>
          </p:cNvPr>
          <p:cNvSpPr txBox="1"/>
          <p:nvPr/>
        </p:nvSpPr>
        <p:spPr>
          <a:xfrm>
            <a:off x="8574374" y="57036"/>
            <a:ext cx="3617626"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DE22CAC0-D8EF-F945-C0D7-1ABEEF9000DD}"/>
              </a:ext>
            </a:extLst>
          </p:cNvPr>
          <p:cNvSpPr>
            <a:spLocks noGrp="1" noChangeArrowheads="1"/>
          </p:cNvSpPr>
          <p:nvPr>
            <p:ph type="body" sz="quarter" idx="13"/>
          </p:nvPr>
        </p:nvSpPr>
        <p:spPr bwMode="auto">
          <a:xfrm>
            <a:off x="221274" y="1342869"/>
            <a:ext cx="11744734" cy="3322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r>
              <a:rPr lang="en-IN" b="0" dirty="0">
                <a:solidFill>
                  <a:schemeClr val="tx1"/>
                </a:solidFill>
                <a:latin typeface="+mn-lt"/>
              </a:rPr>
              <a:t>Extend to SEBI IPO review. Companies launching an IPO in India must submit long documents, such as the Draft Red Herring Prospectus (DRHP), and a SEBI analyst has to read them to understand the company. </a:t>
            </a:r>
          </a:p>
          <a:p>
            <a:pPr lvl="0" algn="just"/>
            <a:r>
              <a:rPr lang="en-IN" b="0" dirty="0">
                <a:solidFill>
                  <a:schemeClr val="tx1"/>
                </a:solidFill>
                <a:latin typeface="+mn-lt"/>
              </a:rPr>
              <a:t>A manual PDF upload feature could be added, so the analyst uploads the document and the system pulls out the key information: financials, risk factors, litigation and promoter details. It would also compare management's claims with the disclosures in the same document, as it does now for 10-K and 10-Q filings, with a source page for every finding.</a:t>
            </a:r>
          </a:p>
        </p:txBody>
      </p:sp>
    </p:spTree>
    <p:extLst>
      <p:ext uri="{BB962C8B-B14F-4D97-AF65-F5344CB8AC3E}">
        <p14:creationId xmlns:p14="http://schemas.microsoft.com/office/powerpoint/2010/main" val="157405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03C842-0779-BE44-EECA-2F2EE3FA7309}"/>
              </a:ext>
            </a:extLst>
          </p:cNvPr>
          <p:cNvSpPr>
            <a:spLocks noGrp="1"/>
          </p:cNvSpPr>
          <p:nvPr>
            <p:ph type="body" sz="quarter" idx="13"/>
          </p:nvPr>
        </p:nvSpPr>
        <p:spPr>
          <a:xfrm>
            <a:off x="255996" y="1271219"/>
            <a:ext cx="10624338" cy="4142989"/>
          </a:xfrm>
        </p:spPr>
        <p:txBody>
          <a:bodyPr/>
          <a:lstStyle/>
          <a:p>
            <a:pPr marL="0" indent="0">
              <a:lnSpc>
                <a:spcPct val="150000"/>
              </a:lnSpc>
              <a:buNone/>
            </a:pPr>
            <a:r>
              <a:rPr lang="en-US" sz="2400" b="0" dirty="0">
                <a:solidFill>
                  <a:srgbClr val="5583D1"/>
                </a:solidFill>
                <a:latin typeface="+mn-lt"/>
              </a:rPr>
              <a:t>Calibri body 28</a:t>
            </a:r>
            <a:endParaRPr lang="en-US" sz="2400" b="0" dirty="0">
              <a:solidFill>
                <a:srgbClr val="5583D1"/>
              </a:solidFill>
            </a:endParaRPr>
          </a:p>
        </p:txBody>
      </p:sp>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r>
              <a:rPr lang="fr-FR" sz="3600" b="1" dirty="0">
                <a:solidFill>
                  <a:srgbClr val="5B9BD5">
                    <a:lumMod val="50000"/>
                  </a:srgbClr>
                </a:solidFill>
              </a:rPr>
              <a:t> …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Calibri body -36</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5996" y="1271219"/>
            <a:ext cx="10624338" cy="4142989"/>
          </a:xfrm>
        </p:spPr>
        <p:txBody>
          <a:bodyPr/>
          <a:lstStyle/>
          <a:p>
            <a:pPr marL="0" indent="0">
              <a:lnSpc>
                <a:spcPct val="150000"/>
              </a:lnSpc>
              <a:buNone/>
            </a:pPr>
            <a:r>
              <a:rPr lang="en-US" sz="2400" b="0" dirty="0">
                <a:solidFill>
                  <a:srgbClr val="5583D1"/>
                </a:solidFill>
                <a:latin typeface="+mn-lt"/>
              </a:rPr>
              <a:t>Calibri body 28</a:t>
            </a:r>
            <a:endParaRPr lang="en-US" sz="2400" b="0" dirty="0">
              <a:solidFill>
                <a:srgbClr val="5583D1"/>
              </a:solidFill>
            </a:endParaRP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 </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Calibri body -36</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1284</Words>
  <Application>Microsoft Office PowerPoint</Application>
  <PresentationFormat>Widescreen</PresentationFormat>
  <Paragraphs>106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Kishan Patel</cp:lastModifiedBy>
  <cp:revision>16</cp:revision>
  <dcterms:created xsi:type="dcterms:W3CDTF">2024-05-13T10:33:11Z</dcterms:created>
  <dcterms:modified xsi:type="dcterms:W3CDTF">2026-10-08T06:12:09Z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