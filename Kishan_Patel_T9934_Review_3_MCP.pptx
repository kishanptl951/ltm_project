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4" r:id="rId4"/>
    <p:sldId id="2147470493" r:id="rId5"/>
    <p:sldId id="2147470487" r:id="rId6"/>
    <p:sldId id="2147470504" r:id="rId7"/>
    <p:sldId id="2147470505" r:id="rId8"/>
    <p:sldId id="2147470498" r:id="rId9"/>
    <p:sldId id="2147470497" r:id="rId10"/>
    <p:sldId id="2147470499" r:id="rId11"/>
    <p:sldId id="2147470506" r:id="rId12"/>
    <p:sldId id="214747050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9.12191" TargetMode="External"/><Relationship Id="rId7" Type="http://schemas.openxmlformats.org/officeDocument/2006/relationships/hyperlink" Target="https://duckdb.org/docs/" TargetMode="External"/><Relationship Id="rId2" Type="http://schemas.openxmlformats.org/officeDocument/2006/relationships/hyperlink" Target="https://modelcontextprotocol.io/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ocs.streamlit.io/" TargetMode="External"/><Relationship Id="rId5" Type="http://schemas.openxmlformats.org/officeDocument/2006/relationships/hyperlink" Target="https://fastapi.tiangolo.com/" TargetMode="External"/><Relationship Id="rId4" Type="http://schemas.openxmlformats.org/officeDocument/2006/relationships/hyperlink" Target="https://github.com/datalab-to/sury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algn="ctr"/>
            <a:r>
              <a:rPr lang="en-IN" sz="3600" b="1" dirty="0" err="1">
                <a:solidFill>
                  <a:schemeClr val="bg1"/>
                </a:solidFill>
              </a:rPr>
              <a:t>ClaimGuard</a:t>
            </a:r>
            <a:r>
              <a:rPr lang="en-IN" sz="3600" b="1" dirty="0">
                <a:solidFill>
                  <a:schemeClr val="bg1"/>
                </a:solidFill>
              </a:rPr>
              <a:t>-MCP:</a:t>
            </a:r>
          </a:p>
          <a:p>
            <a:pPr algn="ctr">
              <a:defRPr/>
            </a:pPr>
            <a:r>
              <a:rPr lang="en-IN" sz="3600" b="1" i="1" dirty="0">
                <a:solidFill>
                  <a:schemeClr val="bg1"/>
                </a:solidFill>
              </a:rPr>
              <a:t>A Multimodal Insurance Claim Consistency &amp; Fraud Arbitration System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Kishan Patel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953026"/>
              </p:ext>
            </p:extLst>
          </p:nvPr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10118361" y="57036"/>
            <a:ext cx="207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solidFill>
                  <a:schemeClr val="bg1"/>
                </a:solidFill>
              </a:rPr>
              <a:t>ClaimGuard</a:t>
            </a:r>
            <a:r>
              <a:rPr lang="en-IN" b="1" dirty="0">
                <a:solidFill>
                  <a:schemeClr val="bg1"/>
                </a:solidFill>
              </a:rPr>
              <a:t>-MCP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33C432A-B355-D871-A071-7FA9BCDB46A3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67051" y="1294122"/>
            <a:ext cx="11484128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0" dirty="0" err="1">
                <a:solidFill>
                  <a:schemeClr val="tx1"/>
                </a:solidFill>
                <a:latin typeface="+mn-lt"/>
              </a:rPr>
              <a:t>ClaimGuard</a:t>
            </a:r>
            <a:r>
              <a:rPr lang="en-US" b="0" dirty="0">
                <a:solidFill>
                  <a:schemeClr val="tx1"/>
                </a:solidFill>
                <a:latin typeface="+mn-lt"/>
              </a:rPr>
              <a:t>-MCP is an AI-based insurance claim validation system designed to help insurance companies verify whether a claim is complete, valid, and consistent by analyzing multiple types of evidence such as claim forms, insurance policies, police reports, repair estimates, medical bills, and vehicle damage photos.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The system extracts important information from these documents, analyzes damage images, compares information across documents, checks policy and business rules, and generates a PASS, REVIEW, or FAIL assessment with clear reasons and supporting evidence, helping insurance adjusters identify missing information and inconsistencies more quickly.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Insurance claim processing often involves multiple documents and damage images, making it difficult and time-consuming for adjusters to manually verify all the information.</a:t>
            </a:r>
          </a:p>
          <a:p>
            <a:pPr algn="just">
              <a:lnSpc>
                <a:spcPct val="150000"/>
              </a:lnSpc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There is a need for an automated system that can extract information, compare details across documents, identify missing information and inconsistencies, and provide clear evidence-based results to support faster and more reliable claim validation.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A89231F-9879-3D85-54B5-3DD161157908}"/>
              </a:ext>
            </a:extLst>
          </p:cNvPr>
          <p:cNvSpPr txBox="1"/>
          <p:nvPr/>
        </p:nvSpPr>
        <p:spPr>
          <a:xfrm>
            <a:off x="9563725" y="57036"/>
            <a:ext cx="2628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solidFill>
                  <a:schemeClr val="bg1"/>
                </a:solidFill>
              </a:rPr>
              <a:t>ClaimGuard</a:t>
            </a:r>
            <a:r>
              <a:rPr lang="en-IN" b="1" dirty="0">
                <a:solidFill>
                  <a:schemeClr val="bg1"/>
                </a:solidFill>
              </a:rPr>
              <a:t>-MCP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 algn="just"/>
            <a:r>
              <a:rPr lang="en-IN" b="0" dirty="0">
                <a:solidFill>
                  <a:schemeClr val="tx1"/>
                </a:solidFill>
                <a:latin typeface="+mn-lt"/>
              </a:rPr>
              <a:t>Automate document processing by extracting relevant information from claim forms, policies, police reports, bills, repair estimates, and supporting images. </a:t>
            </a:r>
          </a:p>
          <a:p>
            <a:pPr lvl="0" algn="just"/>
            <a:r>
              <a:rPr lang="en-IN" b="0" dirty="0">
                <a:solidFill>
                  <a:schemeClr val="tx1"/>
                </a:solidFill>
                <a:latin typeface="+mn-lt"/>
              </a:rPr>
              <a:t>Cross-verify claim information across multiple documents to identify inconsistencies in vehicle details, dates, expenses, policy information, and reported damage. </a:t>
            </a:r>
          </a:p>
          <a:p>
            <a:pPr lvl="0" algn="just"/>
            <a:r>
              <a:rPr lang="en-IN" b="0" dirty="0">
                <a:solidFill>
                  <a:schemeClr val="tx1"/>
                </a:solidFill>
                <a:latin typeface="+mn-lt"/>
              </a:rPr>
              <a:t>Apply structured validation rules to evaluate claim evidence and identify missing, conflicting, or inconsistent information. </a:t>
            </a:r>
          </a:p>
          <a:p>
            <a:pPr lvl="0" algn="just"/>
            <a:r>
              <a:rPr lang="en-IN" b="0" dirty="0">
                <a:solidFill>
                  <a:schemeClr val="tx1"/>
                </a:solidFill>
                <a:latin typeface="+mn-lt"/>
              </a:rPr>
              <a:t>Generate an explainable claim assessment using PASS, REVIEW, and FLAG outcomes to support human claim reviewers.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10148341" y="57036"/>
            <a:ext cx="2043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solidFill>
                  <a:schemeClr val="bg1"/>
                </a:solidFill>
              </a:rPr>
              <a:t>ClaimGuard</a:t>
            </a:r>
            <a:r>
              <a:rPr lang="en-IN" b="1" dirty="0">
                <a:solidFill>
                  <a:schemeClr val="bg1"/>
                </a:solidFill>
              </a:rPr>
              <a:t>-MCP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Module-1 :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Document Ingestion &amp; Classification</a:t>
            </a:r>
          </a:p>
          <a:p>
            <a:r>
              <a:rPr lang="en-IN" dirty="0">
                <a:solidFill>
                  <a:srgbClr val="30BBDA"/>
                </a:solidFill>
              </a:rPr>
              <a:t>Accepts claim documents and identifies their document type.</a:t>
            </a:r>
            <a:endParaRPr lang="en-US" dirty="0">
              <a:solidFill>
                <a:srgbClr val="30BBDA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Module-2 :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Information Extraction</a:t>
            </a:r>
          </a:p>
          <a:p>
            <a:r>
              <a:rPr lang="en-IN" dirty="0">
                <a:solidFill>
                  <a:srgbClr val="30BBDA"/>
                </a:solidFill>
              </a:rPr>
              <a:t>Extracts structured claim information from PDFs and images using OCR and document processing.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Module-3 : Claim Evidence Management</a:t>
            </a:r>
          </a:p>
          <a:p>
            <a:r>
              <a:rPr lang="en-IN" dirty="0">
                <a:solidFill>
                  <a:srgbClr val="30BBDA"/>
                </a:solidFill>
              </a:rPr>
              <a:t>Stores claims, documents, policies, and extracted evidence in the system.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9563725" y="57036"/>
            <a:ext cx="2628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solidFill>
                  <a:schemeClr val="bg1"/>
                </a:solidFill>
              </a:rPr>
              <a:t>ClaimGuard</a:t>
            </a:r>
            <a:r>
              <a:rPr lang="en-IN" b="1" dirty="0">
                <a:solidFill>
                  <a:schemeClr val="bg1"/>
                </a:solidFill>
              </a:rPr>
              <a:t>-MCP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E546E-D2EC-672C-6119-E2344390F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E876E0-77C9-2241-C6E7-19EC14FD5C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926666" cy="439502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Module-4 : Consistency &amp; Invariant Evaluation</a:t>
            </a:r>
          </a:p>
          <a:p>
            <a:r>
              <a:rPr lang="en-IN" dirty="0">
                <a:solidFill>
                  <a:srgbClr val="25B9ED"/>
                </a:solidFill>
              </a:rPr>
              <a:t>Cross-checks vehicle details, policy information, dates, expenses, and other claim attributes.</a:t>
            </a:r>
            <a:endParaRPr lang="en-US" dirty="0">
              <a:solidFill>
                <a:srgbClr val="25B9ED"/>
              </a:solidFill>
              <a:latin typeface="+mn-lt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Module-5 : </a:t>
            </a:r>
            <a:r>
              <a:rPr lang="en-IN" dirty="0"/>
              <a:t>Damage &amp; Expense Validation</a:t>
            </a:r>
          </a:p>
          <a:p>
            <a:r>
              <a:rPr lang="en-IN" dirty="0">
                <a:solidFill>
                  <a:srgbClr val="25B9ED"/>
                </a:solidFill>
              </a:rPr>
              <a:t>Evaluates reported vehicle damage and repair/expense information for consistency.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Module-6 : </a:t>
            </a:r>
            <a:r>
              <a:rPr lang="en-IN" dirty="0"/>
              <a:t>Claim Assessment</a:t>
            </a:r>
          </a:p>
          <a:p>
            <a:r>
              <a:rPr lang="en-IN" dirty="0">
                <a:solidFill>
                  <a:srgbClr val="25B9ED"/>
                </a:solidFill>
              </a:rPr>
              <a:t>Combines evaluation results and generates the final PASS / REVIEW / FLAG assessment.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5C0590-F530-E284-81C9-D5E258CCB41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CC4D1CC-867B-BC2F-F003-01FB75FF6B5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DDD216B-78AD-41BE-03DE-FC75376BE8EE}"/>
              </a:ext>
            </a:extLst>
          </p:cNvPr>
          <p:cNvSpPr txBox="1"/>
          <p:nvPr/>
        </p:nvSpPr>
        <p:spPr>
          <a:xfrm>
            <a:off x="9563725" y="57036"/>
            <a:ext cx="2628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solidFill>
                  <a:schemeClr val="bg1"/>
                </a:solidFill>
              </a:rPr>
              <a:t>ClaimGuard</a:t>
            </a:r>
            <a:r>
              <a:rPr lang="en-IN" b="1" dirty="0">
                <a:solidFill>
                  <a:schemeClr val="bg1"/>
                </a:solidFill>
              </a:rPr>
              <a:t>-MCP</a:t>
            </a:r>
          </a:p>
        </p:txBody>
      </p:sp>
    </p:spTree>
    <p:extLst>
      <p:ext uri="{BB962C8B-B14F-4D97-AF65-F5344CB8AC3E}">
        <p14:creationId xmlns:p14="http://schemas.microsoft.com/office/powerpoint/2010/main" val="4207354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907" y="1214183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390907" y="445509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356185" y="1134720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E92ED685-8E5B-C58F-8932-67CD9472E5C7}"/>
              </a:ext>
            </a:extLst>
          </p:cNvPr>
          <p:cNvSpPr/>
          <p:nvPr/>
        </p:nvSpPr>
        <p:spPr>
          <a:xfrm>
            <a:off x="390907" y="1386756"/>
            <a:ext cx="24653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Document Input</a:t>
            </a:r>
            <a:br>
              <a:rPr lang="en-IN" dirty="0"/>
            </a:br>
            <a:r>
              <a:rPr lang="en-IN" dirty="0"/>
              <a:t>PDFs / Images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87DF57-9F38-A56E-38E7-33792DAA261E}"/>
              </a:ext>
            </a:extLst>
          </p:cNvPr>
          <p:cNvSpPr/>
          <p:nvPr/>
        </p:nvSpPr>
        <p:spPr>
          <a:xfrm>
            <a:off x="3476692" y="1386756"/>
            <a:ext cx="3116588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Ingestion &amp; Classification</a:t>
            </a:r>
            <a:br>
              <a:rPr lang="en-IN" dirty="0"/>
            </a:br>
            <a:r>
              <a:rPr lang="en-IN" dirty="0"/>
              <a:t>Identify document type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14B049-4AE3-419F-73D0-88958C83020E}"/>
              </a:ext>
            </a:extLst>
          </p:cNvPr>
          <p:cNvSpPr/>
          <p:nvPr/>
        </p:nvSpPr>
        <p:spPr>
          <a:xfrm>
            <a:off x="7337133" y="1383328"/>
            <a:ext cx="3116588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OCR &amp; Information Extraction</a:t>
            </a:r>
            <a:br>
              <a:rPr lang="en-IN" dirty="0"/>
            </a:br>
            <a:r>
              <a:rPr lang="en-IN" dirty="0"/>
              <a:t>Extract structured claim fields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F038BF-A0BA-8B17-FC16-F1AF6F66EED2}"/>
              </a:ext>
            </a:extLst>
          </p:cNvPr>
          <p:cNvSpPr/>
          <p:nvPr/>
        </p:nvSpPr>
        <p:spPr>
          <a:xfrm>
            <a:off x="7245943" y="3773246"/>
            <a:ext cx="3298968" cy="11290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Evidence Cross-Verification</a:t>
            </a:r>
            <a:br>
              <a:rPr lang="en-IN" dirty="0"/>
            </a:br>
            <a:r>
              <a:rPr lang="en-IN" dirty="0"/>
              <a:t>Compare information across documents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BD7628-BA74-BA76-973A-BA061C89E9E3}"/>
              </a:ext>
            </a:extLst>
          </p:cNvPr>
          <p:cNvSpPr/>
          <p:nvPr/>
        </p:nvSpPr>
        <p:spPr>
          <a:xfrm>
            <a:off x="3417219" y="3773246"/>
            <a:ext cx="3298968" cy="11290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Consistency Evaluation</a:t>
            </a:r>
            <a:br>
              <a:rPr lang="en-IN" dirty="0"/>
            </a:br>
            <a:r>
              <a:rPr lang="en-IN" dirty="0"/>
              <a:t>Rules + invariant checks + damage/expense validation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F91BDF-68F3-B532-044F-8EEC54156FEC}"/>
              </a:ext>
            </a:extLst>
          </p:cNvPr>
          <p:cNvSpPr/>
          <p:nvPr/>
        </p:nvSpPr>
        <p:spPr>
          <a:xfrm>
            <a:off x="535085" y="3885550"/>
            <a:ext cx="24653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Claim Assessment</a:t>
            </a:r>
            <a:br>
              <a:rPr lang="en-IN" dirty="0"/>
            </a:br>
            <a:r>
              <a:rPr lang="en-IN" b="1" dirty="0"/>
              <a:t>PASS / REVIEW / FLAG</a:t>
            </a:r>
            <a:endParaRPr lang="en-IN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35A9175-EFDD-8F8F-0510-39F7BDF1F274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2856207" y="1843956"/>
            <a:ext cx="6204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7F17EBC-D07A-F1DA-5C75-08774E9D1A11}"/>
              </a:ext>
            </a:extLst>
          </p:cNvPr>
          <p:cNvCxnSpPr>
            <a:stCxn id="9" idx="3"/>
            <a:endCxn id="11" idx="1"/>
          </p:cNvCxnSpPr>
          <p:nvPr/>
        </p:nvCxnSpPr>
        <p:spPr>
          <a:xfrm flipV="1">
            <a:off x="6593280" y="1840528"/>
            <a:ext cx="743853" cy="3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F164679-BB22-311B-42C7-A96B59E90B60}"/>
              </a:ext>
            </a:extLst>
          </p:cNvPr>
          <p:cNvCxnSpPr>
            <a:cxnSpLocks/>
            <a:stCxn id="11" idx="2"/>
            <a:endCxn id="4" idx="0"/>
          </p:cNvCxnSpPr>
          <p:nvPr/>
        </p:nvCxnSpPr>
        <p:spPr>
          <a:xfrm>
            <a:off x="8895427" y="2297728"/>
            <a:ext cx="0" cy="282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4C7CB76-382D-EE2B-B3FF-33C5C6C8691D}"/>
              </a:ext>
            </a:extLst>
          </p:cNvPr>
          <p:cNvCxnSpPr>
            <a:cxnSpLocks/>
            <a:endCxn id="21" idx="3"/>
          </p:cNvCxnSpPr>
          <p:nvPr/>
        </p:nvCxnSpPr>
        <p:spPr>
          <a:xfrm flipH="1">
            <a:off x="6716187" y="4337792"/>
            <a:ext cx="62094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C997720-BBB2-F5C2-2EF5-46C6E519D9A3}"/>
              </a:ext>
            </a:extLst>
          </p:cNvPr>
          <p:cNvCxnSpPr>
            <a:cxnSpLocks/>
            <a:stCxn id="21" idx="1"/>
            <a:endCxn id="23" idx="3"/>
          </p:cNvCxnSpPr>
          <p:nvPr/>
        </p:nvCxnSpPr>
        <p:spPr>
          <a:xfrm flipH="1">
            <a:off x="3000385" y="4337793"/>
            <a:ext cx="416834" cy="4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698427F8-EC96-415F-C4BF-527A020F4945}"/>
              </a:ext>
            </a:extLst>
          </p:cNvPr>
          <p:cNvSpPr/>
          <p:nvPr/>
        </p:nvSpPr>
        <p:spPr>
          <a:xfrm>
            <a:off x="7337133" y="2580001"/>
            <a:ext cx="3116588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Multimodal Damage Analysis </a:t>
            </a:r>
            <a:r>
              <a:rPr lang="en-US" dirty="0"/>
              <a:t>           Analyze damage photos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7E00ED3-3347-A865-A90C-572DFB434309}"/>
              </a:ext>
            </a:extLst>
          </p:cNvPr>
          <p:cNvCxnSpPr>
            <a:cxnSpLocks/>
            <a:stCxn id="4" idx="2"/>
            <a:endCxn id="15" idx="0"/>
          </p:cNvCxnSpPr>
          <p:nvPr/>
        </p:nvCxnSpPr>
        <p:spPr>
          <a:xfrm>
            <a:off x="8895427" y="3494401"/>
            <a:ext cx="0" cy="278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D74A0AD-7F2D-F964-C39A-EC2583250884}"/>
              </a:ext>
            </a:extLst>
          </p:cNvPr>
          <p:cNvSpPr txBox="1"/>
          <p:nvPr/>
        </p:nvSpPr>
        <p:spPr>
          <a:xfrm>
            <a:off x="9563725" y="57036"/>
            <a:ext cx="2628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solidFill>
                  <a:schemeClr val="bg1"/>
                </a:solidFill>
              </a:rPr>
              <a:t>ClaimGuard</a:t>
            </a:r>
            <a:r>
              <a:rPr lang="en-IN" b="1" dirty="0">
                <a:solidFill>
                  <a:schemeClr val="bg1"/>
                </a:solidFill>
              </a:rPr>
              <a:t>-MCP</a:t>
            </a:r>
          </a:p>
        </p:txBody>
      </p:sp>
    </p:spTree>
    <p:extLst>
      <p:ext uri="{BB962C8B-B14F-4D97-AF65-F5344CB8AC3E}">
        <p14:creationId xmlns:p14="http://schemas.microsoft.com/office/powerpoint/2010/main" val="3694876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9FDA89-1E71-E4BE-EF56-6563C995BD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03123"/>
              </p:ext>
            </p:extLst>
          </p:nvPr>
        </p:nvGraphicFramePr>
        <p:xfrm>
          <a:off x="329071" y="1314100"/>
          <a:ext cx="11004550" cy="4328160"/>
        </p:xfrm>
        <a:graphic>
          <a:graphicData uri="http://schemas.openxmlformats.org/drawingml/2006/table">
            <a:tbl>
              <a:tblPr/>
              <a:tblGrid>
                <a:gridCol w="5502275">
                  <a:extLst>
                    <a:ext uri="{9D8B030D-6E8A-4147-A177-3AD203B41FA5}">
                      <a16:colId xmlns:a16="http://schemas.microsoft.com/office/drawing/2014/main" val="2341965718"/>
                    </a:ext>
                  </a:extLst>
                </a:gridCol>
                <a:gridCol w="5502275">
                  <a:extLst>
                    <a:ext uri="{9D8B030D-6E8A-4147-A177-3AD203B41FA5}">
                      <a16:colId xmlns:a16="http://schemas.microsoft.com/office/drawing/2014/main" val="33397998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b="1" dirty="0"/>
                        <a:t>Approach / Algorithm / Tool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B9E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b="1" dirty="0"/>
                        <a:t>Role in </a:t>
                      </a:r>
                      <a:r>
                        <a:rPr lang="en-US" sz="2000" b="1" dirty="0" err="1"/>
                        <a:t>ClaimGuard</a:t>
                      </a:r>
                      <a:r>
                        <a:rPr lang="en-US" sz="2000" b="1" dirty="0"/>
                        <a:t>-MCP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B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64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b="1" dirty="0" err="1"/>
                        <a:t>PyMuPDF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/>
                        <a:t>PDF text extraction and document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457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b="1" dirty="0"/>
                        <a:t>Tesseract (OCR)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Extract text from scanned and image documents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361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b="1" dirty="0"/>
                        <a:t>Regex-Based Extraction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/>
                        <a:t>Fast extraction of known claim fields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932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b="1" dirty="0"/>
                        <a:t>LLM Fallback (Gemini / OpenAI)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/>
                        <a:t>Extract missing fields when regex extraction fails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716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b="1" dirty="0"/>
                        <a:t>Qwen2-VL-7B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/>
                        <a:t>Analyze vehicle damage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77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b="1" dirty="0"/>
                        <a:t>Rule-Based Validation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/>
                        <a:t>Validate policy, vehicle, date, expense and damage information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211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b="1" dirty="0"/>
                        <a:t>Cross-Document Consistency Checks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/>
                        <a:t>Compare information across multiple claim documents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384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b="1" dirty="0" err="1"/>
                        <a:t>Pydantic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Structured data models and 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86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b="1"/>
                        <a:t>MCP + FastAPI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Expose claim-processing tools and backend 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990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b="1"/>
                        <a:t>DuckDB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Store and query structured claim and evidence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09892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3ABA467-A26C-D70D-B53B-11BECB579E9F}"/>
              </a:ext>
            </a:extLst>
          </p:cNvPr>
          <p:cNvSpPr txBox="1"/>
          <p:nvPr/>
        </p:nvSpPr>
        <p:spPr>
          <a:xfrm>
            <a:off x="9563725" y="57036"/>
            <a:ext cx="2628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solidFill>
                  <a:schemeClr val="bg1"/>
                </a:solidFill>
              </a:rPr>
              <a:t>ClaimGuard</a:t>
            </a:r>
            <a:r>
              <a:rPr lang="en-IN" b="1" dirty="0">
                <a:solidFill>
                  <a:schemeClr val="bg1"/>
                </a:solidFill>
              </a:rPr>
              <a:t>-MCP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>
            <a:extLst>
              <a:ext uri="{FF2B5EF4-FFF2-40B4-BE49-F238E27FC236}">
                <a16:creationId xmlns:a16="http://schemas.microsoft.com/office/drawing/2014/main" id="{A61A54F4-3A1F-125F-F27F-4A1A40F3DCE5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221274" y="1234637"/>
            <a:ext cx="11744734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Automated extraction of key claim information from PDFs and scanned documents.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Multimodal damage analysis of vehicle images using Qwen2-VL.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Cross-document verification identifies mismatches in policy, vehicle, dates, claimant, and damage details.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Rule-based validation checks policy coverage, expenses, required documents, and claim consistency.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Evidence-based assessment generates PASS / REVIEW / FAIL results with reasons.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Reduced manual verification effort by bringing document extraction, validation, and evidence checking into a single workflow.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4EF519-7A4E-F855-FF30-EF5D5DAA8357}"/>
              </a:ext>
            </a:extLst>
          </p:cNvPr>
          <p:cNvSpPr txBox="1"/>
          <p:nvPr/>
        </p:nvSpPr>
        <p:spPr>
          <a:xfrm>
            <a:off x="9563725" y="57036"/>
            <a:ext cx="2628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solidFill>
                  <a:schemeClr val="bg1"/>
                </a:solidFill>
              </a:rPr>
              <a:t>ClaimGuard</a:t>
            </a:r>
            <a:r>
              <a:rPr lang="en-IN" b="1" dirty="0">
                <a:solidFill>
                  <a:schemeClr val="bg1"/>
                </a:solidFill>
              </a:rPr>
              <a:t>-MCP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0" dirty="0" err="1">
                <a:solidFill>
                  <a:schemeClr val="tx1"/>
                </a:solidFill>
                <a:latin typeface="+mn-lt"/>
              </a:rPr>
              <a:t>ClaimGuard</a:t>
            </a:r>
            <a:r>
              <a:rPr lang="en-US" b="0" dirty="0">
                <a:solidFill>
                  <a:schemeClr val="tx1"/>
                </a:solidFill>
                <a:latin typeface="+mn-lt"/>
              </a:rPr>
              <a:t>-MCP provides an automated and structured approach to insurance claim validation by combining document extraction, damage analysis, policy checks, and cross-document consistency verification.</a:t>
            </a:r>
          </a:p>
          <a:p>
            <a:pPr algn="just">
              <a:lnSpc>
                <a:spcPct val="150000"/>
              </a:lnSpc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The system helps insurance adjusters identify missing information and inconsistencies and provides evidence-based PASS / REVIEW / FAIL assessments, reducing manual verification effort and improving the reliability of claim processing.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3CEC7C1-3A09-3DCE-0786-7CDDF84C75AA}"/>
              </a:ext>
            </a:extLst>
          </p:cNvPr>
          <p:cNvSpPr txBox="1"/>
          <p:nvPr/>
        </p:nvSpPr>
        <p:spPr>
          <a:xfrm>
            <a:off x="9563725" y="57036"/>
            <a:ext cx="2628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solidFill>
                  <a:schemeClr val="bg1"/>
                </a:solidFill>
              </a:rPr>
              <a:t>ClaimGuard</a:t>
            </a:r>
            <a:r>
              <a:rPr lang="en-IN" b="1" dirty="0">
                <a:solidFill>
                  <a:schemeClr val="bg1"/>
                </a:solidFill>
              </a:rPr>
              <a:t>-MCP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E6D7D-9012-ABC9-2124-1EA54F361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986673-A1DA-320A-E255-4ADE8F30D1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algn="just"/>
            <a:r>
              <a:rPr lang="en-IN" dirty="0">
                <a:solidFill>
                  <a:schemeClr val="tx1"/>
                </a:solidFill>
                <a:latin typeface="+mn-lt"/>
              </a:rPr>
              <a:t>Third-Party Insurance Claim Validation: </a:t>
            </a:r>
            <a:r>
              <a:rPr lang="en-IN" b="0" dirty="0">
                <a:solidFill>
                  <a:schemeClr val="tx1"/>
                </a:solidFill>
                <a:latin typeface="+mn-lt"/>
              </a:rPr>
              <a:t>Extend </a:t>
            </a:r>
            <a:r>
              <a:rPr lang="en-IN" b="0" dirty="0" err="1">
                <a:solidFill>
                  <a:schemeClr val="tx1"/>
                </a:solidFill>
                <a:latin typeface="+mn-lt"/>
              </a:rPr>
              <a:t>ClaimGuard</a:t>
            </a:r>
            <a:r>
              <a:rPr lang="en-IN" b="0" dirty="0">
                <a:solidFill>
                  <a:schemeClr val="tx1"/>
                </a:solidFill>
                <a:latin typeface="+mn-lt"/>
              </a:rPr>
              <a:t>-MCP to verify third-party claims by cross-checking accident reports, vehicle details, damage evidence, and liability-related documents to identify inconsistencies.</a:t>
            </a:r>
          </a:p>
          <a:p>
            <a:pPr algn="just"/>
            <a:r>
              <a:rPr lang="en-IN" b="0" dirty="0">
                <a:solidFill>
                  <a:schemeClr val="tx1"/>
                </a:solidFill>
                <a:latin typeface="+mn-lt"/>
              </a:rPr>
              <a:t>Extend </a:t>
            </a:r>
            <a:r>
              <a:rPr lang="en-IN" b="0" dirty="0" err="1">
                <a:solidFill>
                  <a:schemeClr val="tx1"/>
                </a:solidFill>
                <a:latin typeface="+mn-lt"/>
              </a:rPr>
              <a:t>ClaimGuard</a:t>
            </a:r>
            <a:r>
              <a:rPr lang="en-IN" b="0" dirty="0">
                <a:solidFill>
                  <a:schemeClr val="tx1"/>
                </a:solidFill>
                <a:latin typeface="+mn-lt"/>
              </a:rPr>
              <a:t>-MCP to validate medical insurance claims by processing hospital bills, medical prescriptions, diagnostic reports, treatment records, and policy documents to identify missing information and inconsistencies.</a:t>
            </a:r>
          </a:p>
          <a:p>
            <a:pPr algn="just"/>
            <a:r>
              <a:rPr lang="en-IN" dirty="0">
                <a:solidFill>
                  <a:schemeClr val="tx1"/>
                </a:solidFill>
                <a:latin typeface="+mn-lt"/>
              </a:rPr>
              <a:t>Cloud </a:t>
            </a:r>
            <a:r>
              <a:rPr lang="en-IN">
                <a:solidFill>
                  <a:schemeClr val="tx1"/>
                </a:solidFill>
                <a:latin typeface="+mn-lt"/>
              </a:rPr>
              <a:t>Deployment</a:t>
            </a:r>
            <a:r>
              <a:rPr lang="en-IN" b="0">
                <a:solidFill>
                  <a:schemeClr val="tx1"/>
                </a:solidFill>
                <a:latin typeface="+mn-lt"/>
              </a:rPr>
              <a:t>  </a:t>
            </a:r>
            <a:r>
              <a:rPr lang="en-IN" b="0" dirty="0">
                <a:solidFill>
                  <a:schemeClr val="tx1"/>
                </a:solidFill>
                <a:latin typeface="+mn-lt"/>
              </a:rPr>
              <a:t>Deploy </a:t>
            </a:r>
            <a:r>
              <a:rPr lang="en-IN" b="0" dirty="0" err="1">
                <a:solidFill>
                  <a:schemeClr val="tx1"/>
                </a:solidFill>
                <a:latin typeface="+mn-lt"/>
              </a:rPr>
              <a:t>ClaimGuard</a:t>
            </a:r>
            <a:r>
              <a:rPr lang="en-IN" b="0" dirty="0">
                <a:solidFill>
                  <a:schemeClr val="tx1"/>
                </a:solidFill>
                <a:latin typeface="+mn-lt"/>
              </a:rPr>
              <a:t>-MCP securely on the cloud to enable remote access, improve scalability, and support efficient claim processing.</a:t>
            </a:r>
          </a:p>
          <a:p>
            <a:pPr algn="just"/>
            <a:endParaRPr lang="en-IN" b="0" dirty="0">
              <a:solidFill>
                <a:schemeClr val="tx1"/>
              </a:solidFill>
              <a:latin typeface="+mn-lt"/>
            </a:endParaRPr>
          </a:p>
          <a:p>
            <a:pPr algn="just"/>
            <a:endParaRPr lang="en-US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E7E735-4638-439A-5A98-C392CF60E3AD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Future Scope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A3F9725-BFD4-3584-37B0-398DC413A34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7EB8496-7661-DD2A-88D1-1742B2B8010B}"/>
              </a:ext>
            </a:extLst>
          </p:cNvPr>
          <p:cNvSpPr txBox="1"/>
          <p:nvPr/>
        </p:nvSpPr>
        <p:spPr>
          <a:xfrm>
            <a:off x="9563725" y="57036"/>
            <a:ext cx="2628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solidFill>
                  <a:schemeClr val="bg1"/>
                </a:solidFill>
              </a:rPr>
              <a:t>ClaimGuard</a:t>
            </a:r>
            <a:r>
              <a:rPr lang="en-IN" b="1" dirty="0">
                <a:solidFill>
                  <a:schemeClr val="bg1"/>
                </a:solidFill>
              </a:rPr>
              <a:t>-MCP</a:t>
            </a:r>
          </a:p>
        </p:txBody>
      </p:sp>
    </p:spTree>
    <p:extLst>
      <p:ext uri="{BB962C8B-B14F-4D97-AF65-F5344CB8AC3E}">
        <p14:creationId xmlns:p14="http://schemas.microsoft.com/office/powerpoint/2010/main" val="477119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+mn-lt"/>
              </a:rPr>
              <a:t>[1] Model Context Protocol (MCP). Official documentation. </a:t>
            </a:r>
            <a:r>
              <a:rPr lang="en-IN" sz="2400" b="0" dirty="0">
                <a:solidFill>
                  <a:schemeClr val="tx1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https://modelcontextprotocol.io/</a:t>
            </a:r>
            <a:endParaRPr lang="en-IN" sz="2400" b="0" dirty="0">
              <a:solidFill>
                <a:schemeClr val="tx1"/>
              </a:solidFill>
              <a:latin typeface="+mn-lt"/>
            </a:endParaRP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+mn-lt"/>
              </a:rPr>
              <a:t>[2] Wang, A. Q. et al. (2024). Qwen2-VL: Enhancing Vision-Language Model’s Perception of the World at Any Resolution. </a:t>
            </a:r>
            <a:r>
              <a:rPr lang="en-IN" sz="2400" b="0" dirty="0">
                <a:solidFill>
                  <a:schemeClr val="tx1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https://arxiv.org/abs/2409.12191</a:t>
            </a:r>
            <a:endParaRPr lang="en-IN" sz="2400" b="0" dirty="0">
              <a:solidFill>
                <a:schemeClr val="tx1"/>
              </a:solidFill>
              <a:latin typeface="+mn-lt"/>
            </a:endParaRP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+mn-lt"/>
              </a:rPr>
              <a:t>[3] Surya OCR. Official GitHub repository. </a:t>
            </a:r>
            <a:r>
              <a:rPr lang="en-IN" sz="2400" b="0" dirty="0">
                <a:solidFill>
                  <a:schemeClr val="tx1"/>
                </a:solidFill>
                <a:latin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https://github.com/datalab-to/surya</a:t>
            </a:r>
            <a:endParaRPr lang="en-IN" sz="2400" b="0" dirty="0">
              <a:solidFill>
                <a:schemeClr val="tx1"/>
              </a:solidFill>
              <a:latin typeface="+mn-lt"/>
            </a:endParaRP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+mn-lt"/>
              </a:rPr>
              <a:t>[4]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FastAPI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. Official documentation. </a:t>
            </a:r>
            <a:r>
              <a:rPr lang="en-IN" sz="2400" b="0" dirty="0">
                <a:solidFill>
                  <a:schemeClr val="tx1"/>
                </a:solidFill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https://fastapi.tiangolo.com/</a:t>
            </a:r>
            <a:endParaRPr lang="en-IN" sz="2400" b="0" dirty="0">
              <a:solidFill>
                <a:schemeClr val="tx1"/>
              </a:solidFill>
              <a:latin typeface="+mn-lt"/>
            </a:endParaRP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+mn-lt"/>
              </a:rPr>
              <a:t>[5]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Streamlit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. Official documentation. </a:t>
            </a:r>
            <a:r>
              <a:rPr lang="en-IN" sz="2400" b="0" dirty="0">
                <a:solidFill>
                  <a:schemeClr val="tx1"/>
                </a:solidFill>
                <a:latin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https://docs.streamlit.io/</a:t>
            </a:r>
            <a:endParaRPr lang="en-IN" sz="2400" b="0" dirty="0">
              <a:solidFill>
                <a:schemeClr val="tx1"/>
              </a:solidFill>
              <a:latin typeface="+mn-lt"/>
            </a:endParaRP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+mn-lt"/>
              </a:rPr>
              <a:t>[6]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DuckDB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. Official documentation. </a:t>
            </a:r>
            <a:r>
              <a:rPr lang="en-IN" sz="2400" b="0" dirty="0">
                <a:solidFill>
                  <a:schemeClr val="tx1"/>
                </a:solidFill>
                <a:latin typeface="+mn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https://duckdb.org/docs/</a:t>
            </a:r>
            <a:endParaRPr lang="en-IN" sz="24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942</Words>
  <Application>Microsoft Office PowerPoint</Application>
  <PresentationFormat>Widescreen</PresentationFormat>
  <Paragraphs>104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Kishan Patel</cp:lastModifiedBy>
  <cp:revision>19</cp:revision>
  <dcterms:created xsi:type="dcterms:W3CDTF">2024-05-13T10:33:11Z</dcterms:created>
  <dcterms:modified xsi:type="dcterms:W3CDTF">2026-10-12T04:42:02Z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