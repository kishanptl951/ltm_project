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3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</a:rPr>
              <a:t>SEC EDGAR Forensic Audit System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</a:rPr>
              <a:t>A Dual-Pipeline Architecture for Zero-Hallucination Financial Auditing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Kishan Patel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90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The Problem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SEC 10-K / 10-Q filings are 100–200 pages of dense financial tables and legal text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Standard LLMs and RAG systems hallucinate financial numbers due to table fragmentation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Naive RAG shows a 42.9% numerical error rate on financial metric queries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No existing system can detect silent accounting restatements across filings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Management claims in Item 7 (MD&amp;A) often contradict disclosures in Item 8 (Footnotes)</a:t>
            </a:r>
          </a:p>
          <a:p>
            <a:pPr>
              <a:spcBef>
                <a:spcPts val="600"/>
              </a:spcBef>
            </a:pPr>
            <a:endParaRPr sz="2200" b="0" dirty="0">
              <a:solidFill>
                <a:srgbClr val="242424"/>
              </a:solidFill>
              <a:latin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Our Solution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A Dual-Pipeline Forensic Audit System built specifically for SEC EDGAR filings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Track A: </a:t>
            </a:r>
            <a:r>
              <a:rPr sz="2200" b="0" dirty="0" err="1">
                <a:solidFill>
                  <a:srgbClr val="242424"/>
                </a:solidFill>
                <a:latin typeface="Calibri"/>
              </a:rPr>
              <a:t>DuckDB</a:t>
            </a:r>
            <a:r>
              <a:rPr sz="2200" b="0" dirty="0">
                <a:solidFill>
                  <a:srgbClr val="242424"/>
                </a:solidFill>
                <a:latin typeface="Calibri"/>
              </a:rPr>
              <a:t> SQL Engine for 100% precise numeric retrieval (zero hallucination)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Track B: Section-Aware Hybrid RAG + LLM Verifier for narrative contradiction 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Primary Objectives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Eliminate numerical hallucinations in financial metric retrieval using structured SQL over XBRL data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Detect silent accounting restatements and figure revisions across multiple filing dates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Build a section-aware hybrid retrieval engine that respects SEC regulatory boundaries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Automate cross-examination of MD&amp;A executive claims vs. Footnote disclosures using LLM</a:t>
            </a:r>
          </a:p>
          <a:p>
            <a:pPr marL="0" indent="0"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Key Targets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Achieve 100% numerical precision on financial metric queries (vs. 57.1% in Naive RAG)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Reduce hallucination rate from 42.9% to 0.0%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Support automated restatement detection with dollar and percentage variance calculation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Provide traceable SEC EDGAR source URLs for every audit finding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Pillar 1: Zero-Hallucination </a:t>
            </a:r>
            <a:r>
              <a:rPr sz="2400" b="1" dirty="0" err="1">
                <a:solidFill>
                  <a:srgbClr val="5B9BD5"/>
                </a:solidFill>
                <a:latin typeface="Calibri"/>
              </a:rPr>
              <a:t>DuckDB</a:t>
            </a:r>
            <a:r>
              <a:rPr sz="2400" b="1" dirty="0">
                <a:solidFill>
                  <a:srgbClr val="5B9BD5"/>
                </a:solidFill>
                <a:latin typeface="Calibri"/>
              </a:rPr>
              <a:t> SQL Engine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Ingests XBRL financial facts into embedded </a:t>
            </a:r>
            <a:r>
              <a:rPr sz="2200" b="0" dirty="0" err="1">
                <a:solidFill>
                  <a:srgbClr val="242424"/>
                </a:solidFill>
                <a:latin typeface="Calibri"/>
              </a:rPr>
              <a:t>DuckDB</a:t>
            </a:r>
            <a:r>
              <a:rPr sz="2200" b="0" dirty="0">
                <a:solidFill>
                  <a:srgbClr val="242424"/>
                </a:solidFill>
                <a:latin typeface="Calibri"/>
              </a:rPr>
              <a:t> OLAP database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Executes pure SQL queries — 100% precision, 0% hallucination</a:t>
            </a:r>
          </a:p>
          <a:p>
            <a:pPr marL="0" indent="0"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Pillar 2: Restatement &amp; Revision Detection Engine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Groups facts by (</a:t>
            </a:r>
            <a:r>
              <a:rPr sz="2200" b="0" dirty="0" err="1">
                <a:solidFill>
                  <a:srgbClr val="242424"/>
                </a:solidFill>
                <a:latin typeface="Calibri"/>
              </a:rPr>
              <a:t>fiscal_year</a:t>
            </a:r>
            <a:r>
              <a:rPr sz="2200" b="0" dirty="0">
                <a:solidFill>
                  <a:srgbClr val="242424"/>
                </a:solidFill>
                <a:latin typeface="Calibri"/>
              </a:rPr>
              <a:t>, period, concept) across filing dates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Calculates exact dollar variance and percentage shift for amended figures</a:t>
            </a:r>
          </a:p>
          <a:p>
            <a:pPr marL="0" indent="0"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Pillar 3: Section-Aware Hybrid Search Engine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</a:t>
            </a:r>
            <a:r>
              <a:rPr sz="2200" b="0" dirty="0" err="1">
                <a:solidFill>
                  <a:srgbClr val="242424"/>
                </a:solidFill>
                <a:latin typeface="Calibri"/>
              </a:rPr>
              <a:t>ChromaDB</a:t>
            </a:r>
            <a:r>
              <a:rPr sz="2200" b="0" dirty="0">
                <a:solidFill>
                  <a:srgbClr val="242424"/>
                </a:solidFill>
                <a:latin typeface="Calibri"/>
              </a:rPr>
              <a:t> dense vectors + BM25 lexical search + </a:t>
            </a:r>
            <a:r>
              <a:rPr sz="2200" b="0" dirty="0" err="1">
                <a:solidFill>
                  <a:srgbClr val="242424"/>
                </a:solidFill>
                <a:latin typeface="Calibri"/>
              </a:rPr>
              <a:t>Flashrank</a:t>
            </a:r>
            <a:r>
              <a:rPr sz="2200" b="0" dirty="0">
                <a:solidFill>
                  <a:srgbClr val="242424"/>
                </a:solidFill>
                <a:latin typeface="Calibri"/>
              </a:rPr>
              <a:t> cross-encoder reranking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Respects SEC regulatory section boundaries (Item 1A, Item 7, Item 8)</a:t>
            </a:r>
          </a:p>
          <a:p>
            <a:pPr marL="0" indent="0"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Pillar 4: Dual-Pass LLM Forensic Verifier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Pass A retrieves MD&amp;A claims, Pass B retrieves Footnote disclosures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Google Gemini evaluates severity: Contradiction / Qualification / None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System Architecture — Four Core Pillars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sz="2000" b="0">
                <a:solidFill>
                  <a:srgbClr val="242424"/>
                </a:solidFill>
                <a:latin typeface="Calibri"/>
              </a:rPr>
              <a:t>• Our approach follows a 6-stage pipeline from data collection to evaluation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Bef>
                <a:spcPts val="600"/>
              </a:spcBef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  <p:pic>
        <p:nvPicPr>
          <p:cNvPr id="7" name="Picture 6" descr="methodology_flowchart_17905329576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4712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sz="2000" b="0">
                <a:solidFill>
                  <a:srgbClr val="242424"/>
                </a:solidFill>
                <a:latin typeface="Calibri"/>
              </a:rPr>
              <a:t>• Data is sourced directly from SEC EDGAR REST API — no third-party datasets used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Bef>
                <a:spcPts val="600"/>
              </a:spcBef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Data Preprocessing &amp; Ingestion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  <p:pic>
        <p:nvPicPr>
          <p:cNvPr id="7" name="Picture 6" descr="data_preprocessing_17905331417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4712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206048"/>
              </p:ext>
            </p:extLst>
          </p:nvPr>
        </p:nvGraphicFramePr>
        <p:xfrm>
          <a:off x="287452" y="1383832"/>
          <a:ext cx="11648553" cy="4492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2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2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14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 / Library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 in Project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Selected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14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DuckDB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Embedded OLAP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Columnar SQL, &lt;5ms queries, zero server 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14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ChromaDB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Vector Database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Dense vector search with metadata filtering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14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BM25 (rank_bm25)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Lexical Keyword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Exact accounting term matching (ASC 606, FIFO)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14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Flashrank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Cross-Encoder Reranker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Neural cross-attention reranking, lightweight ONNX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14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Google 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LLM Verifier (gemini-flash)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Dual-pass forensic reasoning, high context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14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SEC EDGAR API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Data Provider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Official regulatory source for XBRL + HTML filings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14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Web UI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Interactive dashboard with session state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914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Pytest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Testing Framework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rPr dirty="0"/>
                        <a:t>Automated unit + integration + benchmark tests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Review I — Completed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Literature survey on RAG failures in financial auditing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System architecture design — dual-pipeline approach finalized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SEC EDGAR API integration and XBRL data ingestion pipeline built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</a:t>
            </a:r>
            <a:r>
              <a:rPr sz="2200" b="0" dirty="0" err="1">
                <a:solidFill>
                  <a:srgbClr val="242424"/>
                </a:solidFill>
                <a:latin typeface="Calibri"/>
              </a:rPr>
              <a:t>DuckDB</a:t>
            </a:r>
            <a:r>
              <a:rPr sz="2200" b="0" dirty="0">
                <a:solidFill>
                  <a:srgbClr val="242424"/>
                </a:solidFill>
                <a:latin typeface="Calibri"/>
              </a:rPr>
              <a:t> schema design and structured fact storage implemented</a:t>
            </a:r>
          </a:p>
          <a:p>
            <a:pPr>
              <a:spcBef>
                <a:spcPts val="600"/>
              </a:spcBef>
            </a:pPr>
            <a:endParaRPr sz="2200" b="0" dirty="0">
              <a:solidFill>
                <a:srgbClr val="242424"/>
              </a:solidFill>
              <a:latin typeface="Calibri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sz="2400" b="1" dirty="0">
                <a:solidFill>
                  <a:srgbClr val="5B9BD5"/>
                </a:solidFill>
                <a:latin typeface="Calibri"/>
              </a:rPr>
              <a:t>Review II — Completed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Section-Aware Hybrid RAG engine (</a:t>
            </a:r>
            <a:r>
              <a:rPr sz="2200" b="0" dirty="0" err="1">
                <a:solidFill>
                  <a:srgbClr val="242424"/>
                </a:solidFill>
                <a:latin typeface="Calibri"/>
              </a:rPr>
              <a:t>ChromaDB</a:t>
            </a:r>
            <a:r>
              <a:rPr sz="2200" b="0" dirty="0">
                <a:solidFill>
                  <a:srgbClr val="242424"/>
                </a:solidFill>
                <a:latin typeface="Calibri"/>
              </a:rPr>
              <a:t> + BM25 + </a:t>
            </a:r>
            <a:r>
              <a:rPr sz="2200" b="0" dirty="0" err="1">
                <a:solidFill>
                  <a:srgbClr val="242424"/>
                </a:solidFill>
                <a:latin typeface="Calibri"/>
              </a:rPr>
              <a:t>Flashrank</a:t>
            </a:r>
            <a:r>
              <a:rPr sz="2200" b="0" dirty="0">
                <a:solidFill>
                  <a:srgbClr val="242424"/>
                </a:solidFill>
                <a:latin typeface="Calibri"/>
              </a:rPr>
              <a:t>) implemented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Deterministic query router with 4-way classification deployed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Dual-Pass LLM Forensic Verifier with Google Gemini integrated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Restatement detection engine with variance calculation built</a:t>
            </a:r>
          </a:p>
          <a:p>
            <a:pPr marL="0" indent="0">
              <a:spcBef>
                <a:spcPts val="600"/>
              </a:spcBef>
              <a:buNone/>
            </a:pPr>
            <a:r>
              <a:rPr sz="2200" b="0" dirty="0">
                <a:solidFill>
                  <a:srgbClr val="242424"/>
                </a:solidFill>
                <a:latin typeface="Calibri"/>
              </a:rPr>
              <a:t>• Benchmark evaluation: 100% numeric precision, 0% hallucination achieved</a:t>
            </a:r>
          </a:p>
          <a:p>
            <a:pPr marL="0" indent="0">
              <a:spcBef>
                <a:spcPts val="600"/>
              </a:spcBef>
              <a:buNone/>
            </a:pPr>
            <a:endParaRPr sz="2200" b="0" dirty="0">
              <a:solidFill>
                <a:srgbClr val="242424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sz="2000" b="0">
                <a:solidFill>
                  <a:srgbClr val="242424"/>
                </a:solidFill>
                <a:latin typeface="Calibri"/>
              </a:rPr>
              <a:t>• The deterministic router classifies queries into 4 routes without using any LLM API calls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Bef>
                <a:spcPts val="600"/>
              </a:spcBef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  <a:latin typeface="Calibri"/>
              </a:rPr>
              <a:t>Pipeline Structure — Query Routing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  <p:pic>
        <p:nvPicPr>
          <p:cNvPr id="7" name="Picture 6" descr="query_routing_17905331748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5156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74320" y="1101815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SEC EDGAR Forensic Audit System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4320" y="564923"/>
            <a:ext cx="10625328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B9BD5"/>
                </a:solidFill>
                <a:latin typeface="Calibri"/>
              </a:rPr>
              <a:t>Results &amp;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9904" y="54864"/>
            <a:ext cx="6099048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i="1">
                <a:solidFill>
                  <a:srgbClr val="FFFFFF"/>
                </a:solidFill>
                <a:latin typeface="Calibri"/>
              </a:rPr>
              <a:t>SEC EDGAR Forensic Audit System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759245"/>
              </p:ext>
            </p:extLst>
          </p:nvPr>
        </p:nvGraphicFramePr>
        <p:xfrm>
          <a:off x="283464" y="1448321"/>
          <a:ext cx="116128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Naive Vector RAG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Dual-Pipeline System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Numerical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57.1% (4/7)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100.0% (7/7)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+42.9%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42.9% (3/7)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0.0% (0/7)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-42.9%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Restatement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Supported (SQL Diff)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New Capability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MD&amp;A vs Footnote Audit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Supported (Dual-Pass)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New Capability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Source 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Clickable SEC URLs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Full Provenance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rPr dirty="0"/>
                        <a:t>Query Latency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rPr dirty="0"/>
                        <a:t>1.45s (LLM)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t>0.02s (SQL)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42424"/>
                          </a:solidFill>
                          <a:latin typeface="Calibri"/>
                        </a:defRPr>
                      </a:pPr>
                      <a:r>
                        <a:rPr dirty="0"/>
                        <a:t>72.5x Faster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4754880"/>
            <a:ext cx="11612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400" b="1">
                <a:solidFill>
                  <a:srgbClr val="5B9BD5"/>
                </a:solidFill>
                <a:latin typeface="Calibri"/>
              </a:rPr>
              <a:t>Retrieval Quality Metrics (Hybrid RAG)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42424"/>
                </a:solidFill>
                <a:latin typeface="Calibri"/>
              </a:rPr>
              <a:t>• Precision@K (K=3): 91.7%    |    Recall@K (K=3): 95.0%    |    MRR: 0.944</a:t>
            </a:r>
          </a:p>
          <a:p>
            <a:pPr>
              <a:spcBef>
                <a:spcPts val="1200"/>
              </a:spcBef>
            </a:pPr>
            <a:r>
              <a:rPr sz="2400" b="1">
                <a:solidFill>
                  <a:srgbClr val="5B9BD5"/>
                </a:solidFill>
                <a:latin typeface="Calibri"/>
              </a:rPr>
              <a:t>LLM Verifier Quality Metrics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242424"/>
                </a:solidFill>
                <a:latin typeface="Calibri"/>
              </a:rPr>
              <a:t>• BERTScore — Precision: 0.882  |  Recall: 0.849  |  F1: 0.865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0766" y="2013294"/>
            <a:ext cx="10625328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600" b="1" dirty="0">
                <a:solidFill>
                  <a:srgbClr val="5B9BD5"/>
                </a:solidFill>
                <a:latin typeface="Calibri"/>
              </a:rPr>
              <a:t>Hybrid R</a:t>
            </a:r>
            <a:r>
              <a:rPr sz="3600" b="1" dirty="0">
                <a:solidFill>
                  <a:srgbClr val="5B9BD5"/>
                </a:solidFill>
                <a:latin typeface="Calibri"/>
              </a:rPr>
              <a:t>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9904" y="54864"/>
            <a:ext cx="6099048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i="1">
                <a:solidFill>
                  <a:srgbClr val="FFFFFF"/>
                </a:solidFill>
                <a:latin typeface="Calibri"/>
              </a:rPr>
              <a:t>SEC EDGAR Forensic Audit System</a:t>
            </a:r>
          </a:p>
        </p:txBody>
      </p:sp>
      <p:pic>
        <p:nvPicPr>
          <p:cNvPr id="6" name="Picture 5" descr="rag_pipeline_17905331155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872</Words>
  <Application>Microsoft Office PowerPoint</Application>
  <PresentationFormat>Widescreen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Kishan Patel</cp:lastModifiedBy>
  <cp:revision>13</cp:revision>
  <dcterms:created xsi:type="dcterms:W3CDTF">2024-05-13T10:33:11Z</dcterms:created>
  <dcterms:modified xsi:type="dcterms:W3CDTF">2026-09-29T14:27:27Z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