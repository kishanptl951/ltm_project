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 name, registration number, and college — before moving into Project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SEC filings are huge, dense documents. Standard RAG breaks financial tables when it chunks text, causing hallucinated numbers. It also can't track a metric across filing periods to catch restatements, and it tends to trust the optimistic narrative summary over risks buried in footnotes. Objectives: build a system with zero-hallucination numeric answers using structured XBRL data, reliable cross-filing restatement detection, LLM-based narrative-vs-footnote contradiction checks, hybrid retrieval for narrative text, and validate it against a naive RAG baseline with a citable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SEC EDGAR data for Apple, Tesla, and JPMorgan — structured XBRL facts plus raw filing text — chosen to test the system across very different reporting styles. Tech stack: DuckDB for guaranteed-accurate numbers, a hybrid vector/keyword/rerank pipeline for narrative text, and Gemini for contradiction reasoning, all served through a citable Streamlit dashboard. Expected outcome: a working system that beats a naive RAG baseline on accuracy, catches real restatements and at least one narrative-footnote contradiction, and generalizes across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insurance adjusters waste up to 60% of their time manually checking claim files against policy terms, and still miss arithmetic padding, impossible dates, and photo mismatches — because LLMs alone can't do reliable math. Objectives: use a vision-language model to read forms and photos, store everything as typed data in DuckDB, split the work across three MCP servers, run deterministic SQL checks for arithmetic and dates, and give adjusters a cockpit UI with cited evidence and audit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 purpose-built benchmark of 50 synthetic claim dossiers — half clean, half with planted arithmetic, temporal, policy, or visual defects — so we can measure precision and recall directly. Tech stack: Qwen2-VL reads documents and photos, DuckDB and Pydantic guarantee exact math and dates, and three MCP servers keep extraction, policy rules, and cross-checking cleanly separated. Expected outcome: verification time drops from up to two weeks to under 90 seconds, arithmetic is 100% accurate, and the system hits over 90% precision and recall on the benchmark, with audit-ready evidence for every flagged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40"/>
        </a:solidFill>
      </p:bgPr>
    </p:bg>
    <p:spTree>
      <p:nvGrpSpPr>
        <p:cNvPr id="1" name=""/>
        <p:cNvGrpSpPr/>
        <p:nvPr/>
      </p:nvGrpSpPr>
      <p:grpSpPr>
        <a:xfrm>
          <a:off x="0" y="0"/>
          <a:ext cx="0" cy="0"/>
          <a:chOff x="0" y="0"/>
          <a:chExt cx="0" cy="0"/>
        </a:xfrm>
      </p:grpSpPr>
      <p:sp>
        <p:nvSpPr>
          <p:cNvPr id="2" name="Shape 0"/>
          <p:cNvSpPr/>
          <p:nvPr/>
        </p:nvSpPr>
        <p:spPr>
          <a:xfrm>
            <a:off x="9692640" y="-1188720"/>
            <a:ext cx="3840480" cy="3840480"/>
          </a:xfrm>
          <a:prstGeom prst="ellipse">
            <a:avLst/>
          </a:prstGeom>
          <a:solidFill>
            <a:srgbClr val="1E2761"/>
          </a:solidFill>
          <a:ln/>
        </p:spPr>
      </p:sp>
      <p:sp>
        <p:nvSpPr>
          <p:cNvPr id="3" name="Shape 1"/>
          <p:cNvSpPr/>
          <p:nvPr/>
        </p:nvSpPr>
        <p:spPr>
          <a:xfrm>
            <a:off x="-1463040" y="4846320"/>
            <a:ext cx="3291840" cy="3291840"/>
          </a:xfrm>
          <a:prstGeom prst="ellipse">
            <a:avLst/>
          </a:prstGeom>
          <a:solidFill>
            <a:srgbClr val="1E2761"/>
          </a:solidFill>
          <a:ln/>
        </p:spPr>
      </p:sp>
      <p:sp>
        <p:nvSpPr>
          <p:cNvPr id="4" name="Text 2"/>
          <p:cNvSpPr/>
          <p:nvPr/>
        </p:nvSpPr>
        <p:spPr>
          <a:xfrm>
            <a:off x="0" y="1417320"/>
            <a:ext cx="12161520" cy="457200"/>
          </a:xfrm>
          <a:prstGeom prst="rect">
            <a:avLst/>
          </a:prstGeom>
          <a:noFill/>
          <a:ln/>
        </p:spPr>
        <p:txBody>
          <a:bodyPr wrap="square" lIns="0" tIns="0" rIns="0" bIns="0" rtlCol="0" anchor="ctr"/>
          <a:lstStyle/>
          <a:p>
            <a:pPr algn="ctr" indent="0" marL="0">
              <a:buNone/>
            </a:pPr>
            <a:r>
              <a:rPr lang="en-US" sz="1600" b="1" spc="400" kern="0" dirty="0">
                <a:solidFill>
                  <a:srgbClr val="CADCFC"/>
                </a:solidFill>
                <a:latin typeface="Calibri" pitchFamily="34" charset="0"/>
                <a:ea typeface="Calibri" pitchFamily="34" charset="-122"/>
                <a:cs typeface="Calibri" pitchFamily="34" charset="-120"/>
              </a:rPr>
              <a:t>ZEROTH REVIEW</a:t>
            </a:r>
            <a:endParaRPr lang="en-US" sz="1600" dirty="0"/>
          </a:p>
        </p:txBody>
      </p:sp>
      <p:sp>
        <p:nvSpPr>
          <p:cNvPr id="5" name="Text 3"/>
          <p:cNvSpPr/>
          <p:nvPr/>
        </p:nvSpPr>
        <p:spPr>
          <a:xfrm>
            <a:off x="914400" y="1965960"/>
            <a:ext cx="10332720" cy="1005840"/>
          </a:xfrm>
          <a:prstGeom prst="rect">
            <a:avLst/>
          </a:prstGeom>
          <a:noFill/>
          <a:ln/>
        </p:spPr>
        <p:txBody>
          <a:bodyPr wrap="square" lIns="0" tIns="0" rIns="0" bIns="0" rtlCol="0" anchor="t"/>
          <a:lstStyle/>
          <a:p>
            <a:pPr algn="ctr" indent="0" marL="0">
              <a:buNone/>
            </a:pPr>
            <a:r>
              <a:rPr lang="en-US" sz="3400" b="1" dirty="0">
                <a:solidFill>
                  <a:srgbClr val="FFFFFF"/>
                </a:solidFill>
                <a:latin typeface="Cambria" pitchFamily="34" charset="0"/>
                <a:ea typeface="Cambria" pitchFamily="34" charset="-122"/>
                <a:cs typeface="Cambria" pitchFamily="34" charset="-120"/>
              </a:rPr>
              <a:t>Project Zeroth Review Presentation</a:t>
            </a:r>
            <a:endParaRPr lang="en-US" sz="3400" dirty="0"/>
          </a:p>
        </p:txBody>
      </p:sp>
      <p:sp>
        <p:nvSpPr>
          <p:cNvPr id="6" name="Shape 4"/>
          <p:cNvSpPr/>
          <p:nvPr/>
        </p:nvSpPr>
        <p:spPr>
          <a:xfrm>
            <a:off x="5166360" y="3246120"/>
            <a:ext cx="1828800" cy="0"/>
          </a:xfrm>
          <a:prstGeom prst="line">
            <a:avLst/>
          </a:prstGeom>
          <a:noFill/>
          <a:ln w="12700">
            <a:solidFill>
              <a:srgbClr val="CADCFC"/>
            </a:solidFill>
            <a:prstDash val="solid"/>
          </a:ln>
        </p:spPr>
      </p:sp>
      <p:sp>
        <p:nvSpPr>
          <p:cNvPr id="7" name="Text 5"/>
          <p:cNvSpPr/>
          <p:nvPr/>
        </p:nvSpPr>
        <p:spPr>
          <a:xfrm>
            <a:off x="914400" y="3520440"/>
            <a:ext cx="103327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Kishan Patel</a:t>
            </a:r>
            <a:endParaRPr lang="en-US" sz="2400" dirty="0"/>
          </a:p>
        </p:txBody>
      </p:sp>
      <p:sp>
        <p:nvSpPr>
          <p:cNvPr id="8" name="Text 6"/>
          <p:cNvSpPr/>
          <p:nvPr/>
        </p:nvSpPr>
        <p:spPr>
          <a:xfrm>
            <a:off x="914400" y="4041648"/>
            <a:ext cx="10332720" cy="36576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Reg. No: T-9934</a:t>
            </a:r>
            <a:endParaRPr lang="en-US" sz="1500" dirty="0"/>
          </a:p>
        </p:txBody>
      </p:sp>
      <p:sp>
        <p:nvSpPr>
          <p:cNvPr id="9" name="Text 7"/>
          <p:cNvSpPr/>
          <p:nvPr/>
        </p:nvSpPr>
        <p:spPr>
          <a:xfrm>
            <a:off x="914400" y="4407408"/>
            <a:ext cx="10332720" cy="365760"/>
          </a:xfrm>
          <a:prstGeom prst="rect">
            <a:avLst/>
          </a:prstGeom>
          <a:noFill/>
          <a:ln/>
        </p:spPr>
        <p:txBody>
          <a:bodyPr wrap="square" lIns="0" tIns="0" rIns="0" bIns="0"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VIT Vellore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PROJECT 1 · ZEROTH REVIEW</a:t>
            </a:r>
            <a:endParaRPr lang="en-US" sz="1300" dirty="0"/>
          </a:p>
        </p:txBody>
      </p:sp>
      <p:sp>
        <p:nvSpPr>
          <p:cNvPr id="3" name="Text 1"/>
          <p:cNvSpPr/>
          <p:nvPr/>
        </p:nvSpPr>
        <p:spPr>
          <a:xfrm>
            <a:off x="457200" y="530352"/>
            <a:ext cx="11247120" cy="685800"/>
          </a:xfrm>
          <a:prstGeom prst="rect">
            <a:avLst/>
          </a:prstGeom>
          <a:noFill/>
          <a:ln/>
        </p:spPr>
        <p:txBody>
          <a:bodyPr wrap="square" lIns="0" tIns="0" rIns="0" bIns="0" rtlCol="0" anchor="t"/>
          <a:lstStyle/>
          <a:p>
            <a:pPr indent="0" marL="0">
              <a:buNone/>
            </a:pPr>
            <a:r>
              <a:rPr lang="en-US" sz="2400" b="1" dirty="0">
                <a:solidFill>
                  <a:srgbClr val="1A1A1A"/>
                </a:solidFill>
                <a:latin typeface="Cambria" pitchFamily="34" charset="0"/>
                <a:ea typeface="Cambria" pitchFamily="34" charset="-122"/>
                <a:cs typeface="Cambria" pitchFamily="34" charset="-120"/>
              </a:rPr>
              <a:t>Reliable Financial Retrieval &amp; Cross-Filing Contradiction Detection in SEC Filings</a:t>
            </a:r>
            <a:endParaRPr lang="en-US" sz="2400" dirty="0"/>
          </a:p>
        </p:txBody>
      </p:sp>
      <p:sp>
        <p:nvSpPr>
          <p:cNvPr id="4" name="Shape 2"/>
          <p:cNvSpPr/>
          <p:nvPr/>
        </p:nvSpPr>
        <p:spPr>
          <a:xfrm>
            <a:off x="457200" y="1417320"/>
            <a:ext cx="5440680" cy="5074920"/>
          </a:xfrm>
          <a:prstGeom prst="roundRect">
            <a:avLst>
              <a:gd name="adj" fmla="val 2162"/>
            </a:avLst>
          </a:prstGeom>
          <a:solidFill>
            <a:srgbClr val="EEF3FE"/>
          </a:solidFill>
          <a:ln/>
          <a:effectLst>
            <a:outerShdw sx="100000" sy="100000" kx="0" ky="0" algn="bl" rotWithShape="0" blurRad="76200" dist="25400" dir="5400000">
              <a:srgbClr val="8A8A8A">
                <a:alpha val="25000"/>
              </a:srgbClr>
            </a:outerShdw>
          </a:effectLst>
        </p:spPr>
      </p:sp>
      <p:sp>
        <p:nvSpPr>
          <p:cNvPr id="5" name="Shape 3"/>
          <p:cNvSpPr/>
          <p:nvPr/>
        </p:nvSpPr>
        <p:spPr>
          <a:xfrm>
            <a:off x="6263640" y="1417320"/>
            <a:ext cx="5440680" cy="5074920"/>
          </a:xfrm>
          <a:prstGeom prst="roundRect">
            <a:avLst>
              <a:gd name="adj" fmla="val 2162"/>
            </a:avLst>
          </a:prstGeom>
          <a:solidFill>
            <a:srgbClr val="EEF3FE"/>
          </a:solidFill>
          <a:ln/>
          <a:effectLst>
            <a:outerShdw sx="100000" sy="100000" kx="0" ky="0" algn="bl" rotWithShape="0" blurRad="76200" dist="25400" dir="5400000">
              <a:srgbClr val="8A8A8A">
                <a:alpha val="25000"/>
              </a:srgbClr>
            </a:outerShdw>
          </a:effectLst>
        </p:spPr>
      </p:sp>
      <p:sp>
        <p:nvSpPr>
          <p:cNvPr id="6" name="Text 4"/>
          <p:cNvSpPr/>
          <p:nvPr/>
        </p:nvSpPr>
        <p:spPr>
          <a:xfrm>
            <a:off x="685800" y="1600200"/>
            <a:ext cx="49834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Problem Statement</a:t>
            </a:r>
            <a:endParaRPr lang="en-US" sz="1700" dirty="0"/>
          </a:p>
        </p:txBody>
      </p:sp>
      <p:sp>
        <p:nvSpPr>
          <p:cNvPr id="7" name="Shape 5"/>
          <p:cNvSpPr/>
          <p:nvPr/>
        </p:nvSpPr>
        <p:spPr>
          <a:xfrm>
            <a:off x="685800" y="2130552"/>
            <a:ext cx="256032" cy="256032"/>
          </a:xfrm>
          <a:prstGeom prst="ellipse">
            <a:avLst/>
          </a:prstGeom>
          <a:solidFill>
            <a:srgbClr val="1E2761"/>
          </a:solidFill>
          <a:ln/>
        </p:spPr>
      </p:sp>
      <p:sp>
        <p:nvSpPr>
          <p:cNvPr id="8" name="Text 6"/>
          <p:cNvSpPr/>
          <p:nvPr/>
        </p:nvSpPr>
        <p:spPr>
          <a:xfrm>
            <a:off x="685800" y="2130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069848" y="2103120"/>
            <a:ext cx="4599432" cy="749808"/>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10-K/10-Q filings run 100-300+ pages; fixed-size RAG chunking cuts tables mid-row, severing numbers from headers and causing hallucinated figures.</a:t>
            </a:r>
            <a:endParaRPr lang="en-US" sz="1150" dirty="0"/>
          </a:p>
        </p:txBody>
      </p:sp>
      <p:sp>
        <p:nvSpPr>
          <p:cNvPr id="10" name="Shape 8"/>
          <p:cNvSpPr/>
          <p:nvPr/>
        </p:nvSpPr>
        <p:spPr>
          <a:xfrm>
            <a:off x="685800" y="3008376"/>
            <a:ext cx="256032" cy="256032"/>
          </a:xfrm>
          <a:prstGeom prst="ellipse">
            <a:avLst/>
          </a:prstGeom>
          <a:solidFill>
            <a:srgbClr val="1E2761"/>
          </a:solidFill>
          <a:ln/>
        </p:spPr>
      </p:sp>
      <p:sp>
        <p:nvSpPr>
          <p:cNvPr id="11" name="Text 9"/>
          <p:cNvSpPr/>
          <p:nvPr/>
        </p:nvSpPr>
        <p:spPr>
          <a:xfrm>
            <a:off x="68580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069848" y="2980944"/>
            <a:ext cx="4599432" cy="749808"/>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Vector embeddings capture meaning, not chronology — standard RAG can't reliably compare a metric across periods to catch restatements or valuation shifts.</a:t>
            </a:r>
            <a:endParaRPr lang="en-US" sz="1150" dirty="0"/>
          </a:p>
        </p:txBody>
      </p:sp>
      <p:sp>
        <p:nvSpPr>
          <p:cNvPr id="13" name="Shape 11"/>
          <p:cNvSpPr/>
          <p:nvPr/>
        </p:nvSpPr>
        <p:spPr>
          <a:xfrm>
            <a:off x="685800" y="3886200"/>
            <a:ext cx="256032" cy="256032"/>
          </a:xfrm>
          <a:prstGeom prst="ellipse">
            <a:avLst/>
          </a:prstGeom>
          <a:solidFill>
            <a:srgbClr val="1E2761"/>
          </a:solidFill>
          <a:ln/>
        </p:spPr>
      </p:sp>
      <p:sp>
        <p:nvSpPr>
          <p:cNvPr id="14" name="Text 12"/>
          <p:cNvSpPr/>
          <p:nvPr/>
        </p:nvSpPr>
        <p:spPr>
          <a:xfrm>
            <a:off x="685800" y="38862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69848" y="3858768"/>
            <a:ext cx="4599432" cy="749808"/>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Optimistic MD&amp;A narrative is prioritized by semantic search while material risks buried in footnotes go unverified — a masking risk for analysts and auditors.</a:t>
            </a:r>
            <a:endParaRPr lang="en-US" sz="1150" dirty="0"/>
          </a:p>
        </p:txBody>
      </p:sp>
      <p:sp>
        <p:nvSpPr>
          <p:cNvPr id="16" name="Text 14"/>
          <p:cNvSpPr/>
          <p:nvPr/>
        </p:nvSpPr>
        <p:spPr>
          <a:xfrm>
            <a:off x="6492240" y="1600200"/>
            <a:ext cx="498348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Objectives in Detail</a:t>
            </a:r>
            <a:endParaRPr lang="en-US" sz="1700" dirty="0"/>
          </a:p>
        </p:txBody>
      </p:sp>
      <p:sp>
        <p:nvSpPr>
          <p:cNvPr id="17" name="Shape 15"/>
          <p:cNvSpPr/>
          <p:nvPr/>
        </p:nvSpPr>
        <p:spPr>
          <a:xfrm>
            <a:off x="6492240" y="2130552"/>
            <a:ext cx="256032" cy="256032"/>
          </a:xfrm>
          <a:prstGeom prst="ellipse">
            <a:avLst/>
          </a:prstGeom>
          <a:solidFill>
            <a:srgbClr val="1E2761"/>
          </a:solidFill>
          <a:ln/>
        </p:spPr>
      </p:sp>
      <p:sp>
        <p:nvSpPr>
          <p:cNvPr id="18" name="Text 16"/>
          <p:cNvSpPr/>
          <p:nvPr/>
        </p:nvSpPr>
        <p:spPr>
          <a:xfrm>
            <a:off x="6492240" y="2130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p:nvPr/>
        </p:nvSpPr>
        <p:spPr>
          <a:xfrm>
            <a:off x="6876288" y="2103120"/>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Zero-hallucination numeric retrieval using structured XBRL data, not AI table-reading.</a:t>
            </a:r>
            <a:endParaRPr lang="en-US" sz="1100" dirty="0"/>
          </a:p>
        </p:txBody>
      </p:sp>
      <p:sp>
        <p:nvSpPr>
          <p:cNvPr id="20" name="Shape 18"/>
          <p:cNvSpPr/>
          <p:nvPr/>
        </p:nvSpPr>
        <p:spPr>
          <a:xfrm>
            <a:off x="6492240" y="2788920"/>
            <a:ext cx="256032" cy="256032"/>
          </a:xfrm>
          <a:prstGeom prst="ellipse">
            <a:avLst/>
          </a:prstGeom>
          <a:solidFill>
            <a:srgbClr val="1E2761"/>
          </a:solidFill>
          <a:ln/>
        </p:spPr>
      </p:sp>
      <p:sp>
        <p:nvSpPr>
          <p:cNvPr id="21" name="Text 19"/>
          <p:cNvSpPr/>
          <p:nvPr/>
        </p:nvSpPr>
        <p:spPr>
          <a:xfrm>
            <a:off x="6492240" y="27889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p:nvPr/>
        </p:nvSpPr>
        <p:spPr>
          <a:xfrm>
            <a:off x="6876288" y="2761488"/>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Reliable cross-filing comparison — match exact reporting periods to flag genuine restatements.</a:t>
            </a:r>
            <a:endParaRPr lang="en-US" sz="1100" dirty="0"/>
          </a:p>
        </p:txBody>
      </p:sp>
      <p:sp>
        <p:nvSpPr>
          <p:cNvPr id="23" name="Shape 21"/>
          <p:cNvSpPr/>
          <p:nvPr/>
        </p:nvSpPr>
        <p:spPr>
          <a:xfrm>
            <a:off x="6492240" y="3447288"/>
            <a:ext cx="256032" cy="256032"/>
          </a:xfrm>
          <a:prstGeom prst="ellipse">
            <a:avLst/>
          </a:prstGeom>
          <a:solidFill>
            <a:srgbClr val="1E2761"/>
          </a:solidFill>
          <a:ln/>
        </p:spPr>
      </p:sp>
      <p:sp>
        <p:nvSpPr>
          <p:cNvPr id="24" name="Text 22"/>
          <p:cNvSpPr/>
          <p:nvPr/>
        </p:nvSpPr>
        <p:spPr>
          <a:xfrm>
            <a:off x="6492240" y="344728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876288" y="3419856"/>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LLM-based contradiction detection between MD&amp;A claims and footnote disclosures.</a:t>
            </a:r>
            <a:endParaRPr lang="en-US" sz="1100" dirty="0"/>
          </a:p>
        </p:txBody>
      </p:sp>
      <p:sp>
        <p:nvSpPr>
          <p:cNvPr id="26" name="Shape 24"/>
          <p:cNvSpPr/>
          <p:nvPr/>
        </p:nvSpPr>
        <p:spPr>
          <a:xfrm>
            <a:off x="6492240" y="4105656"/>
            <a:ext cx="256032" cy="256032"/>
          </a:xfrm>
          <a:prstGeom prst="ellipse">
            <a:avLst/>
          </a:prstGeom>
          <a:solidFill>
            <a:srgbClr val="1E2761"/>
          </a:solidFill>
          <a:ln/>
        </p:spPr>
      </p:sp>
      <p:sp>
        <p:nvSpPr>
          <p:cNvPr id="27" name="Text 25"/>
          <p:cNvSpPr/>
          <p:nvPr/>
        </p:nvSpPr>
        <p:spPr>
          <a:xfrm>
            <a:off x="6492240" y="41056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76288" y="4078224"/>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Hybrid retrieval (dense vectors + BM25 + neural reranking) for accurate narrative Q&amp;A.</a:t>
            </a:r>
            <a:endParaRPr lang="en-US" sz="1100" dirty="0"/>
          </a:p>
        </p:txBody>
      </p:sp>
      <p:sp>
        <p:nvSpPr>
          <p:cNvPr id="29" name="Shape 27"/>
          <p:cNvSpPr/>
          <p:nvPr/>
        </p:nvSpPr>
        <p:spPr>
          <a:xfrm>
            <a:off x="6492240" y="4764024"/>
            <a:ext cx="256032" cy="256032"/>
          </a:xfrm>
          <a:prstGeom prst="ellipse">
            <a:avLst/>
          </a:prstGeom>
          <a:solidFill>
            <a:srgbClr val="1E2761"/>
          </a:solidFill>
          <a:ln/>
        </p:spPr>
      </p:sp>
      <p:sp>
        <p:nvSpPr>
          <p:cNvPr id="30" name="Text 28"/>
          <p:cNvSpPr/>
          <p:nvPr/>
        </p:nvSpPr>
        <p:spPr>
          <a:xfrm>
            <a:off x="6492240" y="47640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6876288" y="4736592"/>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Validate against a naive RAG baseline; ship a citable Streamlit dashboard.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lIns="0" tIns="0" rIns="0" bIns="0"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PROJECT 1 · ZEROTH REVIEW</a:t>
            </a:r>
            <a:endParaRPr lang="en-US" sz="1300" dirty="0"/>
          </a:p>
        </p:txBody>
      </p:sp>
      <p:sp>
        <p:nvSpPr>
          <p:cNvPr id="3" name="Text 1"/>
          <p:cNvSpPr/>
          <p:nvPr/>
        </p:nvSpPr>
        <p:spPr>
          <a:xfrm>
            <a:off x="457200" y="530352"/>
            <a:ext cx="11247120" cy="685800"/>
          </a:xfrm>
          <a:prstGeom prst="rect">
            <a:avLst/>
          </a:prstGeom>
          <a:noFill/>
          <a:ln/>
        </p:spPr>
        <p:txBody>
          <a:bodyPr wrap="square" lIns="0" tIns="0" rIns="0" bIns="0" rtlCol="0" anchor="t"/>
          <a:lstStyle/>
          <a:p>
            <a:pPr indent="0" marL="0">
              <a:buNone/>
            </a:pPr>
            <a:r>
              <a:rPr lang="en-US" sz="2400" b="1" dirty="0">
                <a:solidFill>
                  <a:srgbClr val="1A1A1A"/>
                </a:solidFill>
                <a:latin typeface="Cambria" pitchFamily="34" charset="0"/>
                <a:ea typeface="Cambria" pitchFamily="34" charset="-122"/>
                <a:cs typeface="Cambria" pitchFamily="34" charset="-120"/>
              </a:rPr>
              <a:t>Dataset, Technical Stack &amp; Expected Outcomes</a:t>
            </a:r>
            <a:endParaRPr lang="en-US" sz="2400" dirty="0"/>
          </a:p>
        </p:txBody>
      </p:sp>
      <p:sp>
        <p:nvSpPr>
          <p:cNvPr id="4" name="Shape 2"/>
          <p:cNvSpPr/>
          <p:nvPr/>
        </p:nvSpPr>
        <p:spPr>
          <a:xfrm>
            <a:off x="457200" y="1417320"/>
            <a:ext cx="5440680" cy="2651760"/>
          </a:xfrm>
          <a:prstGeom prst="roundRect">
            <a:avLst>
              <a:gd name="adj" fmla="val 4138"/>
            </a:avLst>
          </a:prstGeom>
          <a:solidFill>
            <a:srgbClr val="EEF3FE"/>
          </a:solidFill>
          <a:ln/>
          <a:effectLst>
            <a:outerShdw sx="100000" sy="100000" kx="0" ky="0" algn="bl" rotWithShape="0" blurRad="76200" dist="25400" dir="5400000">
              <a:srgbClr val="8A8A8A">
                <a:alpha val="25000"/>
              </a:srgbClr>
            </a:outerShdw>
          </a:effectLst>
        </p:spPr>
      </p:sp>
      <p:sp>
        <p:nvSpPr>
          <p:cNvPr id="5" name="Shape 3"/>
          <p:cNvSpPr/>
          <p:nvPr/>
        </p:nvSpPr>
        <p:spPr>
          <a:xfrm>
            <a:off x="6263640" y="1417320"/>
            <a:ext cx="5440680" cy="2651760"/>
          </a:xfrm>
          <a:prstGeom prst="roundRect">
            <a:avLst>
              <a:gd name="adj" fmla="val 4138"/>
            </a:avLst>
          </a:prstGeom>
          <a:solidFill>
            <a:srgbClr val="EEF3FE"/>
          </a:solidFill>
          <a:ln/>
          <a:effectLst>
            <a:outerShdw sx="100000" sy="100000" kx="0" ky="0" algn="bl" rotWithShape="0" blurRad="76200" dist="25400" dir="5400000">
              <a:srgbClr val="8A8A8A">
                <a:alpha val="25000"/>
              </a:srgbClr>
            </a:outerShdw>
          </a:effectLst>
        </p:spPr>
      </p:sp>
      <p:sp>
        <p:nvSpPr>
          <p:cNvPr id="6" name="Text 4"/>
          <p:cNvSpPr/>
          <p:nvPr/>
        </p:nvSpPr>
        <p:spPr>
          <a:xfrm>
            <a:off x="685800" y="1554480"/>
            <a:ext cx="49834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Dataset</a:t>
            </a:r>
            <a:endParaRPr lang="en-US" sz="1500" dirty="0"/>
          </a:p>
        </p:txBody>
      </p:sp>
      <p:sp>
        <p:nvSpPr>
          <p:cNvPr id="7" name="Shape 5"/>
          <p:cNvSpPr/>
          <p:nvPr/>
        </p:nvSpPr>
        <p:spPr>
          <a:xfrm>
            <a:off x="685800" y="2011680"/>
            <a:ext cx="256032" cy="256032"/>
          </a:xfrm>
          <a:prstGeom prst="ellipse">
            <a:avLst/>
          </a:prstGeom>
          <a:solidFill>
            <a:srgbClr val="1E2761"/>
          </a:solidFill>
          <a:ln/>
        </p:spPr>
      </p:sp>
      <p:sp>
        <p:nvSpPr>
          <p:cNvPr id="8" name="Text 6"/>
          <p:cNvSpPr/>
          <p:nvPr/>
        </p:nvSpPr>
        <p:spPr>
          <a:xfrm>
            <a:off x="685800" y="20116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069848" y="1984248"/>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SEC EDGAR, pulled via edgartools API: XBRL company facts (JSON) + raw HTML filings.</a:t>
            </a:r>
            <a:endParaRPr lang="en-US" sz="1050" dirty="0"/>
          </a:p>
        </p:txBody>
      </p:sp>
      <p:sp>
        <p:nvSpPr>
          <p:cNvPr id="10" name="Shape 8"/>
          <p:cNvSpPr/>
          <p:nvPr/>
        </p:nvSpPr>
        <p:spPr>
          <a:xfrm>
            <a:off x="685800" y="2624328"/>
            <a:ext cx="256032" cy="256032"/>
          </a:xfrm>
          <a:prstGeom prst="ellipse">
            <a:avLst/>
          </a:prstGeom>
          <a:solidFill>
            <a:srgbClr val="1E2761"/>
          </a:solidFill>
          <a:ln/>
        </p:spPr>
      </p:sp>
      <p:sp>
        <p:nvSpPr>
          <p:cNvPr id="11" name="Text 9"/>
          <p:cNvSpPr/>
          <p:nvPr/>
        </p:nvSpPr>
        <p:spPr>
          <a:xfrm>
            <a:off x="685800" y="26243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069848" y="2596896"/>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AAPL, TSLA, JPM — 3 industries, 24,000+ XBRL facts — tests generalizability.</a:t>
            </a:r>
            <a:endParaRPr lang="en-US" sz="1050" dirty="0"/>
          </a:p>
        </p:txBody>
      </p:sp>
      <p:sp>
        <p:nvSpPr>
          <p:cNvPr id="13" name="Shape 11"/>
          <p:cNvSpPr/>
          <p:nvPr/>
        </p:nvSpPr>
        <p:spPr>
          <a:xfrm>
            <a:off x="685800" y="3236976"/>
            <a:ext cx="256032" cy="256032"/>
          </a:xfrm>
          <a:prstGeom prst="ellipse">
            <a:avLst/>
          </a:prstGeom>
          <a:solidFill>
            <a:srgbClr val="1E2761"/>
          </a:solidFill>
          <a:ln/>
        </p:spPr>
      </p:sp>
      <p:sp>
        <p:nvSpPr>
          <p:cNvPr id="14" name="Text 12"/>
          <p:cNvSpPr/>
          <p:nvPr/>
        </p:nvSpPr>
        <p:spPr>
          <a:xfrm>
            <a:off x="685800" y="32369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69848" y="3209544"/>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XBRL enables Obj. 1; multi-period filings enable Obj. 2; parsed MD&amp;A/footnotes enable Obj. 3-4.</a:t>
            </a:r>
            <a:endParaRPr lang="en-US" sz="1050" dirty="0"/>
          </a:p>
        </p:txBody>
      </p:sp>
      <p:sp>
        <p:nvSpPr>
          <p:cNvPr id="16" name="Text 14"/>
          <p:cNvSpPr/>
          <p:nvPr/>
        </p:nvSpPr>
        <p:spPr>
          <a:xfrm>
            <a:off x="6492240" y="1554480"/>
            <a:ext cx="498348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Expected Outcomes</a:t>
            </a:r>
            <a:endParaRPr lang="en-US" sz="1500" dirty="0"/>
          </a:p>
        </p:txBody>
      </p:sp>
      <p:sp>
        <p:nvSpPr>
          <p:cNvPr id="17" name="Shape 15"/>
          <p:cNvSpPr/>
          <p:nvPr/>
        </p:nvSpPr>
        <p:spPr>
          <a:xfrm>
            <a:off x="6492240" y="2011680"/>
            <a:ext cx="256032" cy="256032"/>
          </a:xfrm>
          <a:prstGeom prst="ellipse">
            <a:avLst/>
          </a:prstGeom>
          <a:solidFill>
            <a:srgbClr val="1E2761"/>
          </a:solidFill>
          <a:ln/>
        </p:spPr>
      </p:sp>
      <p:sp>
        <p:nvSpPr>
          <p:cNvPr id="18" name="Text 16"/>
          <p:cNvSpPr/>
          <p:nvPr/>
        </p:nvSpPr>
        <p:spPr>
          <a:xfrm>
            <a:off x="6492240" y="20116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p:nvPr/>
        </p:nvSpPr>
        <p:spPr>
          <a:xfrm>
            <a:off x="6876288" y="1984248"/>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Deployable system with accurate, cited numeric and narrative answers.</a:t>
            </a:r>
            <a:endParaRPr lang="en-US" sz="1050" dirty="0"/>
          </a:p>
        </p:txBody>
      </p:sp>
      <p:sp>
        <p:nvSpPr>
          <p:cNvPr id="20" name="Shape 18"/>
          <p:cNvSpPr/>
          <p:nvPr/>
        </p:nvSpPr>
        <p:spPr>
          <a:xfrm>
            <a:off x="6492240" y="2624328"/>
            <a:ext cx="256032" cy="256032"/>
          </a:xfrm>
          <a:prstGeom prst="ellipse">
            <a:avLst/>
          </a:prstGeom>
          <a:solidFill>
            <a:srgbClr val="1E2761"/>
          </a:solidFill>
          <a:ln/>
        </p:spPr>
      </p:sp>
      <p:sp>
        <p:nvSpPr>
          <p:cNvPr id="21" name="Text 19"/>
          <p:cNvSpPr/>
          <p:nvPr/>
        </p:nvSpPr>
        <p:spPr>
          <a:xfrm>
            <a:off x="6492240" y="26243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p:nvPr/>
        </p:nvSpPr>
        <p:spPr>
          <a:xfrm>
            <a:off x="6876288" y="2596896"/>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Empirical proof: near-100% numeric accuracy vs. a significantly weaker naive-RAG baseline.</a:t>
            </a:r>
            <a:endParaRPr lang="en-US" sz="1050" dirty="0"/>
          </a:p>
        </p:txBody>
      </p:sp>
      <p:sp>
        <p:nvSpPr>
          <p:cNvPr id="23" name="Shape 21"/>
          <p:cNvSpPr/>
          <p:nvPr/>
        </p:nvSpPr>
        <p:spPr>
          <a:xfrm>
            <a:off x="6492240" y="3236976"/>
            <a:ext cx="256032" cy="256032"/>
          </a:xfrm>
          <a:prstGeom prst="ellipse">
            <a:avLst/>
          </a:prstGeom>
          <a:solidFill>
            <a:srgbClr val="1E2761"/>
          </a:solidFill>
          <a:ln/>
        </p:spPr>
      </p:sp>
      <p:sp>
        <p:nvSpPr>
          <p:cNvPr id="24" name="Text 22"/>
          <p:cNvSpPr/>
          <p:nvPr/>
        </p:nvSpPr>
        <p:spPr>
          <a:xfrm>
            <a:off x="6492240" y="32369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876288" y="3209544"/>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Verified restatement detection plus one real narrative-footnote contradiction case.</a:t>
            </a:r>
            <a:endParaRPr lang="en-US" sz="1050" dirty="0"/>
          </a:p>
        </p:txBody>
      </p:sp>
      <p:sp>
        <p:nvSpPr>
          <p:cNvPr id="26" name="Shape 24"/>
          <p:cNvSpPr/>
          <p:nvPr/>
        </p:nvSpPr>
        <p:spPr>
          <a:xfrm>
            <a:off x="6492240" y="3849624"/>
            <a:ext cx="256032" cy="256032"/>
          </a:xfrm>
          <a:prstGeom prst="ellipse">
            <a:avLst/>
          </a:prstGeom>
          <a:solidFill>
            <a:srgbClr val="1E2761"/>
          </a:solidFill>
          <a:ln/>
        </p:spPr>
      </p:sp>
      <p:sp>
        <p:nvSpPr>
          <p:cNvPr id="27" name="Text 25"/>
          <p:cNvSpPr/>
          <p:nvPr/>
        </p:nvSpPr>
        <p:spPr>
          <a:xfrm>
            <a:off x="6492240" y="38496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76288" y="3822192"/>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Pipeline validated across tech, auto, and banking filing styles.</a:t>
            </a:r>
            <a:endParaRPr lang="en-US" sz="1050" dirty="0"/>
          </a:p>
        </p:txBody>
      </p:sp>
      <p:sp>
        <p:nvSpPr>
          <p:cNvPr id="29" name="Text 27"/>
          <p:cNvSpPr/>
          <p:nvPr/>
        </p:nvSpPr>
        <p:spPr>
          <a:xfrm>
            <a:off x="457200" y="4297680"/>
            <a:ext cx="5486400" cy="320040"/>
          </a:xfrm>
          <a:prstGeom prst="rect">
            <a:avLst/>
          </a:prstGeom>
          <a:noFill/>
          <a:ln/>
        </p:spPr>
        <p:txBody>
          <a:bodyPr wrap="square" lIns="0" tIns="0" rIns="0" bIns="0"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Technical Stack</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47120" cy="914400"/>
        </p:xfrm>
        <a:graphic>
          <a:graphicData uri="http://schemas.openxmlformats.org/drawingml/2006/table">
            <a:tbl>
              <a:tblPr/>
              <a:tblGrid>
                <a:gridCol w="2249424"/>
                <a:gridCol w="3599078"/>
                <a:gridCol w="5398618"/>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E2761"/>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Storage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DuckDB</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Embedded SQL engine for zero-hallucination numeric queries</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Retrieval</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ChromaDB + BM25 + Flashrank</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Hybrid dense/keyword search with neural reranking</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Reasoning</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Google Gemini (gemini-flash-latest)</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Narrative vs. footnote contradiction detection</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Ingestion</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edgartools + BeautifulSoup4</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Fetch XBRL facts and parse regulatory HTML sections</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Interface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Streamlit</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Interactive dashboard with source citations</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PROJECT 2 · ZEROTH REVIEW</a:t>
            </a:r>
            <a:endParaRPr lang="en-US" sz="1300" dirty="0"/>
          </a:p>
        </p:txBody>
      </p:sp>
      <p:sp>
        <p:nvSpPr>
          <p:cNvPr id="3" name="Text 1"/>
          <p:cNvSpPr/>
          <p:nvPr/>
        </p:nvSpPr>
        <p:spPr>
          <a:xfrm>
            <a:off x="457200" y="530352"/>
            <a:ext cx="11247120" cy="685800"/>
          </a:xfrm>
          <a:prstGeom prst="rect">
            <a:avLst/>
          </a:prstGeom>
          <a:noFill/>
          <a:ln/>
        </p:spPr>
        <p:txBody>
          <a:bodyPr wrap="square" lIns="0" tIns="0" rIns="0" bIns="0" rtlCol="0" anchor="t"/>
          <a:lstStyle/>
          <a:p>
            <a:pPr indent="0" marL="0">
              <a:buNone/>
            </a:pPr>
            <a:r>
              <a:rPr lang="en-US" sz="2400" b="1" dirty="0">
                <a:solidFill>
                  <a:srgbClr val="1A1A1A"/>
                </a:solidFill>
                <a:latin typeface="Cambria" pitchFamily="34" charset="0"/>
                <a:ea typeface="Cambria" pitchFamily="34" charset="-122"/>
                <a:cs typeface="Cambria" pitchFamily="34" charset="-120"/>
              </a:rPr>
              <a:t>ClaimGuard-MCP — Multimodal Insurance Claim Consistency &amp; Fraud Arbiter</a:t>
            </a:r>
            <a:endParaRPr lang="en-US" sz="2400" dirty="0"/>
          </a:p>
        </p:txBody>
      </p:sp>
      <p:sp>
        <p:nvSpPr>
          <p:cNvPr id="4" name="Shape 2"/>
          <p:cNvSpPr/>
          <p:nvPr/>
        </p:nvSpPr>
        <p:spPr>
          <a:xfrm>
            <a:off x="457200" y="1417320"/>
            <a:ext cx="5440680" cy="5074920"/>
          </a:xfrm>
          <a:prstGeom prst="roundRect">
            <a:avLst>
              <a:gd name="adj" fmla="val 2162"/>
            </a:avLst>
          </a:prstGeom>
          <a:solidFill>
            <a:srgbClr val="FDEDEC"/>
          </a:solidFill>
          <a:ln/>
          <a:effectLst>
            <a:outerShdw sx="100000" sy="100000" kx="0" ky="0" algn="bl" rotWithShape="0" blurRad="76200" dist="25400" dir="5400000">
              <a:srgbClr val="8A8A8A">
                <a:alpha val="25000"/>
              </a:srgbClr>
            </a:outerShdw>
          </a:effectLst>
        </p:spPr>
      </p:sp>
      <p:sp>
        <p:nvSpPr>
          <p:cNvPr id="5" name="Shape 3"/>
          <p:cNvSpPr/>
          <p:nvPr/>
        </p:nvSpPr>
        <p:spPr>
          <a:xfrm>
            <a:off x="6263640" y="1417320"/>
            <a:ext cx="5440680" cy="5074920"/>
          </a:xfrm>
          <a:prstGeom prst="roundRect">
            <a:avLst>
              <a:gd name="adj" fmla="val 2162"/>
            </a:avLst>
          </a:prstGeom>
          <a:solidFill>
            <a:srgbClr val="FDEDEC"/>
          </a:solidFill>
          <a:ln/>
          <a:effectLst>
            <a:outerShdw sx="100000" sy="100000" kx="0" ky="0" algn="bl" rotWithShape="0" blurRad="76200" dist="25400" dir="5400000">
              <a:srgbClr val="8A8A8A">
                <a:alpha val="25000"/>
              </a:srgbClr>
            </a:outerShdw>
          </a:effectLst>
        </p:spPr>
      </p:sp>
      <p:sp>
        <p:nvSpPr>
          <p:cNvPr id="6" name="Text 4"/>
          <p:cNvSpPr/>
          <p:nvPr/>
        </p:nvSpPr>
        <p:spPr>
          <a:xfrm>
            <a:off x="685800" y="1600200"/>
            <a:ext cx="4983480" cy="365760"/>
          </a:xfrm>
          <a:prstGeom prst="rect">
            <a:avLst/>
          </a:prstGeom>
          <a:noFill/>
          <a:ln/>
        </p:spPr>
        <p:txBody>
          <a:bodyPr wrap="square" lIns="0" tIns="0" rIns="0" bIns="0" rtlCol="0" anchor="ctr"/>
          <a:lstStyle/>
          <a:p>
            <a:pPr indent="0" marL="0">
              <a:buNone/>
            </a:pPr>
            <a:r>
              <a:rPr lang="en-US" sz="1700" b="1" dirty="0">
                <a:solidFill>
                  <a:srgbClr val="990011"/>
                </a:solidFill>
                <a:latin typeface="Cambria" pitchFamily="34" charset="0"/>
                <a:ea typeface="Cambria" pitchFamily="34" charset="-122"/>
                <a:cs typeface="Cambria" pitchFamily="34" charset="-120"/>
              </a:rPr>
              <a:t>Problem Statement</a:t>
            </a:r>
            <a:endParaRPr lang="en-US" sz="1700" dirty="0"/>
          </a:p>
        </p:txBody>
      </p:sp>
      <p:sp>
        <p:nvSpPr>
          <p:cNvPr id="7" name="Shape 5"/>
          <p:cNvSpPr/>
          <p:nvPr/>
        </p:nvSpPr>
        <p:spPr>
          <a:xfrm>
            <a:off x="685800" y="2130552"/>
            <a:ext cx="256032" cy="256032"/>
          </a:xfrm>
          <a:prstGeom prst="ellipse">
            <a:avLst/>
          </a:prstGeom>
          <a:solidFill>
            <a:srgbClr val="990011"/>
          </a:solidFill>
          <a:ln/>
        </p:spPr>
      </p:sp>
      <p:sp>
        <p:nvSpPr>
          <p:cNvPr id="8" name="Text 6"/>
          <p:cNvSpPr/>
          <p:nvPr/>
        </p:nvSpPr>
        <p:spPr>
          <a:xfrm>
            <a:off x="685800" y="2130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069848" y="2103120"/>
            <a:ext cx="4599432" cy="749808"/>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Adjusters spend 40-60% of their time manually cross-referencing forms, receipts, and photos against policy terms — causing 7-14 day settlement delays.</a:t>
            </a:r>
            <a:endParaRPr lang="en-US" sz="1150" dirty="0"/>
          </a:p>
        </p:txBody>
      </p:sp>
      <p:sp>
        <p:nvSpPr>
          <p:cNvPr id="10" name="Shape 8"/>
          <p:cNvSpPr/>
          <p:nvPr/>
        </p:nvSpPr>
        <p:spPr>
          <a:xfrm>
            <a:off x="685800" y="3008376"/>
            <a:ext cx="256032" cy="256032"/>
          </a:xfrm>
          <a:prstGeom prst="ellipse">
            <a:avLst/>
          </a:prstGeom>
          <a:solidFill>
            <a:srgbClr val="990011"/>
          </a:solidFill>
          <a:ln/>
        </p:spPr>
      </p:sp>
      <p:sp>
        <p:nvSpPr>
          <p:cNvPr id="11" name="Text 9"/>
          <p:cNvSpPr/>
          <p:nvPr/>
        </p:nvSpPr>
        <p:spPr>
          <a:xfrm>
            <a:off x="685800" y="30083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069848" y="2980944"/>
            <a:ext cx="4599432" cy="749808"/>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Manual review misses arithmetic errors, treatment/repair dates before the accident, and invoices for damage photos don't support.</a:t>
            </a:r>
            <a:endParaRPr lang="en-US" sz="1150" dirty="0"/>
          </a:p>
        </p:txBody>
      </p:sp>
      <p:sp>
        <p:nvSpPr>
          <p:cNvPr id="13" name="Shape 11"/>
          <p:cNvSpPr/>
          <p:nvPr/>
        </p:nvSpPr>
        <p:spPr>
          <a:xfrm>
            <a:off x="685800" y="3886200"/>
            <a:ext cx="256032" cy="256032"/>
          </a:xfrm>
          <a:prstGeom prst="ellipse">
            <a:avLst/>
          </a:prstGeom>
          <a:solidFill>
            <a:srgbClr val="990011"/>
          </a:solidFill>
          <a:ln/>
        </p:spPr>
      </p:sp>
      <p:sp>
        <p:nvSpPr>
          <p:cNvPr id="14" name="Text 12"/>
          <p:cNvSpPr/>
          <p:nvPr/>
        </p:nvSpPr>
        <p:spPr>
          <a:xfrm>
            <a:off x="685800" y="388620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69848" y="3858768"/>
            <a:ext cx="4599432" cy="530352"/>
          </a:xfrm>
          <a:prstGeom prst="rect">
            <a:avLst/>
          </a:prstGeom>
          <a:noFill/>
          <a:ln/>
        </p:spPr>
        <p:txBody>
          <a:bodyPr wrap="square" lIns="0" tIns="0" rIns="0" bIns="0" rtlCol="0" anchor="t"/>
          <a:lstStyle/>
          <a:p>
            <a:pPr indent="0" marL="0">
              <a:lnSpc>
                <a:spcPct val="105000"/>
              </a:lnSpc>
              <a:buNone/>
            </a:pPr>
            <a:r>
              <a:rPr lang="en-US" sz="1150" dirty="0">
                <a:solidFill>
                  <a:srgbClr val="1A1A1A"/>
                </a:solidFill>
                <a:latin typeface="Calibri" pitchFamily="34" charset="0"/>
                <a:ea typeface="Calibri" pitchFamily="34" charset="-122"/>
                <a:cs typeface="Calibri" pitchFamily="34" charset="-120"/>
              </a:rPr>
              <a:t>Generative LLMs hallucinate calculations and can't reliably enforce strict arithmetic or temporal invariants on their own.</a:t>
            </a:r>
            <a:endParaRPr lang="en-US" sz="1150" dirty="0"/>
          </a:p>
        </p:txBody>
      </p:sp>
      <p:sp>
        <p:nvSpPr>
          <p:cNvPr id="16" name="Text 14"/>
          <p:cNvSpPr/>
          <p:nvPr/>
        </p:nvSpPr>
        <p:spPr>
          <a:xfrm>
            <a:off x="6492240" y="1600200"/>
            <a:ext cx="4983480" cy="365760"/>
          </a:xfrm>
          <a:prstGeom prst="rect">
            <a:avLst/>
          </a:prstGeom>
          <a:noFill/>
          <a:ln/>
        </p:spPr>
        <p:txBody>
          <a:bodyPr wrap="square" lIns="0" tIns="0" rIns="0" bIns="0" rtlCol="0" anchor="ctr"/>
          <a:lstStyle/>
          <a:p>
            <a:pPr indent="0" marL="0">
              <a:buNone/>
            </a:pPr>
            <a:r>
              <a:rPr lang="en-US" sz="1700" b="1" dirty="0">
                <a:solidFill>
                  <a:srgbClr val="990011"/>
                </a:solidFill>
                <a:latin typeface="Cambria" pitchFamily="34" charset="0"/>
                <a:ea typeface="Cambria" pitchFamily="34" charset="-122"/>
                <a:cs typeface="Cambria" pitchFamily="34" charset="-120"/>
              </a:rPr>
              <a:t>Objectives in Detail</a:t>
            </a:r>
            <a:endParaRPr lang="en-US" sz="1700" dirty="0"/>
          </a:p>
        </p:txBody>
      </p:sp>
      <p:sp>
        <p:nvSpPr>
          <p:cNvPr id="17" name="Shape 15"/>
          <p:cNvSpPr/>
          <p:nvPr/>
        </p:nvSpPr>
        <p:spPr>
          <a:xfrm>
            <a:off x="6492240" y="2130552"/>
            <a:ext cx="256032" cy="256032"/>
          </a:xfrm>
          <a:prstGeom prst="ellipse">
            <a:avLst/>
          </a:prstGeom>
          <a:solidFill>
            <a:srgbClr val="990011"/>
          </a:solidFill>
          <a:ln/>
        </p:spPr>
      </p:sp>
      <p:sp>
        <p:nvSpPr>
          <p:cNvPr id="18" name="Text 16"/>
          <p:cNvSpPr/>
          <p:nvPr/>
        </p:nvSpPr>
        <p:spPr>
          <a:xfrm>
            <a:off x="6492240" y="213055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p:nvPr/>
        </p:nvSpPr>
        <p:spPr>
          <a:xfrm>
            <a:off x="6876288" y="2103120"/>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Multimodal ingestion of forms and damage photos via Qwen2-VL-7B + OCR.</a:t>
            </a:r>
            <a:endParaRPr lang="en-US" sz="1100" dirty="0"/>
          </a:p>
        </p:txBody>
      </p:sp>
      <p:sp>
        <p:nvSpPr>
          <p:cNvPr id="20" name="Shape 18"/>
          <p:cNvSpPr/>
          <p:nvPr/>
        </p:nvSpPr>
        <p:spPr>
          <a:xfrm>
            <a:off x="6492240" y="2788920"/>
            <a:ext cx="256032" cy="256032"/>
          </a:xfrm>
          <a:prstGeom prst="ellipse">
            <a:avLst/>
          </a:prstGeom>
          <a:solidFill>
            <a:srgbClr val="990011"/>
          </a:solidFill>
          <a:ln/>
        </p:spPr>
      </p:sp>
      <p:sp>
        <p:nvSpPr>
          <p:cNvPr id="21" name="Text 19"/>
          <p:cNvSpPr/>
          <p:nvPr/>
        </p:nvSpPr>
        <p:spPr>
          <a:xfrm>
            <a:off x="6492240" y="27889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p:nvPr/>
        </p:nvSpPr>
        <p:spPr>
          <a:xfrm>
            <a:off x="6876288" y="2761488"/>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Zero-hallucination structured storage: typed Pydantic models in DuckDB.</a:t>
            </a:r>
            <a:endParaRPr lang="en-US" sz="1100" dirty="0"/>
          </a:p>
        </p:txBody>
      </p:sp>
      <p:sp>
        <p:nvSpPr>
          <p:cNvPr id="23" name="Shape 21"/>
          <p:cNvSpPr/>
          <p:nvPr/>
        </p:nvSpPr>
        <p:spPr>
          <a:xfrm>
            <a:off x="6492240" y="3447288"/>
            <a:ext cx="256032" cy="256032"/>
          </a:xfrm>
          <a:prstGeom prst="ellipse">
            <a:avLst/>
          </a:prstGeom>
          <a:solidFill>
            <a:srgbClr val="990011"/>
          </a:solidFill>
          <a:ln/>
        </p:spPr>
      </p:sp>
      <p:sp>
        <p:nvSpPr>
          <p:cNvPr id="24" name="Text 22"/>
          <p:cNvSpPr/>
          <p:nvPr/>
        </p:nvSpPr>
        <p:spPr>
          <a:xfrm>
            <a:off x="6492240" y="344728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876288" y="3419856"/>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Three decoupled MCP servers: extractor, policy evaluator, crosscheck engine.</a:t>
            </a:r>
            <a:endParaRPr lang="en-US" sz="1100" dirty="0"/>
          </a:p>
        </p:txBody>
      </p:sp>
      <p:sp>
        <p:nvSpPr>
          <p:cNvPr id="26" name="Shape 24"/>
          <p:cNvSpPr/>
          <p:nvPr/>
        </p:nvSpPr>
        <p:spPr>
          <a:xfrm>
            <a:off x="6492240" y="4105656"/>
            <a:ext cx="256032" cy="256032"/>
          </a:xfrm>
          <a:prstGeom prst="ellipse">
            <a:avLst/>
          </a:prstGeom>
          <a:solidFill>
            <a:srgbClr val="990011"/>
          </a:solidFill>
          <a:ln/>
        </p:spPr>
      </p:sp>
      <p:sp>
        <p:nvSpPr>
          <p:cNvPr id="27" name="Text 25"/>
          <p:cNvSpPr/>
          <p:nvPr/>
        </p:nvSpPr>
        <p:spPr>
          <a:xfrm>
            <a:off x="6492240" y="410565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76288" y="4078224"/>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Deterministic SQL invariant checks for 100% arithmetic and temporal accuracy.</a:t>
            </a:r>
            <a:endParaRPr lang="en-US" sz="1100" dirty="0"/>
          </a:p>
        </p:txBody>
      </p:sp>
      <p:sp>
        <p:nvSpPr>
          <p:cNvPr id="29" name="Shape 27"/>
          <p:cNvSpPr/>
          <p:nvPr/>
        </p:nvSpPr>
        <p:spPr>
          <a:xfrm>
            <a:off x="6492240" y="4764024"/>
            <a:ext cx="256032" cy="256032"/>
          </a:xfrm>
          <a:prstGeom prst="ellipse">
            <a:avLst/>
          </a:prstGeom>
          <a:solidFill>
            <a:srgbClr val="990011"/>
          </a:solidFill>
          <a:ln/>
        </p:spPr>
      </p:sp>
      <p:sp>
        <p:nvSpPr>
          <p:cNvPr id="30" name="Text 28"/>
          <p:cNvSpPr/>
          <p:nvPr/>
        </p:nvSpPr>
        <p:spPr>
          <a:xfrm>
            <a:off x="6492240" y="476402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1" name="Text 29"/>
          <p:cNvSpPr/>
          <p:nvPr/>
        </p:nvSpPr>
        <p:spPr>
          <a:xfrm>
            <a:off x="6876288" y="4736592"/>
            <a:ext cx="4599432" cy="530352"/>
          </a:xfrm>
          <a:prstGeom prst="rect">
            <a:avLst/>
          </a:prstGeom>
          <a:noFill/>
          <a:ln/>
        </p:spPr>
        <p:txBody>
          <a:bodyPr wrap="square" lIns="0" tIns="0" rIns="0" bIns="0" rtlCol="0" anchor="t"/>
          <a:lstStyle/>
          <a:p>
            <a:pPr indent="0" marL="0">
              <a:lnSpc>
                <a:spcPct val="105000"/>
              </a:lnSpc>
              <a:buNone/>
            </a:pPr>
            <a:r>
              <a:rPr lang="en-US" sz="1100" dirty="0">
                <a:solidFill>
                  <a:srgbClr val="1A1A1A"/>
                </a:solidFill>
                <a:latin typeface="Calibri" pitchFamily="34" charset="0"/>
                <a:ea typeface="Calibri" pitchFamily="34" charset="-122"/>
                <a:cs typeface="Calibri" pitchFamily="34" charset="-120"/>
              </a:rPr>
              <a:t>Adjuster cockpit UI with bounding-box citations and audit-ready PDF reports.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7315200" cy="292608"/>
          </a:xfrm>
          <a:prstGeom prst="rect">
            <a:avLst/>
          </a:prstGeom>
          <a:noFill/>
          <a:ln/>
        </p:spPr>
        <p:txBody>
          <a:bodyPr wrap="square" lIns="0" tIns="0" rIns="0" bIns="0" rtlCol="0" anchor="ctr"/>
          <a:lstStyle/>
          <a:p>
            <a:pPr indent="0" marL="0">
              <a:buNone/>
            </a:pPr>
            <a:r>
              <a:rPr lang="en-US" sz="1300" b="1" spc="200" kern="0" dirty="0">
                <a:solidFill>
                  <a:srgbClr val="990011"/>
                </a:solidFill>
                <a:latin typeface="Calibri" pitchFamily="34" charset="0"/>
                <a:ea typeface="Calibri" pitchFamily="34" charset="-122"/>
                <a:cs typeface="Calibri" pitchFamily="34" charset="-120"/>
              </a:rPr>
              <a:t>PROJECT 2 · ZEROTH REVIEW</a:t>
            </a:r>
            <a:endParaRPr lang="en-US" sz="1300" dirty="0"/>
          </a:p>
        </p:txBody>
      </p:sp>
      <p:sp>
        <p:nvSpPr>
          <p:cNvPr id="3" name="Text 1"/>
          <p:cNvSpPr/>
          <p:nvPr/>
        </p:nvSpPr>
        <p:spPr>
          <a:xfrm>
            <a:off x="457200" y="530352"/>
            <a:ext cx="11247120" cy="685800"/>
          </a:xfrm>
          <a:prstGeom prst="rect">
            <a:avLst/>
          </a:prstGeom>
          <a:noFill/>
          <a:ln/>
        </p:spPr>
        <p:txBody>
          <a:bodyPr wrap="square" lIns="0" tIns="0" rIns="0" bIns="0" rtlCol="0" anchor="t"/>
          <a:lstStyle/>
          <a:p>
            <a:pPr indent="0" marL="0">
              <a:buNone/>
            </a:pPr>
            <a:r>
              <a:rPr lang="en-US" sz="2400" b="1" dirty="0">
                <a:solidFill>
                  <a:srgbClr val="1A1A1A"/>
                </a:solidFill>
                <a:latin typeface="Cambria" pitchFamily="34" charset="0"/>
                <a:ea typeface="Cambria" pitchFamily="34" charset="-122"/>
                <a:cs typeface="Cambria" pitchFamily="34" charset="-120"/>
              </a:rPr>
              <a:t>Dataset, Technical Stack &amp; Expected Outcomes</a:t>
            </a:r>
            <a:endParaRPr lang="en-US" sz="2400" dirty="0"/>
          </a:p>
        </p:txBody>
      </p:sp>
      <p:sp>
        <p:nvSpPr>
          <p:cNvPr id="4" name="Shape 2"/>
          <p:cNvSpPr/>
          <p:nvPr/>
        </p:nvSpPr>
        <p:spPr>
          <a:xfrm>
            <a:off x="457200" y="1417320"/>
            <a:ext cx="5440680" cy="2651760"/>
          </a:xfrm>
          <a:prstGeom prst="roundRect">
            <a:avLst>
              <a:gd name="adj" fmla="val 4138"/>
            </a:avLst>
          </a:prstGeom>
          <a:solidFill>
            <a:srgbClr val="FDEDEC"/>
          </a:solidFill>
          <a:ln/>
          <a:effectLst>
            <a:outerShdw sx="100000" sy="100000" kx="0" ky="0" algn="bl" rotWithShape="0" blurRad="76200" dist="25400" dir="5400000">
              <a:srgbClr val="8A8A8A">
                <a:alpha val="25000"/>
              </a:srgbClr>
            </a:outerShdw>
          </a:effectLst>
        </p:spPr>
      </p:sp>
      <p:sp>
        <p:nvSpPr>
          <p:cNvPr id="5" name="Shape 3"/>
          <p:cNvSpPr/>
          <p:nvPr/>
        </p:nvSpPr>
        <p:spPr>
          <a:xfrm>
            <a:off x="6263640" y="1417320"/>
            <a:ext cx="5440680" cy="2651760"/>
          </a:xfrm>
          <a:prstGeom prst="roundRect">
            <a:avLst>
              <a:gd name="adj" fmla="val 4138"/>
            </a:avLst>
          </a:prstGeom>
          <a:solidFill>
            <a:srgbClr val="FDEDEC"/>
          </a:solidFill>
          <a:ln/>
          <a:effectLst>
            <a:outerShdw sx="100000" sy="100000" kx="0" ky="0" algn="bl" rotWithShape="0" blurRad="76200" dist="25400" dir="5400000">
              <a:srgbClr val="8A8A8A">
                <a:alpha val="25000"/>
              </a:srgbClr>
            </a:outerShdw>
          </a:effectLst>
        </p:spPr>
      </p:sp>
      <p:sp>
        <p:nvSpPr>
          <p:cNvPr id="6" name="Text 4"/>
          <p:cNvSpPr/>
          <p:nvPr/>
        </p:nvSpPr>
        <p:spPr>
          <a:xfrm>
            <a:off x="685800" y="1554480"/>
            <a:ext cx="4983480" cy="320040"/>
          </a:xfrm>
          <a:prstGeom prst="rect">
            <a:avLst/>
          </a:prstGeom>
          <a:noFill/>
          <a:ln/>
        </p:spPr>
        <p:txBody>
          <a:bodyPr wrap="square" lIns="0" tIns="0" rIns="0" bIns="0" rtlCol="0" anchor="ctr"/>
          <a:lstStyle/>
          <a:p>
            <a:pPr indent="0" marL="0">
              <a:buNone/>
            </a:pPr>
            <a:r>
              <a:rPr lang="en-US" sz="1500" b="1" dirty="0">
                <a:solidFill>
                  <a:srgbClr val="990011"/>
                </a:solidFill>
                <a:latin typeface="Cambria" pitchFamily="34" charset="0"/>
                <a:ea typeface="Cambria" pitchFamily="34" charset="-122"/>
                <a:cs typeface="Cambria" pitchFamily="34" charset="-120"/>
              </a:rPr>
              <a:t>Dataset &amp; Ground Truth</a:t>
            </a:r>
            <a:endParaRPr lang="en-US" sz="1500" dirty="0"/>
          </a:p>
        </p:txBody>
      </p:sp>
      <p:sp>
        <p:nvSpPr>
          <p:cNvPr id="7" name="Shape 5"/>
          <p:cNvSpPr/>
          <p:nvPr/>
        </p:nvSpPr>
        <p:spPr>
          <a:xfrm>
            <a:off x="685800" y="2011680"/>
            <a:ext cx="256032" cy="256032"/>
          </a:xfrm>
          <a:prstGeom prst="ellipse">
            <a:avLst/>
          </a:prstGeom>
          <a:solidFill>
            <a:srgbClr val="990011"/>
          </a:solidFill>
          <a:ln/>
        </p:spPr>
      </p:sp>
      <p:sp>
        <p:nvSpPr>
          <p:cNvPr id="8" name="Text 6"/>
          <p:cNvSpPr/>
          <p:nvPr/>
        </p:nvSpPr>
        <p:spPr>
          <a:xfrm>
            <a:off x="685800" y="20116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069848" y="1984248"/>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50 synthetic multimodal claim dossiers (forms, bills, photos) — avoids HIPAA/GDPR hurdles.</a:t>
            </a:r>
            <a:endParaRPr lang="en-US" sz="1050" dirty="0"/>
          </a:p>
        </p:txBody>
      </p:sp>
      <p:sp>
        <p:nvSpPr>
          <p:cNvPr id="10" name="Shape 8"/>
          <p:cNvSpPr/>
          <p:nvPr/>
        </p:nvSpPr>
        <p:spPr>
          <a:xfrm>
            <a:off x="685800" y="2624328"/>
            <a:ext cx="256032" cy="256032"/>
          </a:xfrm>
          <a:prstGeom prst="ellipse">
            <a:avLst/>
          </a:prstGeom>
          <a:solidFill>
            <a:srgbClr val="990011"/>
          </a:solidFill>
          <a:ln/>
        </p:spPr>
      </p:sp>
      <p:sp>
        <p:nvSpPr>
          <p:cNvPr id="11" name="Text 9"/>
          <p:cNvSpPr/>
          <p:nvPr/>
        </p:nvSpPr>
        <p:spPr>
          <a:xfrm>
            <a:off x="685800" y="262432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1069848" y="2596896"/>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25 clean claims + 25 with planted defects: arithmetic, temporal, policy-scope, visual.</a:t>
            </a:r>
            <a:endParaRPr lang="en-US" sz="1050" dirty="0"/>
          </a:p>
        </p:txBody>
      </p:sp>
      <p:sp>
        <p:nvSpPr>
          <p:cNvPr id="13" name="Shape 11"/>
          <p:cNvSpPr/>
          <p:nvPr/>
        </p:nvSpPr>
        <p:spPr>
          <a:xfrm>
            <a:off x="685800" y="3236976"/>
            <a:ext cx="256032" cy="256032"/>
          </a:xfrm>
          <a:prstGeom prst="ellipse">
            <a:avLst/>
          </a:prstGeom>
          <a:solidFill>
            <a:srgbClr val="990011"/>
          </a:solidFill>
          <a:ln/>
        </p:spPr>
      </p:sp>
      <p:sp>
        <p:nvSpPr>
          <p:cNvPr id="14" name="Text 12"/>
          <p:cNvSpPr/>
          <p:nvPr/>
        </p:nvSpPr>
        <p:spPr>
          <a:xfrm>
            <a:off x="685800" y="323697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69848" y="3209544"/>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Enables quantitative Precision/Recall/F1 for fraud and inconsistency detection.</a:t>
            </a:r>
            <a:endParaRPr lang="en-US" sz="1050" dirty="0"/>
          </a:p>
        </p:txBody>
      </p:sp>
      <p:sp>
        <p:nvSpPr>
          <p:cNvPr id="16" name="Text 14"/>
          <p:cNvSpPr/>
          <p:nvPr/>
        </p:nvSpPr>
        <p:spPr>
          <a:xfrm>
            <a:off x="6492240" y="1554480"/>
            <a:ext cx="4983480" cy="320040"/>
          </a:xfrm>
          <a:prstGeom prst="rect">
            <a:avLst/>
          </a:prstGeom>
          <a:noFill/>
          <a:ln/>
        </p:spPr>
        <p:txBody>
          <a:bodyPr wrap="square" lIns="0" tIns="0" rIns="0" bIns="0" rtlCol="0" anchor="ctr"/>
          <a:lstStyle/>
          <a:p>
            <a:pPr indent="0" marL="0">
              <a:buNone/>
            </a:pPr>
            <a:r>
              <a:rPr lang="en-US" sz="1500" b="1" dirty="0">
                <a:solidFill>
                  <a:srgbClr val="990011"/>
                </a:solidFill>
                <a:latin typeface="Cambria" pitchFamily="34" charset="0"/>
                <a:ea typeface="Cambria" pitchFamily="34" charset="-122"/>
                <a:cs typeface="Cambria" pitchFamily="34" charset="-120"/>
              </a:rPr>
              <a:t>Expected Outcomes</a:t>
            </a:r>
            <a:endParaRPr lang="en-US" sz="1500" dirty="0"/>
          </a:p>
        </p:txBody>
      </p:sp>
      <p:sp>
        <p:nvSpPr>
          <p:cNvPr id="17" name="Shape 15"/>
          <p:cNvSpPr/>
          <p:nvPr/>
        </p:nvSpPr>
        <p:spPr>
          <a:xfrm>
            <a:off x="6492240" y="2011680"/>
            <a:ext cx="256032" cy="256032"/>
          </a:xfrm>
          <a:prstGeom prst="ellipse">
            <a:avLst/>
          </a:prstGeom>
          <a:solidFill>
            <a:srgbClr val="990011"/>
          </a:solidFill>
          <a:ln/>
        </p:spPr>
      </p:sp>
      <p:sp>
        <p:nvSpPr>
          <p:cNvPr id="18" name="Text 16"/>
          <p:cNvSpPr/>
          <p:nvPr/>
        </p:nvSpPr>
        <p:spPr>
          <a:xfrm>
            <a:off x="6492240" y="201168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p:nvPr/>
        </p:nvSpPr>
        <p:spPr>
          <a:xfrm>
            <a:off x="6876288" y="1984248"/>
            <a:ext cx="4599432" cy="310896"/>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Turnaround cut from 7-14 days to under 90 seconds per claim.</a:t>
            </a:r>
            <a:endParaRPr lang="en-US" sz="1050" dirty="0"/>
          </a:p>
        </p:txBody>
      </p:sp>
      <p:sp>
        <p:nvSpPr>
          <p:cNvPr id="20" name="Shape 18"/>
          <p:cNvSpPr/>
          <p:nvPr/>
        </p:nvSpPr>
        <p:spPr>
          <a:xfrm>
            <a:off x="6492240" y="2404872"/>
            <a:ext cx="256032" cy="256032"/>
          </a:xfrm>
          <a:prstGeom prst="ellipse">
            <a:avLst/>
          </a:prstGeom>
          <a:solidFill>
            <a:srgbClr val="990011"/>
          </a:solidFill>
          <a:ln/>
        </p:spPr>
      </p:sp>
      <p:sp>
        <p:nvSpPr>
          <p:cNvPr id="21" name="Text 19"/>
          <p:cNvSpPr/>
          <p:nvPr/>
        </p:nvSpPr>
        <p:spPr>
          <a:xfrm>
            <a:off x="6492240" y="24048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p:nvPr/>
        </p:nvSpPr>
        <p:spPr>
          <a:xfrm>
            <a:off x="6876288" y="2377440"/>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100% arithmetic precision via DuckDB SQL aggregation — no LLM math errors.</a:t>
            </a:r>
            <a:endParaRPr lang="en-US" sz="1050" dirty="0"/>
          </a:p>
        </p:txBody>
      </p:sp>
      <p:sp>
        <p:nvSpPr>
          <p:cNvPr id="23" name="Shape 21"/>
          <p:cNvSpPr/>
          <p:nvPr/>
        </p:nvSpPr>
        <p:spPr>
          <a:xfrm>
            <a:off x="6492240" y="3017520"/>
            <a:ext cx="256032" cy="256032"/>
          </a:xfrm>
          <a:prstGeom prst="ellipse">
            <a:avLst/>
          </a:prstGeom>
          <a:solidFill>
            <a:srgbClr val="990011"/>
          </a:solidFill>
          <a:ln/>
        </p:spPr>
      </p:sp>
      <p:sp>
        <p:nvSpPr>
          <p:cNvPr id="24" name="Text 22"/>
          <p:cNvSpPr/>
          <p:nvPr/>
        </p:nvSpPr>
        <p:spPr>
          <a:xfrm>
            <a:off x="6492240" y="30175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6876288" y="2990088"/>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&gt;90% precision and recall detecting defects on the 50-dossier benchmark.</a:t>
            </a:r>
            <a:endParaRPr lang="en-US" sz="1050" dirty="0"/>
          </a:p>
        </p:txBody>
      </p:sp>
      <p:sp>
        <p:nvSpPr>
          <p:cNvPr id="26" name="Shape 24"/>
          <p:cNvSpPr/>
          <p:nvPr/>
        </p:nvSpPr>
        <p:spPr>
          <a:xfrm>
            <a:off x="6492240" y="3630168"/>
            <a:ext cx="256032" cy="256032"/>
          </a:xfrm>
          <a:prstGeom prst="ellipse">
            <a:avLst/>
          </a:prstGeom>
          <a:solidFill>
            <a:srgbClr val="990011"/>
          </a:solidFill>
          <a:ln/>
        </p:spPr>
      </p:sp>
      <p:sp>
        <p:nvSpPr>
          <p:cNvPr id="27" name="Text 25"/>
          <p:cNvSpPr/>
          <p:nvPr/>
        </p:nvSpPr>
        <p:spPr>
          <a:xfrm>
            <a:off x="6492240" y="363016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76288" y="3602736"/>
            <a:ext cx="4599432" cy="530352"/>
          </a:xfrm>
          <a:prstGeom prst="rect">
            <a:avLst/>
          </a:prstGeom>
          <a:noFill/>
          <a:ln/>
        </p:spPr>
        <p:txBody>
          <a:bodyPr wrap="square" lIns="0" tIns="0" rIns="0" bIns="0" rtlCol="0" anchor="t"/>
          <a:lstStyle/>
          <a:p>
            <a:pPr indent="0" marL="0">
              <a:lnSpc>
                <a:spcPct val="105000"/>
              </a:lnSpc>
              <a:buNone/>
            </a:pPr>
            <a:r>
              <a:rPr lang="en-US" sz="1050" dirty="0">
                <a:solidFill>
                  <a:srgbClr val="1A1A1A"/>
                </a:solidFill>
                <a:latin typeface="Calibri" pitchFamily="34" charset="0"/>
                <a:ea typeface="Calibri" pitchFamily="34" charset="-122"/>
                <a:cs typeface="Calibri" pitchFamily="34" charset="-120"/>
              </a:rPr>
              <a:t>Audit-ready PDF reports with exact bounding-box evidence links.</a:t>
            </a:r>
            <a:endParaRPr lang="en-US" sz="1050" dirty="0"/>
          </a:p>
        </p:txBody>
      </p:sp>
      <p:sp>
        <p:nvSpPr>
          <p:cNvPr id="29" name="Text 27"/>
          <p:cNvSpPr/>
          <p:nvPr/>
        </p:nvSpPr>
        <p:spPr>
          <a:xfrm>
            <a:off x="457200" y="4297680"/>
            <a:ext cx="5486400" cy="320040"/>
          </a:xfrm>
          <a:prstGeom prst="rect">
            <a:avLst/>
          </a:prstGeom>
          <a:noFill/>
          <a:ln/>
        </p:spPr>
        <p:txBody>
          <a:bodyPr wrap="square" lIns="0" tIns="0" rIns="0" bIns="0" rtlCol="0" anchor="ctr"/>
          <a:lstStyle/>
          <a:p>
            <a:pPr indent="0" marL="0">
              <a:buNone/>
            </a:pPr>
            <a:r>
              <a:rPr lang="en-US" sz="1500" b="1" dirty="0">
                <a:solidFill>
                  <a:srgbClr val="990011"/>
                </a:solidFill>
                <a:latin typeface="Cambria" pitchFamily="34" charset="0"/>
                <a:ea typeface="Cambria" pitchFamily="34" charset="-122"/>
                <a:cs typeface="Cambria" pitchFamily="34" charset="-120"/>
              </a:rPr>
              <a:t>Technical Stack</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4663440"/>
          <a:ext cx="11247120" cy="914400"/>
        </p:xfrm>
        <a:graphic>
          <a:graphicData uri="http://schemas.openxmlformats.org/drawingml/2006/table">
            <a:tbl>
              <a:tblPr/>
              <a:tblGrid>
                <a:gridCol w="2249424"/>
                <a:gridCol w="3599078"/>
                <a:gridCol w="5398618"/>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9001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Technology</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9001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Purpose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990011"/>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Protocol</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FastMCP (Python SDK)</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Standardized MCP tools over stdio/SSE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Vision / OCR</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Qwen2-VL-7B + Surya OCR</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Form entity and damage-photo parsing</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Storage / Math</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DuckDB + Pydantic v2</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In-process SQL engine for zero-hallucination math &amp; dates</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Reasoning</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Ollama (Llama 3.1 8B)</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Context synthesis and structured JSON output</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4F4F4"/>
                    </a:solidFill>
                  </a:tcPr>
                </a:tc>
              </a:tr>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App / Deploy</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FastAPI + Streamlit + Docker Compose</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API layer, adjuster UI, self-contained deployment</a:t>
                      </a:r>
                      <a:endParaRPr lang="en-US" sz="1050" dirty="0">
                        <a:latin typeface="Calibri" charset="0"/>
                        <a:ea typeface="Calibri" charset="0"/>
                        <a:cs typeface="Calibri" charset="0"/>
                      </a:endParaRPr>
                    </a:p>
                  </a:txBody>
                  <a:tcPr marL="76200" marR="76200" marT="25400" marB="254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2026-08-27T16:42:24Z</dcterms:created>
  <dcterms:modified xsi:type="dcterms:W3CDTF">2026-08-27T16:42:24Z</dcterms:modified>
</cp:coreProperties>
</file>