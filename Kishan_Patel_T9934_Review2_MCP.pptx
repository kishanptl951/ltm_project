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0504" r:id="rId2"/>
    <p:sldId id="2147470492" r:id="rId3"/>
    <p:sldId id="2147470493" r:id="rId4"/>
    <p:sldId id="2147470487" r:id="rId5"/>
    <p:sldId id="2147470502" r:id="rId6"/>
    <p:sldId id="2147470494" r:id="rId7"/>
    <p:sldId id="2147470497" r:id="rId8"/>
    <p:sldId id="2147470503" r:id="rId9"/>
    <p:sldId id="2147470498" r:id="rId10"/>
    <p:sldId id="2147470500" r:id="rId11"/>
    <p:sldId id="214747049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B9ED"/>
    <a:srgbClr val="30BBDA"/>
    <a:srgbClr val="FFFFFF"/>
    <a:srgbClr val="47BDAE"/>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microsoft.com/office/2007/relationships/hdphoto" Target="../media/hdphoto3.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53997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a:t>
            </a:r>
          </a:p>
          <a:p>
            <a:pPr algn="ctr"/>
            <a:r>
              <a:rPr lang="en-IN" sz="3600" b="1" dirty="0" err="1">
                <a:solidFill>
                  <a:schemeClr val="bg1"/>
                </a:solidFill>
              </a:rPr>
              <a:t>ClaimGuard</a:t>
            </a:r>
            <a:r>
              <a:rPr lang="en-IN" sz="3600" b="1" dirty="0">
                <a:solidFill>
                  <a:schemeClr val="bg1"/>
                </a:solidFill>
              </a:rPr>
              <a:t>-MCP</a:t>
            </a:r>
          </a:p>
          <a:p>
            <a:pPr algn="ctr">
              <a:defRPr/>
            </a:pPr>
            <a:r>
              <a:rPr lang="en-IN" sz="3600" b="1" i="1" dirty="0">
                <a:solidFill>
                  <a:schemeClr val="bg1"/>
                </a:solidFill>
              </a:rPr>
              <a:t>A Multimodal Insurance Claim Consistency &amp; Fraud Arbitration System</a:t>
            </a:r>
            <a:endParaRPr lang="en-US" sz="3600" b="1" dirty="0">
              <a:solidFill>
                <a:prstClr val="white"/>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US" sz="2400" b="1" dirty="0">
                <a:solidFill>
                  <a:prstClr val="white"/>
                </a:solidFill>
                <a:cs typeface="Calibri" panose="020F0502020204030204" pitchFamily="34" charset="0"/>
              </a:rPr>
              <a:t>Team Member</a:t>
            </a:r>
          </a:p>
          <a:p>
            <a:pPr algn="ctr">
              <a:defRPr/>
            </a:pPr>
            <a:r>
              <a:rPr lang="en-US" sz="2400" b="1" dirty="0">
                <a:solidFill>
                  <a:prstClr val="white"/>
                </a:solidFill>
                <a:cs typeface="Calibri" panose="020F0502020204030204" pitchFamily="34" charset="0"/>
              </a:rPr>
              <a:t>Kishan Patel</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9" name="Picture 2" descr="LTIMindtree - Technology Consulting and Digital Solutions Company">
            <a:extLst>
              <a:ext uri="{FF2B5EF4-FFF2-40B4-BE49-F238E27FC236}">
                <a16:creationId xmlns:a16="http://schemas.microsoft.com/office/drawing/2014/main" id="{B3D78849-E5F7-1DB2-227F-14244586123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4191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8EFD-13D1-118F-A8E4-F9E2D3695A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7726612-73E0-5A94-F635-3A742DD5BA94}"/>
              </a:ext>
            </a:extLst>
          </p:cNvPr>
          <p:cNvSpPr>
            <a:spLocks noGrp="1"/>
          </p:cNvSpPr>
          <p:nvPr>
            <p:ph type="body" sz="quarter" idx="13"/>
          </p:nvPr>
        </p:nvSpPr>
        <p:spPr>
          <a:xfrm>
            <a:off x="255996" y="1271219"/>
            <a:ext cx="10624338" cy="4499989"/>
          </a:xfrm>
        </p:spPr>
        <p:txBody>
          <a:bodyPr/>
          <a:lstStyle/>
          <a:p>
            <a:pPr algn="just"/>
            <a:r>
              <a:rPr lang="en-IN" b="0" dirty="0">
                <a:solidFill>
                  <a:schemeClr val="tx1"/>
                </a:solidFill>
                <a:latin typeface="+mn-lt"/>
              </a:rPr>
              <a:t>Insurance claim verification involves multiple documents such as claim forms, policy documents, police reports, repair estimates, and bills. Since important information like vehicle details, incident dates, expenses, and reported damage is distributed across these documents, manual cross-verification is time-consuming and may miss inconsistencies.</a:t>
            </a:r>
          </a:p>
          <a:p>
            <a:pPr algn="just"/>
            <a:r>
              <a:rPr lang="en-IN" b="0" dirty="0" err="1">
                <a:solidFill>
                  <a:schemeClr val="tx1"/>
                </a:solidFill>
                <a:latin typeface="+mn-lt"/>
              </a:rPr>
              <a:t>ClaimGuard</a:t>
            </a:r>
            <a:r>
              <a:rPr lang="en-IN" b="0" dirty="0">
                <a:solidFill>
                  <a:schemeClr val="tx1"/>
                </a:solidFill>
                <a:latin typeface="+mn-lt"/>
              </a:rPr>
              <a:t>-MCP is a multimodal insurance claim validation system that uses OCR, document extraction, and rule-based consistency checks to extract and cross-verify information across claim documents. It identifies missing information and inconsistencies and generates a PASS, REVIEW, or FLAG outcome to support human claim assessment.</a:t>
            </a:r>
            <a:endParaRPr lang="en-US" b="0" dirty="0">
              <a:solidFill>
                <a:schemeClr val="tx1"/>
              </a:solidFill>
              <a:latin typeface="+mn-lt"/>
            </a:endParaRPr>
          </a:p>
        </p:txBody>
      </p:sp>
      <p:sp>
        <p:nvSpPr>
          <p:cNvPr id="3" name="TextBox 2">
            <a:extLst>
              <a:ext uri="{FF2B5EF4-FFF2-40B4-BE49-F238E27FC236}">
                <a16:creationId xmlns:a16="http://schemas.microsoft.com/office/drawing/2014/main" id="{AB4E3812-AF2F-9DD8-6ECF-C3425146B38F}"/>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a:t>
            </a:r>
          </a:p>
        </p:txBody>
      </p:sp>
      <p:cxnSp>
        <p:nvCxnSpPr>
          <p:cNvPr id="5" name="Straight Connector 4">
            <a:extLst>
              <a:ext uri="{FF2B5EF4-FFF2-40B4-BE49-F238E27FC236}">
                <a16:creationId xmlns:a16="http://schemas.microsoft.com/office/drawing/2014/main" id="{A295426A-3395-FE92-30C7-C8A6AC62DE62}"/>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818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1235D-73A1-0B84-0745-6B97432CB0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D551BF-43EB-C049-6D3B-4D17D5775294}"/>
              </a:ext>
            </a:extLst>
          </p:cNvPr>
          <p:cNvSpPr>
            <a:spLocks noGrp="1"/>
          </p:cNvSpPr>
          <p:nvPr>
            <p:ph type="body" sz="quarter" idx="13"/>
          </p:nvPr>
        </p:nvSpPr>
        <p:spPr>
          <a:xfrm>
            <a:off x="255996" y="1271219"/>
            <a:ext cx="10624338" cy="4679875"/>
          </a:xfrm>
        </p:spPr>
        <p:txBody>
          <a:bodyPr/>
          <a:lstStyle/>
          <a:p>
            <a:pPr lvl="0"/>
            <a:r>
              <a:rPr lang="en-IN" b="0" dirty="0">
                <a:solidFill>
                  <a:schemeClr val="tx1"/>
                </a:solidFill>
                <a:latin typeface="+mn-lt"/>
              </a:rPr>
              <a:t>Automate document processing by extracting relevant information from claim forms, policies, police reports, bills, repair estimates, and supporting images. </a:t>
            </a:r>
          </a:p>
          <a:p>
            <a:pPr lvl="0"/>
            <a:r>
              <a:rPr lang="en-IN" b="0" dirty="0">
                <a:solidFill>
                  <a:schemeClr val="tx1"/>
                </a:solidFill>
                <a:latin typeface="+mn-lt"/>
              </a:rPr>
              <a:t>Cross-verify claim information across multiple documents to identify inconsistencies in vehicle details, dates, expenses, policy information, and reported damage. </a:t>
            </a:r>
          </a:p>
          <a:p>
            <a:pPr lvl="0"/>
            <a:r>
              <a:rPr lang="en-IN" b="0" dirty="0">
                <a:solidFill>
                  <a:schemeClr val="tx1"/>
                </a:solidFill>
                <a:latin typeface="+mn-lt"/>
              </a:rPr>
              <a:t>Apply structured validation rules to evaluate claim evidence and identify missing, conflicting, or inconsistent information. </a:t>
            </a:r>
          </a:p>
          <a:p>
            <a:pPr lvl="0"/>
            <a:r>
              <a:rPr lang="en-IN" b="0" dirty="0">
                <a:solidFill>
                  <a:schemeClr val="tx1"/>
                </a:solidFill>
                <a:latin typeface="+mn-lt"/>
              </a:rPr>
              <a:t>Generate an explainable claim assessment using PASS, REVIEW, and FLAG outcomes to support human claim reviewers. </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72FF40D3-B05A-88C3-591F-882A93FC9918}"/>
              </a:ext>
            </a:extLst>
          </p:cNvPr>
          <p:cNvSpPr txBox="1"/>
          <p:nvPr/>
        </p:nvSpPr>
        <p:spPr>
          <a:xfrm>
            <a:off x="255996" y="502545"/>
            <a:ext cx="1062433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err="1">
                <a:ln>
                  <a:noFill/>
                </a:ln>
                <a:solidFill>
                  <a:srgbClr val="5B9BD5">
                    <a:lumMod val="50000"/>
                  </a:srgbClr>
                </a:solidFill>
                <a:effectLst/>
                <a:uLnTx/>
                <a:uFillTx/>
                <a:latin typeface="Calibri" panose="020F0502020204030204"/>
                <a:ea typeface="+mn-ea"/>
                <a:cs typeface="+mn-cs"/>
              </a:rPr>
              <a:t>Objectiv</a:t>
            </a:r>
            <a:r>
              <a:rPr lang="en-US" sz="3600" b="1" dirty="0">
                <a:solidFill>
                  <a:srgbClr val="5B9BD5">
                    <a:lumMod val="50000"/>
                  </a:srgbClr>
                </a:solidFill>
                <a:latin typeface="Calibri" panose="020F0502020204030204"/>
              </a:rPr>
              <a:t>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2740D4D-2363-70E1-0E6E-1BDDA8C33C87}"/>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945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F24291B-7EDA-4E3D-40F5-03FDC22C3364}"/>
              </a:ext>
            </a:extLst>
          </p:cNvPr>
          <p:cNvSpPr>
            <a:spLocks noGrp="1"/>
          </p:cNvSpPr>
          <p:nvPr>
            <p:ph type="body" sz="quarter" idx="13"/>
          </p:nvPr>
        </p:nvSpPr>
        <p:spPr>
          <a:xfrm>
            <a:off x="255996" y="1271219"/>
            <a:ext cx="10926666" cy="4395023"/>
          </a:xfrm>
        </p:spPr>
        <p:txBody>
          <a:bodyPr/>
          <a:lstStyle/>
          <a:p>
            <a:pPr marL="0" indent="0">
              <a:buNone/>
            </a:pPr>
            <a:r>
              <a:rPr lang="en-US" dirty="0">
                <a:solidFill>
                  <a:schemeClr val="accent5">
                    <a:lumMod val="75000"/>
                  </a:schemeClr>
                </a:solidFill>
                <a:latin typeface="+mn-lt"/>
              </a:rPr>
              <a:t>Module-1 : </a:t>
            </a:r>
            <a:r>
              <a:rPr lang="en-IN" dirty="0">
                <a:solidFill>
                  <a:schemeClr val="accent5">
                    <a:lumMod val="75000"/>
                  </a:schemeClr>
                </a:solidFill>
                <a:latin typeface="+mn-lt"/>
              </a:rPr>
              <a:t>Document Ingestion &amp; Classification</a:t>
            </a:r>
          </a:p>
          <a:p>
            <a:r>
              <a:rPr lang="en-IN" dirty="0">
                <a:solidFill>
                  <a:srgbClr val="30BBDA"/>
                </a:solidFill>
              </a:rPr>
              <a:t>Accepts claim documents and identifies their document type.</a:t>
            </a:r>
            <a:endParaRPr lang="en-US" dirty="0">
              <a:solidFill>
                <a:srgbClr val="30BBDA"/>
              </a:solidFill>
              <a:latin typeface="+mn-lt"/>
            </a:endParaRPr>
          </a:p>
          <a:p>
            <a:pPr marL="0" indent="0">
              <a:lnSpc>
                <a:spcPct val="150000"/>
              </a:lnSpc>
              <a:buNone/>
            </a:pPr>
            <a:r>
              <a:rPr lang="en-US" dirty="0">
                <a:solidFill>
                  <a:schemeClr val="accent5">
                    <a:lumMod val="75000"/>
                  </a:schemeClr>
                </a:solidFill>
                <a:latin typeface="+mn-lt"/>
              </a:rPr>
              <a:t>Module-2 : </a:t>
            </a:r>
            <a:r>
              <a:rPr lang="en-IN" dirty="0">
                <a:solidFill>
                  <a:schemeClr val="accent5">
                    <a:lumMod val="75000"/>
                  </a:schemeClr>
                </a:solidFill>
              </a:rPr>
              <a:t>Information Extraction</a:t>
            </a:r>
          </a:p>
          <a:p>
            <a:r>
              <a:rPr lang="en-IN" dirty="0">
                <a:solidFill>
                  <a:srgbClr val="30BBDA"/>
                </a:solidFill>
              </a:rPr>
              <a:t>Extracts structured claim information from PDFs and images using OCR and document processing.</a:t>
            </a:r>
          </a:p>
          <a:p>
            <a:pPr marL="0" indent="0">
              <a:lnSpc>
                <a:spcPct val="150000"/>
              </a:lnSpc>
              <a:buNone/>
            </a:pPr>
            <a:r>
              <a:rPr lang="en-IN" dirty="0">
                <a:solidFill>
                  <a:schemeClr val="accent5">
                    <a:lumMod val="75000"/>
                  </a:schemeClr>
                </a:solidFill>
                <a:latin typeface="+mn-lt"/>
              </a:rPr>
              <a:t>Module-3 : </a:t>
            </a:r>
            <a:r>
              <a:rPr lang="en-IN" dirty="0">
                <a:solidFill>
                  <a:schemeClr val="accent5">
                    <a:lumMod val="75000"/>
                  </a:schemeClr>
                </a:solidFill>
              </a:rPr>
              <a:t>Claim Evidence Management</a:t>
            </a:r>
          </a:p>
          <a:p>
            <a:r>
              <a:rPr lang="en-IN" dirty="0">
                <a:solidFill>
                  <a:srgbClr val="30BBDA"/>
                </a:solidFill>
              </a:rPr>
              <a:t>Stores claims, documents, policies, and extracted evidence in the system.</a:t>
            </a:r>
          </a:p>
        </p:txBody>
      </p:sp>
      <p:sp>
        <p:nvSpPr>
          <p:cNvPr id="3" name="TextBox 2">
            <a:extLst>
              <a:ext uri="{FF2B5EF4-FFF2-40B4-BE49-F238E27FC236}">
                <a16:creationId xmlns:a16="http://schemas.microsoft.com/office/drawing/2014/main" id="{25EA9B7F-B60D-6297-DC95-0FDA7E6D7C7C}"/>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 - </a:t>
            </a:r>
            <a:r>
              <a:rPr lang="en-IN" sz="3600" b="1" dirty="0" err="1">
                <a:solidFill>
                  <a:schemeClr val="accent1">
                    <a:lumMod val="50000"/>
                  </a:schemeClr>
                </a:solidFill>
              </a:rPr>
              <a:t>ClaimGuard</a:t>
            </a:r>
            <a:r>
              <a:rPr lang="en-IN" sz="3600" b="1" dirty="0">
                <a:solidFill>
                  <a:schemeClr val="accent1">
                    <a:lumMod val="50000"/>
                  </a:schemeClr>
                </a:solidFill>
              </a:rPr>
              <a:t>-MCP</a:t>
            </a:r>
            <a:endParaRPr kumimoji="0" lang="en-US" sz="3600" b="1"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06F77F89-4F98-73F2-FD5A-5DD416A6F12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7586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E546E-D2EC-672C-6119-E2344390FFA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E876E0-77C9-2241-C6E7-19EC14FD5C92}"/>
              </a:ext>
            </a:extLst>
          </p:cNvPr>
          <p:cNvSpPr>
            <a:spLocks noGrp="1"/>
          </p:cNvSpPr>
          <p:nvPr>
            <p:ph type="body" sz="quarter" idx="13"/>
          </p:nvPr>
        </p:nvSpPr>
        <p:spPr>
          <a:xfrm>
            <a:off x="255996" y="1271219"/>
            <a:ext cx="10926666" cy="4395023"/>
          </a:xfrm>
        </p:spPr>
        <p:txBody>
          <a:bodyPr/>
          <a:lstStyle/>
          <a:p>
            <a:pPr marL="0" indent="0">
              <a:buNone/>
            </a:pPr>
            <a:r>
              <a:rPr lang="en-IN" dirty="0"/>
              <a:t>Module-4 : Consistency &amp; Invariant Evaluation</a:t>
            </a:r>
          </a:p>
          <a:p>
            <a:r>
              <a:rPr lang="en-IN" dirty="0">
                <a:solidFill>
                  <a:srgbClr val="25B9ED"/>
                </a:solidFill>
              </a:rPr>
              <a:t>Cross-checks vehicle details, policy information, dates, expenses, and other claim attributes.</a:t>
            </a:r>
            <a:endParaRPr lang="en-US" dirty="0">
              <a:solidFill>
                <a:srgbClr val="25B9ED"/>
              </a:solidFill>
              <a:latin typeface="+mn-lt"/>
            </a:endParaRPr>
          </a:p>
          <a:p>
            <a:pPr marL="0" indent="0">
              <a:buNone/>
            </a:pPr>
            <a:r>
              <a:rPr lang="en-US" dirty="0">
                <a:solidFill>
                  <a:schemeClr val="accent5">
                    <a:lumMod val="75000"/>
                  </a:schemeClr>
                </a:solidFill>
                <a:latin typeface="+mn-lt"/>
              </a:rPr>
              <a:t>Module-5 : </a:t>
            </a:r>
            <a:r>
              <a:rPr lang="en-IN" dirty="0"/>
              <a:t>Damage &amp; Expense Validation</a:t>
            </a:r>
          </a:p>
          <a:p>
            <a:r>
              <a:rPr lang="en-IN" dirty="0">
                <a:solidFill>
                  <a:srgbClr val="25B9ED"/>
                </a:solidFill>
              </a:rPr>
              <a:t>Evaluates reported vehicle damage and repair/expense information for consistency.</a:t>
            </a:r>
          </a:p>
          <a:p>
            <a:pPr marL="0" indent="0">
              <a:buNone/>
            </a:pPr>
            <a:r>
              <a:rPr lang="en-IN" dirty="0">
                <a:solidFill>
                  <a:schemeClr val="accent5">
                    <a:lumMod val="75000"/>
                  </a:schemeClr>
                </a:solidFill>
                <a:latin typeface="+mn-lt"/>
              </a:rPr>
              <a:t>Module-6 : </a:t>
            </a:r>
            <a:r>
              <a:rPr lang="en-IN" dirty="0"/>
              <a:t>Claim Assessment</a:t>
            </a:r>
          </a:p>
          <a:p>
            <a:r>
              <a:rPr lang="en-IN" dirty="0">
                <a:solidFill>
                  <a:srgbClr val="25B9ED"/>
                </a:solidFill>
              </a:rPr>
              <a:t>Combines evaluation results and generates the final PASS / REVIEW / FLAG assessment.</a:t>
            </a:r>
          </a:p>
        </p:txBody>
      </p:sp>
      <p:sp>
        <p:nvSpPr>
          <p:cNvPr id="3" name="TextBox 2">
            <a:extLst>
              <a:ext uri="{FF2B5EF4-FFF2-40B4-BE49-F238E27FC236}">
                <a16:creationId xmlns:a16="http://schemas.microsoft.com/office/drawing/2014/main" id="{7E5C0590-F530-E284-81C9-D5E258CCB41A}"/>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latin typeface="Calibri" panose="020F0502020204030204"/>
              </a:rPr>
              <a:t>Module name - </a:t>
            </a:r>
            <a:r>
              <a:rPr lang="en-IN" sz="3600" b="1" dirty="0" err="1">
                <a:solidFill>
                  <a:schemeClr val="accent1">
                    <a:lumMod val="50000"/>
                  </a:schemeClr>
                </a:solidFill>
              </a:rPr>
              <a:t>ClaimGuard</a:t>
            </a:r>
            <a:r>
              <a:rPr lang="en-IN" sz="3600" b="1" dirty="0">
                <a:solidFill>
                  <a:schemeClr val="accent1">
                    <a:lumMod val="50000"/>
                  </a:schemeClr>
                </a:solidFill>
              </a:rPr>
              <a:t>-MCP</a:t>
            </a:r>
            <a:endParaRPr kumimoji="0" lang="en-US" sz="3600" b="1"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7CC4D1CC-867B-BC2F-F003-01FB75FF6B5F}"/>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3544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D7CD-C158-6FC1-06C7-09444D2DE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25C8EF-A5DD-AB22-0372-51B9ABE63526}"/>
              </a:ext>
            </a:extLst>
          </p:cNvPr>
          <p:cNvSpPr>
            <a:spLocks noGrp="1"/>
          </p:cNvSpPr>
          <p:nvPr>
            <p:ph type="body" sz="quarter" idx="13"/>
          </p:nvPr>
        </p:nvSpPr>
        <p:spPr>
          <a:xfrm>
            <a:off x="390907" y="1214183"/>
            <a:ext cx="10624338" cy="4142989"/>
          </a:xfrm>
        </p:spPr>
        <p:txBody>
          <a:bodyPr/>
          <a:lstStyle/>
          <a:p>
            <a:pPr marL="0" indent="0">
              <a:lnSpc>
                <a:spcPct val="150000"/>
              </a:lnSpc>
              <a:buNone/>
            </a:pPr>
            <a:r>
              <a:rPr lang="en-US" sz="2400" b="0" dirty="0">
                <a:solidFill>
                  <a:srgbClr val="5583D1"/>
                </a:solidFill>
                <a:latin typeface="+mn-lt"/>
              </a:rPr>
              <a:t>Calibri body 28</a:t>
            </a:r>
            <a:endParaRPr lang="en-US" sz="2400" b="0" dirty="0">
              <a:solidFill>
                <a:srgbClr val="5583D1"/>
              </a:solidFill>
            </a:endParaRPr>
          </a:p>
        </p:txBody>
      </p:sp>
      <p:sp>
        <p:nvSpPr>
          <p:cNvPr id="3" name="TextBox 2">
            <a:extLst>
              <a:ext uri="{FF2B5EF4-FFF2-40B4-BE49-F238E27FC236}">
                <a16:creationId xmlns:a16="http://schemas.microsoft.com/office/drawing/2014/main" id="{CB15F4B8-EED0-F7BE-96C7-D7AAE989A251}"/>
              </a:ext>
            </a:extLst>
          </p:cNvPr>
          <p:cNvSpPr txBox="1"/>
          <p:nvPr/>
        </p:nvSpPr>
        <p:spPr>
          <a:xfrm>
            <a:off x="390907" y="445509"/>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Methodology/Modeling Plan</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A882B44-FCE4-BF93-E951-46CF2238FB74}"/>
              </a:ext>
            </a:extLst>
          </p:cNvPr>
          <p:cNvCxnSpPr>
            <a:cxnSpLocks/>
          </p:cNvCxnSpPr>
          <p:nvPr/>
        </p:nvCxnSpPr>
        <p:spPr>
          <a:xfrm>
            <a:off x="356185" y="1134720"/>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E92ED685-8E5B-C58F-8932-67CD9472E5C7}"/>
              </a:ext>
            </a:extLst>
          </p:cNvPr>
          <p:cNvSpPr/>
          <p:nvPr/>
        </p:nvSpPr>
        <p:spPr>
          <a:xfrm>
            <a:off x="390907" y="1386756"/>
            <a:ext cx="24653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Document Input</a:t>
            </a:r>
            <a:br>
              <a:rPr lang="en-IN" dirty="0"/>
            </a:br>
            <a:r>
              <a:rPr lang="en-IN" dirty="0"/>
              <a:t>PDFs / Images</a:t>
            </a:r>
          </a:p>
        </p:txBody>
      </p:sp>
      <p:sp>
        <p:nvSpPr>
          <p:cNvPr id="9" name="Rectangle 8">
            <a:extLst>
              <a:ext uri="{FF2B5EF4-FFF2-40B4-BE49-F238E27FC236}">
                <a16:creationId xmlns:a16="http://schemas.microsoft.com/office/drawing/2014/main" id="{4787DF57-9F38-A56E-38E7-33792DAA261E}"/>
              </a:ext>
            </a:extLst>
          </p:cNvPr>
          <p:cNvSpPr/>
          <p:nvPr/>
        </p:nvSpPr>
        <p:spPr>
          <a:xfrm>
            <a:off x="3476692" y="1386756"/>
            <a:ext cx="3116588"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Ingestion &amp; Classification</a:t>
            </a:r>
            <a:br>
              <a:rPr lang="en-IN" dirty="0"/>
            </a:br>
            <a:r>
              <a:rPr lang="en-IN" dirty="0"/>
              <a:t>Identify document type</a:t>
            </a:r>
          </a:p>
        </p:txBody>
      </p:sp>
      <p:sp>
        <p:nvSpPr>
          <p:cNvPr id="11" name="Rectangle 10">
            <a:extLst>
              <a:ext uri="{FF2B5EF4-FFF2-40B4-BE49-F238E27FC236}">
                <a16:creationId xmlns:a16="http://schemas.microsoft.com/office/drawing/2014/main" id="{8014B049-4AE3-419F-73D0-88958C83020E}"/>
              </a:ext>
            </a:extLst>
          </p:cNvPr>
          <p:cNvSpPr/>
          <p:nvPr/>
        </p:nvSpPr>
        <p:spPr>
          <a:xfrm>
            <a:off x="7428323" y="1386756"/>
            <a:ext cx="3116588"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OCR &amp; Information Extraction</a:t>
            </a:r>
            <a:br>
              <a:rPr lang="en-IN" dirty="0"/>
            </a:br>
            <a:r>
              <a:rPr lang="en-IN" dirty="0"/>
              <a:t>Extract structured claim fields</a:t>
            </a:r>
          </a:p>
        </p:txBody>
      </p:sp>
      <p:sp>
        <p:nvSpPr>
          <p:cNvPr id="15" name="Rectangle 14">
            <a:extLst>
              <a:ext uri="{FF2B5EF4-FFF2-40B4-BE49-F238E27FC236}">
                <a16:creationId xmlns:a16="http://schemas.microsoft.com/office/drawing/2014/main" id="{A7F038BF-A0BA-8B17-FC16-F1AF6F66EED2}"/>
              </a:ext>
            </a:extLst>
          </p:cNvPr>
          <p:cNvSpPr/>
          <p:nvPr/>
        </p:nvSpPr>
        <p:spPr>
          <a:xfrm>
            <a:off x="7337133" y="3112586"/>
            <a:ext cx="3298968" cy="11290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Evidence Cross-Verification</a:t>
            </a:r>
            <a:br>
              <a:rPr lang="en-IN" dirty="0"/>
            </a:br>
            <a:r>
              <a:rPr lang="en-IN" dirty="0"/>
              <a:t>Compare information across documents</a:t>
            </a:r>
          </a:p>
        </p:txBody>
      </p:sp>
      <p:sp>
        <p:nvSpPr>
          <p:cNvPr id="21" name="Rectangle 20">
            <a:extLst>
              <a:ext uri="{FF2B5EF4-FFF2-40B4-BE49-F238E27FC236}">
                <a16:creationId xmlns:a16="http://schemas.microsoft.com/office/drawing/2014/main" id="{14BD7628-BA74-BA76-973A-BA061C89E9E3}"/>
              </a:ext>
            </a:extLst>
          </p:cNvPr>
          <p:cNvSpPr/>
          <p:nvPr/>
        </p:nvSpPr>
        <p:spPr>
          <a:xfrm>
            <a:off x="3447186" y="3089855"/>
            <a:ext cx="3298968" cy="112909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Consistency Evaluation</a:t>
            </a:r>
            <a:br>
              <a:rPr lang="en-IN" dirty="0"/>
            </a:br>
            <a:r>
              <a:rPr lang="en-IN" dirty="0"/>
              <a:t>Rules + invariant checks + damage/expense validation</a:t>
            </a:r>
          </a:p>
        </p:txBody>
      </p:sp>
      <p:sp>
        <p:nvSpPr>
          <p:cNvPr id="23" name="Rectangle 22">
            <a:extLst>
              <a:ext uri="{FF2B5EF4-FFF2-40B4-BE49-F238E27FC236}">
                <a16:creationId xmlns:a16="http://schemas.microsoft.com/office/drawing/2014/main" id="{BCF91BDF-68F3-B532-044F-8EEC54156FEC}"/>
              </a:ext>
            </a:extLst>
          </p:cNvPr>
          <p:cNvSpPr/>
          <p:nvPr/>
        </p:nvSpPr>
        <p:spPr>
          <a:xfrm>
            <a:off x="390907" y="3220468"/>
            <a:ext cx="24653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Claim Assessment</a:t>
            </a:r>
            <a:br>
              <a:rPr lang="en-IN" dirty="0"/>
            </a:br>
            <a:r>
              <a:rPr lang="en-IN" b="1" dirty="0"/>
              <a:t>PASS / REVIEW / FLAG</a:t>
            </a:r>
            <a:endParaRPr lang="en-IN" dirty="0"/>
          </a:p>
        </p:txBody>
      </p:sp>
      <p:cxnSp>
        <p:nvCxnSpPr>
          <p:cNvPr id="28" name="Straight Arrow Connector 27">
            <a:extLst>
              <a:ext uri="{FF2B5EF4-FFF2-40B4-BE49-F238E27FC236}">
                <a16:creationId xmlns:a16="http://schemas.microsoft.com/office/drawing/2014/main" id="{F35A9175-EFDD-8F8F-0510-39F7BDF1F274}"/>
              </a:ext>
            </a:extLst>
          </p:cNvPr>
          <p:cNvCxnSpPr>
            <a:stCxn id="7" idx="3"/>
            <a:endCxn id="9" idx="1"/>
          </p:cNvCxnSpPr>
          <p:nvPr/>
        </p:nvCxnSpPr>
        <p:spPr>
          <a:xfrm>
            <a:off x="2856207" y="1843956"/>
            <a:ext cx="62048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D7F17EBC-D07A-F1DA-5C75-08774E9D1A11}"/>
              </a:ext>
            </a:extLst>
          </p:cNvPr>
          <p:cNvCxnSpPr>
            <a:stCxn id="9" idx="3"/>
            <a:endCxn id="11" idx="1"/>
          </p:cNvCxnSpPr>
          <p:nvPr/>
        </p:nvCxnSpPr>
        <p:spPr>
          <a:xfrm>
            <a:off x="6593280" y="1843956"/>
            <a:ext cx="8350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0F164679-BB22-311B-42C7-A96B59E90B60}"/>
              </a:ext>
            </a:extLst>
          </p:cNvPr>
          <p:cNvCxnSpPr>
            <a:cxnSpLocks/>
            <a:stCxn id="11" idx="2"/>
            <a:endCxn id="15" idx="0"/>
          </p:cNvCxnSpPr>
          <p:nvPr/>
        </p:nvCxnSpPr>
        <p:spPr>
          <a:xfrm>
            <a:off x="8986617" y="2301156"/>
            <a:ext cx="0" cy="8114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F4C7CB76-382D-EE2B-B3FF-33C5C6C8691D}"/>
              </a:ext>
            </a:extLst>
          </p:cNvPr>
          <p:cNvCxnSpPr>
            <a:cxnSpLocks/>
            <a:endCxn id="21" idx="3"/>
          </p:cNvCxnSpPr>
          <p:nvPr/>
        </p:nvCxnSpPr>
        <p:spPr>
          <a:xfrm flipH="1">
            <a:off x="6746154" y="3654401"/>
            <a:ext cx="620946"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DC997720-BBB2-F5C2-2EF5-46C6E519D9A3}"/>
              </a:ext>
            </a:extLst>
          </p:cNvPr>
          <p:cNvCxnSpPr>
            <a:cxnSpLocks/>
            <a:stCxn id="21" idx="1"/>
            <a:endCxn id="23" idx="3"/>
          </p:cNvCxnSpPr>
          <p:nvPr/>
        </p:nvCxnSpPr>
        <p:spPr>
          <a:xfrm flipH="1">
            <a:off x="2856207" y="3654402"/>
            <a:ext cx="590979" cy="232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TextBox 45">
            <a:extLst>
              <a:ext uri="{FF2B5EF4-FFF2-40B4-BE49-F238E27FC236}">
                <a16:creationId xmlns:a16="http://schemas.microsoft.com/office/drawing/2014/main" id="{A657E5C6-65E1-5912-7E18-D7AA0C9A3184}"/>
              </a:ext>
            </a:extLst>
          </p:cNvPr>
          <p:cNvSpPr txBox="1"/>
          <p:nvPr/>
        </p:nvSpPr>
        <p:spPr>
          <a:xfrm>
            <a:off x="849192" y="4799950"/>
            <a:ext cx="10166053" cy="923330"/>
          </a:xfrm>
          <a:prstGeom prst="rect">
            <a:avLst/>
          </a:prstGeom>
          <a:noFill/>
        </p:spPr>
        <p:txBody>
          <a:bodyPr wrap="none" rtlCol="0">
            <a:spAutoFit/>
          </a:bodyPr>
          <a:lstStyle/>
          <a:p>
            <a:r>
              <a:rPr lang="en-IN" b="1" dirty="0"/>
              <a:t>Multimodal Documents → Structured Evidence → Cross-Document Validation → Explainable Assessment</a:t>
            </a:r>
            <a:endParaRPr lang="en-IN" dirty="0"/>
          </a:p>
          <a:p>
            <a:r>
              <a:rPr lang="en-IN" b="1" dirty="0"/>
              <a:t>Why this is better</a:t>
            </a:r>
          </a:p>
          <a:p>
            <a:endParaRPr lang="en-IN" dirty="0"/>
          </a:p>
        </p:txBody>
      </p:sp>
    </p:spTree>
    <p:extLst>
      <p:ext uri="{BB962C8B-B14F-4D97-AF65-F5344CB8AC3E}">
        <p14:creationId xmlns:p14="http://schemas.microsoft.com/office/powerpoint/2010/main" val="2034681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EA2B-384E-F256-4734-5578EDB524A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0F88864-2E71-2992-AD53-E8948837272B}"/>
              </a:ext>
            </a:extLst>
          </p:cNvPr>
          <p:cNvSpPr>
            <a:spLocks noGrp="1"/>
          </p:cNvSpPr>
          <p:nvPr>
            <p:ph type="body" sz="quarter" idx="13"/>
          </p:nvPr>
        </p:nvSpPr>
        <p:spPr>
          <a:xfrm>
            <a:off x="255996" y="1271219"/>
            <a:ext cx="11796096" cy="4142989"/>
          </a:xfrm>
        </p:spPr>
        <p:txBody>
          <a:bodyPr/>
          <a:lstStyle/>
          <a:p>
            <a:pPr lvl="0" algn="just"/>
            <a:r>
              <a:rPr lang="en-IN" dirty="0">
                <a:solidFill>
                  <a:schemeClr val="tx1"/>
                </a:solidFill>
                <a:latin typeface="+mn-lt"/>
              </a:rPr>
              <a:t>Document Collection: </a:t>
            </a:r>
            <a:r>
              <a:rPr lang="en-IN" b="0" dirty="0">
                <a:solidFill>
                  <a:schemeClr val="tx1"/>
                </a:solidFill>
                <a:latin typeface="+mn-lt"/>
              </a:rPr>
              <a:t>Claim forms, policy documents, police reports, repair estimates, bills, and supporting images are collected as claim evidence. </a:t>
            </a:r>
          </a:p>
          <a:p>
            <a:pPr lvl="0" algn="just"/>
            <a:r>
              <a:rPr lang="en-IN" dirty="0">
                <a:solidFill>
                  <a:schemeClr val="tx1"/>
                </a:solidFill>
                <a:latin typeface="+mn-lt"/>
              </a:rPr>
              <a:t>Document Processing: </a:t>
            </a:r>
            <a:r>
              <a:rPr lang="en-IN" b="0" dirty="0">
                <a:solidFill>
                  <a:schemeClr val="tx1"/>
                </a:solidFill>
                <a:latin typeface="+mn-lt"/>
              </a:rPr>
              <a:t>PDFs and images are processed through document classification and OCR to make the content machine-readable. </a:t>
            </a:r>
          </a:p>
          <a:p>
            <a:pPr lvl="0" algn="just"/>
            <a:r>
              <a:rPr lang="en-IN" dirty="0">
                <a:solidFill>
                  <a:schemeClr val="tx1"/>
                </a:solidFill>
                <a:latin typeface="+mn-lt"/>
              </a:rPr>
              <a:t>Field Extraction: </a:t>
            </a:r>
            <a:r>
              <a:rPr lang="en-IN" b="0" dirty="0">
                <a:solidFill>
                  <a:schemeClr val="tx1"/>
                </a:solidFill>
                <a:latin typeface="+mn-lt"/>
              </a:rPr>
              <a:t>Relevant fields such as vehicle registration, dates, policy details, expenses, and damage information are extracted into structured schemas. </a:t>
            </a:r>
          </a:p>
          <a:p>
            <a:pPr lvl="0" algn="just"/>
            <a:r>
              <a:rPr lang="en-IN" dirty="0">
                <a:solidFill>
                  <a:schemeClr val="tx1"/>
                </a:solidFill>
                <a:latin typeface="+mn-lt"/>
              </a:rPr>
              <a:t>Data Standardization: </a:t>
            </a:r>
            <a:r>
              <a:rPr lang="en-IN" b="0" dirty="0">
                <a:solidFill>
                  <a:schemeClr val="tx1"/>
                </a:solidFill>
                <a:latin typeface="+mn-lt"/>
              </a:rPr>
              <a:t>Extracted information is organized into consistent claim, policy, evidence, and document structures for downstream validation.</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3411E118-0427-BF72-3B78-1707B0D6E382}"/>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7A5618F6-CE69-311A-F79A-D12C7E917449}"/>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36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A2D6D-7490-34B3-A473-5D6E068F7F7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4783D58-75AF-5137-BDEB-7702832AA4BB}"/>
              </a:ext>
            </a:extLst>
          </p:cNvPr>
          <p:cNvSpPr>
            <a:spLocks noGrp="1"/>
          </p:cNvSpPr>
          <p:nvPr>
            <p:ph type="body" sz="quarter" idx="13"/>
          </p:nvPr>
        </p:nvSpPr>
        <p:spPr>
          <a:xfrm>
            <a:off x="255996" y="1271219"/>
            <a:ext cx="11796096" cy="4142989"/>
          </a:xfrm>
        </p:spPr>
        <p:txBody>
          <a:bodyPr/>
          <a:lstStyle/>
          <a:p>
            <a:pPr lvl="0" algn="just"/>
            <a:r>
              <a:rPr lang="en-IN" dirty="0" err="1">
                <a:solidFill>
                  <a:schemeClr val="tx1"/>
                </a:solidFill>
                <a:latin typeface="+mn-lt"/>
              </a:rPr>
              <a:t>Analyze</a:t>
            </a:r>
            <a:r>
              <a:rPr lang="en-IN" dirty="0">
                <a:solidFill>
                  <a:schemeClr val="tx1"/>
                </a:solidFill>
                <a:latin typeface="+mn-lt"/>
              </a:rPr>
              <a:t> the availability and completeness of extracted fields across claim documents. </a:t>
            </a:r>
          </a:p>
          <a:p>
            <a:pPr lvl="0" algn="just"/>
            <a:r>
              <a:rPr lang="en-IN" dirty="0">
                <a:solidFill>
                  <a:schemeClr val="tx1"/>
                </a:solidFill>
                <a:latin typeface="+mn-lt"/>
              </a:rPr>
              <a:t>Compare corresponding fields across documents to identify missing, conflicting, or inconsistent values. </a:t>
            </a:r>
          </a:p>
          <a:p>
            <a:pPr lvl="0" algn="just"/>
            <a:r>
              <a:rPr lang="en-IN" dirty="0">
                <a:solidFill>
                  <a:schemeClr val="tx1"/>
                </a:solidFill>
                <a:latin typeface="+mn-lt"/>
              </a:rPr>
              <a:t>Examine claim evidence by categories such as vehicle details, dates, policy information, expenses, and damage.</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A2229252-8335-6288-E30A-74F0ABCE2111}"/>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Data preprocessing &amp; EDA</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C442DD51-E7FD-1975-1B27-4FB27D5E0593}"/>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338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675-E694-7663-D55C-2461C40B8B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E433592-8155-CD6F-B5E3-78AB52F31DE6}"/>
              </a:ext>
            </a:extLst>
          </p:cNvPr>
          <p:cNvSpPr>
            <a:spLocks noGrp="1"/>
          </p:cNvSpPr>
          <p:nvPr>
            <p:ph type="body" sz="quarter" idx="13"/>
          </p:nvPr>
        </p:nvSpPr>
        <p:spPr>
          <a:xfrm>
            <a:off x="588113" y="1486673"/>
            <a:ext cx="11359047" cy="4494390"/>
          </a:xfrm>
        </p:spPr>
        <p:txBody>
          <a:bodyPr/>
          <a:lstStyle/>
          <a:p>
            <a:pPr marL="0" indent="0">
              <a:buNone/>
            </a:pPr>
            <a:r>
              <a:rPr lang="en-IN" sz="2400" dirty="0"/>
              <a:t>Documents → OCR &amp; Extraction → Structured Data → Rule-Based Validation → Claim Assessment</a:t>
            </a:r>
            <a:endParaRPr lang="en-US" sz="2400" b="0" dirty="0">
              <a:solidFill>
                <a:srgbClr val="5583D1"/>
              </a:solidFill>
            </a:endParaRPr>
          </a:p>
        </p:txBody>
      </p:sp>
      <p:sp>
        <p:nvSpPr>
          <p:cNvPr id="3" name="TextBox 2">
            <a:extLst>
              <a:ext uri="{FF2B5EF4-FFF2-40B4-BE49-F238E27FC236}">
                <a16:creationId xmlns:a16="http://schemas.microsoft.com/office/drawing/2014/main" id="{3D243BDD-B44E-04F0-FA93-336DD2FFA770}"/>
              </a:ext>
            </a:extLst>
          </p:cNvPr>
          <p:cNvSpPr txBox="1"/>
          <p:nvPr/>
        </p:nvSpPr>
        <p:spPr>
          <a:xfrm>
            <a:off x="255996" y="502545"/>
            <a:ext cx="10624338" cy="646331"/>
          </a:xfrm>
          <a:prstGeom prst="rect">
            <a:avLst/>
          </a:prstGeom>
          <a:noFill/>
        </p:spPr>
        <p:txBody>
          <a:bodyPr wrap="square" rtlCol="0">
            <a:spAutoFit/>
          </a:bodyPr>
          <a:lstStyle/>
          <a:p>
            <a:pPr lvl="0">
              <a:defRPr/>
            </a:pPr>
            <a:r>
              <a:rPr lang="en-US" sz="3600" b="1" dirty="0">
                <a:solidFill>
                  <a:srgbClr val="5B9BD5">
                    <a:lumMod val="50000"/>
                  </a:srgbClr>
                </a:solidFill>
              </a:rPr>
              <a:t>Approach/Algorithms/Tools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4963133-FFA1-7CF4-9FAD-E6A120EF4238}"/>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72FCA0C9-C739-E930-6848-5FAC5251B9AD}"/>
              </a:ext>
            </a:extLst>
          </p:cNvPr>
          <p:cNvGraphicFramePr>
            <a:graphicFrameLocks noGrp="1"/>
          </p:cNvGraphicFramePr>
          <p:nvPr>
            <p:extLst>
              <p:ext uri="{D42A27DB-BD31-4B8C-83A1-F6EECF244321}">
                <p14:modId xmlns:p14="http://schemas.microsoft.com/office/powerpoint/2010/main" val="1095245293"/>
              </p:ext>
            </p:extLst>
          </p:nvPr>
        </p:nvGraphicFramePr>
        <p:xfrm>
          <a:off x="707843" y="1443792"/>
          <a:ext cx="10896043" cy="3924319"/>
        </p:xfrm>
        <a:graphic>
          <a:graphicData uri="http://schemas.openxmlformats.org/drawingml/2006/table">
            <a:tbl>
              <a:tblPr>
                <a:tableStyleId>{073A0DAA-6AF3-43AB-8588-CEC1D06C72B9}</a:tableStyleId>
              </a:tblPr>
              <a:tblGrid>
                <a:gridCol w="4321734">
                  <a:extLst>
                    <a:ext uri="{9D8B030D-6E8A-4147-A177-3AD203B41FA5}">
                      <a16:colId xmlns:a16="http://schemas.microsoft.com/office/drawing/2014/main" val="1130103405"/>
                    </a:ext>
                  </a:extLst>
                </a:gridCol>
                <a:gridCol w="6574309">
                  <a:extLst>
                    <a:ext uri="{9D8B030D-6E8A-4147-A177-3AD203B41FA5}">
                      <a16:colId xmlns:a16="http://schemas.microsoft.com/office/drawing/2014/main" val="3300137769"/>
                    </a:ext>
                  </a:extLst>
                </a:gridCol>
              </a:tblGrid>
              <a:tr h="397535">
                <a:tc>
                  <a:txBody>
                    <a:bodyPr/>
                    <a:lstStyle/>
                    <a:p>
                      <a:pPr>
                        <a:buNone/>
                      </a:pPr>
                      <a:r>
                        <a:rPr lang="en-IN" b="1" dirty="0"/>
                        <a:t>Approach / Tool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b="1" dirty="0"/>
                        <a:t>Role in </a:t>
                      </a:r>
                      <a:r>
                        <a:rPr lang="en-IN" b="1" dirty="0" err="1"/>
                        <a:t>ClaimGuard</a:t>
                      </a:r>
                      <a:r>
                        <a:rPr lang="en-IN" b="1" dirty="0"/>
                        <a:t>-MCP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5407440"/>
                  </a:ext>
                </a:extLst>
              </a:tr>
              <a:tr h="397535">
                <a:tc>
                  <a:txBody>
                    <a:bodyPr/>
                    <a:lstStyle/>
                    <a:p>
                      <a:pPr>
                        <a:buNone/>
                      </a:pPr>
                      <a:r>
                        <a:rPr lang="en-IN" dirty="0" err="1"/>
                        <a:t>PyMuPDF</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PDF text and document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1689443"/>
                  </a:ext>
                </a:extLst>
              </a:tr>
              <a:tr h="397535">
                <a:tc>
                  <a:txBody>
                    <a:bodyPr/>
                    <a:lstStyle/>
                    <a:p>
                      <a:pPr>
                        <a:buNone/>
                      </a:pPr>
                      <a:r>
                        <a:rPr lang="en-IN" dirty="0" err="1"/>
                        <a:t>Pytesseract</a:t>
                      </a:r>
                      <a:r>
                        <a:rPr lang="en-IN" dirty="0"/>
                        <a:t> (OCR)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Extract text from scanned/image documents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1262859"/>
                  </a:ext>
                </a:extLst>
              </a:tr>
              <a:tr h="397535">
                <a:tc>
                  <a:txBody>
                    <a:bodyPr/>
                    <a:lstStyle/>
                    <a:p>
                      <a:pPr>
                        <a:buNone/>
                      </a:pPr>
                      <a:r>
                        <a:rPr lang="en-IN" dirty="0" err="1"/>
                        <a:t>Pydantic</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Structured data models and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3112515"/>
                  </a:ext>
                </a:extLst>
              </a:tr>
              <a:tr h="397535">
                <a:tc>
                  <a:txBody>
                    <a:bodyPr/>
                    <a:lstStyle/>
                    <a:p>
                      <a:pPr>
                        <a:buNone/>
                      </a:pPr>
                      <a:r>
                        <a:rPr lang="en-IN" dirty="0" err="1"/>
                        <a:t>DuckDB</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Store and query structured claim/evidence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0884146"/>
                  </a:ext>
                </a:extLst>
              </a:tr>
              <a:tr h="450979">
                <a:tc>
                  <a:txBody>
                    <a:bodyPr/>
                    <a:lstStyle/>
                    <a:p>
                      <a:pPr>
                        <a:buNone/>
                      </a:pPr>
                      <a:r>
                        <a:rPr lang="en-IN" dirty="0"/>
                        <a:t>Rule-Based Consistency Checks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Validate policy, vehicle, date, expense and damage information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3740347"/>
                  </a:ext>
                </a:extLst>
              </a:tr>
              <a:tr h="397535">
                <a:tc>
                  <a:txBody>
                    <a:bodyPr/>
                    <a:lstStyle/>
                    <a:p>
                      <a:pPr>
                        <a:buNone/>
                      </a:pPr>
                      <a:r>
                        <a:rPr lang="en-IN" dirty="0" err="1"/>
                        <a:t>FastMCP</a:t>
                      </a:r>
                      <a:r>
                        <a:rPr lang="en-IN" dirty="0"/>
                        <a:t> + </a:t>
                      </a:r>
                      <a:r>
                        <a:rPr lang="en-IN" dirty="0" err="1"/>
                        <a:t>FastAPI</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Expose claim-processing services and APIs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722275"/>
                  </a:ext>
                </a:extLst>
              </a:tr>
              <a:tr h="397535">
                <a:tc>
                  <a:txBody>
                    <a:bodyPr/>
                    <a:lstStyle/>
                    <a:p>
                      <a:pPr>
                        <a:buNone/>
                      </a:pPr>
                      <a:r>
                        <a:rPr lang="en-IN" dirty="0" err="1"/>
                        <a:t>Streamlit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Interactive claim assessment interface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8329046"/>
                  </a:ext>
                </a:extLst>
              </a:tr>
              <a:tr h="690595">
                <a:tc>
                  <a:txBody>
                    <a:bodyPr/>
                    <a:lstStyle/>
                    <a:p>
                      <a:pPr>
                        <a:buNone/>
                      </a:pPr>
                      <a:r>
                        <a:rPr lang="en-IN" dirty="0" err="1"/>
                        <a:t>Pytest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Unit, integration and realistic claim-package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231832"/>
                  </a:ext>
                </a:extLst>
              </a:tr>
            </a:tbl>
          </a:graphicData>
        </a:graphic>
      </p:graphicFrame>
      <p:sp>
        <p:nvSpPr>
          <p:cNvPr id="7" name="TextBox 6">
            <a:extLst>
              <a:ext uri="{FF2B5EF4-FFF2-40B4-BE49-F238E27FC236}">
                <a16:creationId xmlns:a16="http://schemas.microsoft.com/office/drawing/2014/main" id="{BC08B7D6-3EF8-A2FF-7236-633236CDC84D}"/>
              </a:ext>
            </a:extLst>
          </p:cNvPr>
          <p:cNvSpPr txBox="1"/>
          <p:nvPr/>
        </p:nvSpPr>
        <p:spPr>
          <a:xfrm>
            <a:off x="1492119" y="5654612"/>
            <a:ext cx="9327490" cy="369332"/>
          </a:xfrm>
          <a:prstGeom prst="rect">
            <a:avLst/>
          </a:prstGeom>
          <a:noFill/>
        </p:spPr>
        <p:txBody>
          <a:bodyPr wrap="none" rtlCol="0">
            <a:spAutoFit/>
          </a:bodyPr>
          <a:lstStyle/>
          <a:p>
            <a:r>
              <a:rPr lang="en-IN"/>
              <a:t>Documents → OCR &amp; Extraction → Structured Data → Rule-Based Validation → Claim Assessment</a:t>
            </a:r>
            <a:endParaRPr lang="en-US" dirty="0">
              <a:solidFill>
                <a:srgbClr val="5583D1"/>
              </a:solidFill>
            </a:endParaRPr>
          </a:p>
        </p:txBody>
      </p:sp>
    </p:spTree>
    <p:extLst>
      <p:ext uri="{BB962C8B-B14F-4D97-AF65-F5344CB8AC3E}">
        <p14:creationId xmlns:p14="http://schemas.microsoft.com/office/powerpoint/2010/main" val="107944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9A058-E477-163A-1B3E-61A05B0F38B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A69BAD7-4402-029D-94EE-84728E7A1B97}"/>
              </a:ext>
            </a:extLst>
          </p:cNvPr>
          <p:cNvSpPr>
            <a:spLocks noGrp="1"/>
          </p:cNvSpPr>
          <p:nvPr>
            <p:ph type="body" sz="quarter" idx="13"/>
          </p:nvPr>
        </p:nvSpPr>
        <p:spPr>
          <a:xfrm>
            <a:off x="255996" y="1271219"/>
            <a:ext cx="10624338" cy="5084236"/>
          </a:xfrm>
        </p:spPr>
        <p:txBody>
          <a:bodyPr/>
          <a:lstStyle/>
          <a:p>
            <a:pPr marL="0" indent="0" algn="just">
              <a:buNone/>
            </a:pPr>
            <a:r>
              <a:rPr lang="en-IN" dirty="0">
                <a:solidFill>
                  <a:schemeClr val="tx1"/>
                </a:solidFill>
                <a:latin typeface="+mn-lt"/>
              </a:rPr>
              <a:t>Review I — Completed</a:t>
            </a:r>
          </a:p>
          <a:p>
            <a:pPr lvl="0" algn="just"/>
            <a:r>
              <a:rPr lang="en-IN" dirty="0">
                <a:solidFill>
                  <a:schemeClr val="tx1"/>
                </a:solidFill>
                <a:latin typeface="+mn-lt"/>
              </a:rPr>
              <a:t>Architecture &amp; database design </a:t>
            </a:r>
          </a:p>
          <a:p>
            <a:pPr lvl="0" algn="just"/>
            <a:r>
              <a:rPr lang="en-IN" dirty="0">
                <a:solidFill>
                  <a:schemeClr val="tx1"/>
                </a:solidFill>
                <a:latin typeface="+mn-lt"/>
              </a:rPr>
              <a:t>Document ingestion &amp; OCR </a:t>
            </a:r>
          </a:p>
          <a:p>
            <a:pPr lvl="0" algn="just"/>
            <a:r>
              <a:rPr lang="en-IN" dirty="0">
                <a:solidFill>
                  <a:schemeClr val="tx1"/>
                </a:solidFill>
                <a:latin typeface="+mn-lt"/>
              </a:rPr>
              <a:t>Initial extraction pipeline</a:t>
            </a:r>
          </a:p>
          <a:p>
            <a:pPr lvl="0" algn="just"/>
            <a:endParaRPr lang="en-US" sz="2400" b="0" dirty="0">
              <a:solidFill>
                <a:srgbClr val="5583D1"/>
              </a:solidFill>
            </a:endParaRPr>
          </a:p>
          <a:p>
            <a:pPr marL="0" indent="0">
              <a:buNone/>
            </a:pPr>
            <a:r>
              <a:rPr lang="en-IN" dirty="0">
                <a:solidFill>
                  <a:schemeClr val="tx1"/>
                </a:solidFill>
              </a:rPr>
              <a:t>Review II — Completed</a:t>
            </a:r>
          </a:p>
          <a:p>
            <a:pPr lvl="0"/>
            <a:r>
              <a:rPr lang="en-IN" dirty="0">
                <a:solidFill>
                  <a:schemeClr val="tx1"/>
                </a:solidFill>
              </a:rPr>
              <a:t>Claim validation modules </a:t>
            </a:r>
          </a:p>
          <a:p>
            <a:pPr lvl="0"/>
            <a:r>
              <a:rPr lang="en-IN" dirty="0">
                <a:solidFill>
                  <a:schemeClr val="tx1"/>
                </a:solidFill>
              </a:rPr>
              <a:t>End-to-end evaluation pipeline </a:t>
            </a:r>
          </a:p>
          <a:p>
            <a:pPr lvl="0"/>
            <a:r>
              <a:rPr lang="en-IN" dirty="0">
                <a:solidFill>
                  <a:schemeClr val="tx1"/>
                </a:solidFill>
              </a:rPr>
              <a:t>MCP integration </a:t>
            </a:r>
          </a:p>
          <a:p>
            <a:pPr lvl="0"/>
            <a:r>
              <a:rPr lang="en-IN" dirty="0">
                <a:solidFill>
                  <a:schemeClr val="tx1"/>
                </a:solidFill>
              </a:rPr>
              <a:t>Unit &amp; integration testing</a:t>
            </a:r>
          </a:p>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E8F67352-6E77-1E87-24B7-ED7906E0679C}"/>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Project plan/</a:t>
            </a:r>
            <a:r>
              <a:rPr lang="fr-FR" sz="3600" b="1" dirty="0" err="1">
                <a:solidFill>
                  <a:srgbClr val="5B9BD5">
                    <a:lumMod val="50000"/>
                  </a:srgbClr>
                </a:solidFill>
              </a:rPr>
              <a:t>milestones</a:t>
            </a:r>
            <a:r>
              <a:rPr lang="fr-FR" sz="3600" b="1" dirty="0">
                <a:solidFill>
                  <a:srgbClr val="5B9BD5">
                    <a:lumMod val="50000"/>
                  </a:srgbClr>
                </a:solidFill>
              </a:rPr>
              <a:t> </a:t>
            </a:r>
            <a:r>
              <a:rPr lang="fr-FR" sz="3600" b="1" dirty="0" err="1">
                <a:solidFill>
                  <a:srgbClr val="5B9BD5">
                    <a:lumMod val="50000"/>
                  </a:srgbClr>
                </a:solidFill>
              </a:rPr>
              <a:t>progress</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564F4198-C244-16A7-B796-A2E4B5EA6A81}"/>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109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5BBC5-46B5-0DF4-A2AC-5289D295735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7872131-A6C0-4ECF-9994-EA002B6EAD86}"/>
              </a:ext>
            </a:extLst>
          </p:cNvPr>
          <p:cNvSpPr>
            <a:spLocks noGrp="1"/>
          </p:cNvSpPr>
          <p:nvPr>
            <p:ph type="body" sz="quarter" idx="13"/>
          </p:nvPr>
        </p:nvSpPr>
        <p:spPr>
          <a:xfrm>
            <a:off x="255996" y="1271219"/>
            <a:ext cx="10624338" cy="4142989"/>
          </a:xfrm>
        </p:spPr>
        <p:txBody>
          <a:bodyPr/>
          <a:lstStyle/>
          <a:p>
            <a:pPr marL="0" indent="0">
              <a:lnSpc>
                <a:spcPct val="150000"/>
              </a:lnSpc>
              <a:buNone/>
            </a:pPr>
            <a:endParaRPr lang="en-US" sz="2400" b="0" dirty="0">
              <a:solidFill>
                <a:srgbClr val="5583D1"/>
              </a:solidFill>
            </a:endParaRPr>
          </a:p>
        </p:txBody>
      </p:sp>
      <p:sp>
        <p:nvSpPr>
          <p:cNvPr id="3" name="TextBox 2">
            <a:extLst>
              <a:ext uri="{FF2B5EF4-FFF2-40B4-BE49-F238E27FC236}">
                <a16:creationId xmlns:a16="http://schemas.microsoft.com/office/drawing/2014/main" id="{DBEA9949-295E-B2C7-8E3A-639B0AD48F51}"/>
              </a:ext>
            </a:extLst>
          </p:cNvPr>
          <p:cNvSpPr txBox="1"/>
          <p:nvPr/>
        </p:nvSpPr>
        <p:spPr>
          <a:xfrm>
            <a:off x="255996" y="502545"/>
            <a:ext cx="10624338" cy="646331"/>
          </a:xfrm>
          <a:prstGeom prst="rect">
            <a:avLst/>
          </a:prstGeom>
          <a:noFill/>
        </p:spPr>
        <p:txBody>
          <a:bodyPr wrap="square" rtlCol="0">
            <a:spAutoFit/>
          </a:bodyPr>
          <a:lstStyle/>
          <a:p>
            <a:pPr lvl="0">
              <a:defRPr/>
            </a:pPr>
            <a:r>
              <a:rPr lang="fr-FR" sz="3600" b="1" dirty="0">
                <a:solidFill>
                  <a:srgbClr val="5B9BD5">
                    <a:lumMod val="50000"/>
                  </a:srgbClr>
                </a:solidFill>
              </a:rPr>
              <a:t>Pipeline structure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1C3477A6-BED1-8211-5527-9030F1E86940}"/>
              </a:ext>
            </a:extLst>
          </p:cNvPr>
          <p:cNvCxnSpPr>
            <a:cxnSpLocks/>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44F0248-7433-403E-D330-5ECD686A5C12}"/>
              </a:ext>
            </a:extLst>
          </p:cNvPr>
          <p:cNvPicPr>
            <a:picLocks noChangeAspect="1"/>
          </p:cNvPicPr>
          <p:nvPr/>
        </p:nvPicPr>
        <p:blipFill>
          <a:blip r:embed="rId2"/>
          <a:stretch>
            <a:fillRect/>
          </a:stretch>
        </p:blipFill>
        <p:spPr>
          <a:xfrm>
            <a:off x="666868" y="2038156"/>
            <a:ext cx="9802593" cy="2781688"/>
          </a:xfrm>
          <a:prstGeom prst="rect">
            <a:avLst/>
          </a:prstGeom>
        </p:spPr>
      </p:pic>
    </p:spTree>
    <p:extLst>
      <p:ext uri="{BB962C8B-B14F-4D97-AF65-F5344CB8AC3E}">
        <p14:creationId xmlns:p14="http://schemas.microsoft.com/office/powerpoint/2010/main" val="2198371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333</TotalTime>
  <Words>709</Words>
  <Application>Microsoft Office PowerPoint</Application>
  <PresentationFormat>Widescreen</PresentationFormat>
  <Paragraphs>89</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(Body)</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Kishan Patel</cp:lastModifiedBy>
  <cp:revision>14</cp:revision>
  <dcterms:created xsi:type="dcterms:W3CDTF">2024-05-13T10:33:11Z</dcterms:created>
  <dcterms:modified xsi:type="dcterms:W3CDTF">2026-09-29T14:21:27Z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