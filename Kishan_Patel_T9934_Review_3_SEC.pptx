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470489" r:id="rId2"/>
    <p:sldId id="2147470492" r:id="rId3"/>
    <p:sldId id="2147470494" r:id="rId4"/>
    <p:sldId id="2147470493" r:id="rId5"/>
    <p:sldId id="2147470487" r:id="rId6"/>
    <p:sldId id="2147470506" r:id="rId7"/>
    <p:sldId id="2147470505" r:id="rId8"/>
    <p:sldId id="2147470498" r:id="rId9"/>
    <p:sldId id="2147470497" r:id="rId10"/>
    <p:sldId id="2147470507" r:id="rId11"/>
    <p:sldId id="2147470509" r:id="rId12"/>
    <p:sldId id="2147470499" r:id="rId13"/>
    <p:sldId id="2147470508" r:id="rId14"/>
    <p:sldId id="214747050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BBDA"/>
    <a:srgbClr val="FFFFFF"/>
    <a:srgbClr val="25B9ED"/>
    <a:srgbClr val="47BDAE"/>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r>
              <a:rPr lang="en-IN" sz="1500" b="1">
                <a:solidFill>
                  <a:srgbClr val="1F4E79"/>
                </a:solidFill>
                <a:latin typeface="Calibri"/>
              </a:rPr>
              <a:t>Accuracy on 7 queries (%)</a:t>
            </a:r>
          </a:p>
        </c:rich>
      </c:tx>
      <c:overlay val="0"/>
    </c:title>
    <c:autoTitleDeleted val="0"/>
    <c:plotArea>
      <c:layout/>
      <c:barChart>
        <c:barDir val="col"/>
        <c:grouping val="clustered"/>
        <c:varyColors val="1"/>
        <c:ser>
          <c:idx val="0"/>
          <c:order val="0"/>
          <c:tx>
            <c:strRef>
              <c:f>Sheet1!$B$1</c:f>
              <c:strCache>
                <c:ptCount val="1"/>
                <c:pt idx="0">
                  <c:v>Accuracy</c:v>
                </c:pt>
              </c:strCache>
            </c:strRef>
          </c:tx>
          <c:invertIfNegative val="1"/>
          <c:dPt>
            <c:idx val="0"/>
            <c:invertIfNegative val="1"/>
            <c:bubble3D val="0"/>
            <c:spPr>
              <a:solidFill>
                <a:srgbClr val="70AD47"/>
              </a:solidFill>
            </c:spPr>
            <c:extLst>
              <c:ext xmlns:c16="http://schemas.microsoft.com/office/drawing/2014/chart" uri="{C3380CC4-5D6E-409C-BE32-E72D297353CC}">
                <c16:uniqueId val="{00000001-4ECC-41EE-AEF7-6C32D554252B}"/>
              </c:ext>
            </c:extLst>
          </c:dPt>
          <c:dPt>
            <c:idx val="1"/>
            <c:invertIfNegative val="1"/>
            <c:bubble3D val="0"/>
            <c:spPr>
              <a:solidFill>
                <a:srgbClr val="C0392B"/>
              </a:solidFill>
            </c:spPr>
            <c:extLst>
              <c:ext xmlns:c16="http://schemas.microsoft.com/office/drawing/2014/chart" uri="{C3380CC4-5D6E-409C-BE32-E72D297353CC}">
                <c16:uniqueId val="{00000003-4ECC-41EE-AEF7-6C32D554252B}"/>
              </c:ext>
            </c:extLst>
          </c:dPt>
          <c:dLbls>
            <c:numFmt formatCode="0&quot;%&quot;" sourceLinked="0"/>
            <c:spPr>
              <a:noFill/>
              <a:ln>
                <a:noFill/>
              </a:ln>
              <a:effectLst/>
            </c:spPr>
            <c:txPr>
              <a:bodyPr/>
              <a:lstStyle/>
              <a:p>
                <a:pPr>
                  <a:defRPr sz="1600" b="1">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DuckDB (SQL)</c:v>
                </c:pt>
                <c:pt idx="1">
                  <c:v>Naive RAG</c:v>
                </c:pt>
              </c:strCache>
            </c:strRef>
          </c:cat>
          <c:val>
            <c:numRef>
              <c:f>Sheet1!$B$2:$B$3</c:f>
              <c:numCache>
                <c:formatCode>General</c:formatCode>
                <c:ptCount val="2"/>
                <c:pt idx="0">
                  <c:v>100</c:v>
                </c:pt>
                <c:pt idx="1">
                  <c:v>0</c:v>
                </c:pt>
              </c:numCache>
            </c:numRef>
          </c:val>
          <c:extLst>
            <c:ext xmlns:c16="http://schemas.microsoft.com/office/drawing/2014/chart" uri="{C3380CC4-5D6E-409C-BE32-E72D297353CC}">
              <c16:uniqueId val="{00000004-4ECC-41EE-AEF7-6C32D554252B}"/>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808080"/>
            </a:solidFill>
          </a:ln>
        </c:spPr>
        <c:txPr>
          <a:bodyPr/>
          <a:lstStyle/>
          <a:p>
            <a:pPr>
              <a:defRPr sz="1400">
                <a:latin typeface="Calibri"/>
              </a:defRPr>
            </a:pPr>
            <a:endParaRPr lang="en-US"/>
          </a:p>
        </c:txPr>
        <c:crossAx val="-2113994440"/>
        <c:crosses val="autoZero"/>
        <c:auto val="1"/>
        <c:lblAlgn val="ctr"/>
        <c:lblOffset val="100"/>
        <c:noMultiLvlLbl val="0"/>
      </c:catAx>
      <c:valAx>
        <c:axId val="-2113994440"/>
        <c:scaling>
          <c:orientation val="minMax"/>
          <c:max val="115"/>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microsoft.com/office/2007/relationships/hdphoto" Target="../media/hdphoto3.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M.Tech/MCA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6" y="1659822"/>
            <a:ext cx="11428184" cy="553997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Review III</a:t>
            </a:r>
          </a:p>
          <a:p>
            <a:pPr algn="ctr"/>
            <a:r>
              <a:rPr lang="en-IN" sz="3600" b="1" dirty="0">
                <a:solidFill>
                  <a:schemeClr val="bg1"/>
                </a:solidFill>
              </a:rPr>
              <a:t>SEC EDGAR Forensic Audit System</a:t>
            </a:r>
          </a:p>
          <a:p>
            <a:pPr algn="ctr"/>
            <a:r>
              <a:rPr lang="en-IN" sz="3600" dirty="0">
                <a:solidFill>
                  <a:schemeClr val="bg1"/>
                </a:solidFill>
              </a:rPr>
              <a:t>A Dual-Pipeline Architecture for Zero-Hallucination Financial Auditing</a:t>
            </a:r>
          </a:p>
          <a:p>
            <a:pPr algn="ct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Team Member</a:t>
            </a:r>
          </a:p>
          <a:p>
            <a:pPr algn="ctr">
              <a:defRPr/>
            </a:pPr>
            <a:r>
              <a:rPr lang="en-US" sz="2400" b="1" dirty="0">
                <a:solidFill>
                  <a:prstClr val="white"/>
                </a:solidFill>
                <a:cs typeface="Calibri" panose="020F0502020204030204" pitchFamily="34" charset="0"/>
              </a:rPr>
              <a:t>Kishan Patel</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extLst>
              <p:ext uri="{D42A27DB-BD31-4B8C-83A1-F6EECF244321}">
                <p14:modId xmlns:p14="http://schemas.microsoft.com/office/powerpoint/2010/main" val="2604953026"/>
              </p:ext>
            </p:extLst>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9" name="Picture 2" descr="LTIMindtree - Technology Consulting and Digital Solutions Company">
            <a:extLst>
              <a:ext uri="{FF2B5EF4-FFF2-40B4-BE49-F238E27FC236}">
                <a16:creationId xmlns:a16="http://schemas.microsoft.com/office/drawing/2014/main" id="{B3D78849-E5F7-1DB2-227F-14244586123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50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8589364" y="57036"/>
            <a:ext cx="3602636" cy="369332"/>
          </a:xfrm>
          <a:prstGeom prst="rect">
            <a:avLst/>
          </a:prstGeom>
          <a:noFill/>
        </p:spPr>
        <p:txBody>
          <a:bodyPr wrap="square" rtlCol="0">
            <a:spAutoFit/>
          </a:bodyPr>
          <a:lstStyle/>
          <a:p>
            <a:pPr algn="ctr"/>
            <a:r>
              <a:rPr lang="en-IN" b="1" dirty="0">
                <a:solidFill>
                  <a:schemeClr val="bg1"/>
                </a:solidFill>
              </a:rPr>
              <a:t>SEC EDGAR Forensic Audit System</a:t>
            </a:r>
          </a:p>
        </p:txBody>
      </p:sp>
      <p:sp>
        <p:nvSpPr>
          <p:cNvPr id="8" name="Rectangle 3">
            <a:extLst>
              <a:ext uri="{FF2B5EF4-FFF2-40B4-BE49-F238E27FC236}">
                <a16:creationId xmlns:a16="http://schemas.microsoft.com/office/drawing/2014/main" id="{933C432A-B355-D871-A071-7FA9BCDB46A3}"/>
              </a:ext>
            </a:extLst>
          </p:cNvPr>
          <p:cNvSpPr>
            <a:spLocks noGrp="1" noChangeArrowheads="1"/>
          </p:cNvSpPr>
          <p:nvPr>
            <p:ph type="body" sz="quarter" idx="13"/>
          </p:nvPr>
        </p:nvSpPr>
        <p:spPr bwMode="auto">
          <a:xfrm>
            <a:off x="256032" y="1325880"/>
            <a:ext cx="11155680" cy="4480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Autofit/>
          </a:bodyPr>
          <a:lstStyle/>
          <a:p>
            <a:pPr marL="285750" indent="-285750" algn="l" eaLnBrk="0" fontAlgn="base" hangingPunct="0">
              <a:lnSpc>
                <a:spcPct val="108000"/>
              </a:lnSpc>
              <a:spcBef>
                <a:spcPts val="0"/>
              </a:spcBef>
              <a:spcAft>
                <a:spcPts val="1000"/>
              </a:spcAft>
              <a:buFont typeface="Arial"/>
              <a:buChar char="•"/>
            </a:pPr>
            <a:r>
              <a:rPr sz="2050" b="0">
                <a:solidFill>
                  <a:srgbClr val="202020"/>
                </a:solidFill>
                <a:latin typeface="Calibri"/>
              </a:rPr>
              <a:t>The SEC Forensic Audit System is an AI-based tool that helps analysts and auditors check whether the numbers and statements in a company's 10-K and 10-Q reports are accurate and consistent.</a:t>
            </a:r>
          </a:p>
          <a:p>
            <a:pPr marL="285750" indent="-285750" algn="l">
              <a:lnSpc>
                <a:spcPct val="108000"/>
              </a:lnSpc>
              <a:spcBef>
                <a:spcPts val="0"/>
              </a:spcBef>
              <a:spcAft>
                <a:spcPts val="1000"/>
              </a:spcAft>
              <a:buFont typeface="Arial"/>
              <a:buChar char="•"/>
            </a:pPr>
            <a:r>
              <a:rPr sz="2050" b="0">
                <a:solidFill>
                  <a:srgbClr val="202020"/>
                </a:solidFill>
                <a:latin typeface="Calibri"/>
              </a:rPr>
              <a:t>It pulls exact figures from the official SEC XBRL data into a database, so numeric questions are answered by a direct SQL lookup and not guessed by an AI from tables.</a:t>
            </a:r>
          </a:p>
          <a:p>
            <a:pPr marL="285750" indent="-285750" algn="l">
              <a:lnSpc>
                <a:spcPct val="108000"/>
              </a:lnSpc>
              <a:spcBef>
                <a:spcPts val="0"/>
              </a:spcBef>
              <a:spcAft>
                <a:spcPts val="1000"/>
              </a:spcAft>
              <a:buFont typeface="Arial"/>
              <a:buChar char="•"/>
            </a:pPr>
            <a:r>
              <a:rPr sz="2050" b="0">
                <a:solidFill>
                  <a:srgbClr val="202020"/>
                </a:solidFill>
                <a:latin typeface="Calibri"/>
              </a:rPr>
              <a:t>It splits each report into its standard sections (risk factors, MD&amp;A, footnotes) and searches them with a mix of meaning-based and keyword-based retrieval.</a:t>
            </a:r>
          </a:p>
          <a:p>
            <a:pPr marL="285750" indent="-285750" algn="l">
              <a:lnSpc>
                <a:spcPct val="108000"/>
              </a:lnSpc>
              <a:spcBef>
                <a:spcPts val="0"/>
              </a:spcBef>
              <a:spcAft>
                <a:spcPts val="1000"/>
              </a:spcAft>
              <a:buFont typeface="Arial"/>
              <a:buChar char="•"/>
            </a:pPr>
            <a:r>
              <a:rPr sz="2050" b="0">
                <a:solidFill>
                  <a:srgbClr val="202020"/>
                </a:solidFill>
                <a:latin typeface="Calibri"/>
              </a:rPr>
              <a:t>It compares figures across filings to detect restatements.</a:t>
            </a:r>
          </a:p>
          <a:p>
            <a:pPr marL="285750" indent="-285750" algn="l">
              <a:lnSpc>
                <a:spcPct val="108000"/>
              </a:lnSpc>
              <a:spcBef>
                <a:spcPts val="0"/>
              </a:spcBef>
              <a:spcAft>
                <a:spcPts val="1000"/>
              </a:spcAft>
              <a:buFont typeface="Arial"/>
              <a:buChar char="•"/>
            </a:pPr>
            <a:r>
              <a:rPr sz="2050" b="0">
                <a:solidFill>
                  <a:srgbClr val="202020"/>
                </a:solidFill>
                <a:latin typeface="Calibri"/>
              </a:rPr>
              <a:t>An LLM then cross-checks management's claims against the footnote disclosures and gives a result of contradiction, qualification or none, with a source citation.</a:t>
            </a:r>
          </a:p>
          <a:p>
            <a:pPr marL="285750" indent="-285750" algn="l">
              <a:lnSpc>
                <a:spcPct val="108000"/>
              </a:lnSpc>
              <a:spcBef>
                <a:spcPts val="0"/>
              </a:spcBef>
              <a:spcAft>
                <a:spcPts val="1000"/>
              </a:spcAft>
              <a:buFont typeface="Arial"/>
              <a:buChar char="•"/>
            </a:pPr>
            <a:r>
              <a:rPr sz="2050" b="0">
                <a:solidFill>
                  <a:srgbClr val="202020"/>
                </a:solidFill>
                <a:latin typeface="Calibri"/>
              </a:rPr>
              <a:t>Analysts can find hidden risks much faster than reading hundreds of pages.</a:t>
            </a:r>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25C8EF-A5DD-AB22-0372-51B9ABE63526}"/>
              </a:ext>
            </a:extLst>
          </p:cNvPr>
          <p:cNvSpPr>
            <a:spLocks noGrp="1"/>
          </p:cNvSpPr>
          <p:nvPr>
            <p:ph type="body" sz="quarter" idx="13"/>
          </p:nvPr>
        </p:nvSpPr>
        <p:spPr>
          <a:xfrm>
            <a:off x="256032" y="1325880"/>
            <a:ext cx="11155680" cy="2194560"/>
          </a:xfrm>
        </p:spPr>
        <p:txBody>
          <a:bodyPr wrap="square" anchor="t">
            <a:noAutofit/>
          </a:bodyPr>
          <a:lstStyle/>
          <a:p>
            <a:pPr marL="285750" indent="-285750" algn="l">
              <a:lnSpc>
                <a:spcPct val="108000"/>
              </a:lnSpc>
              <a:spcBef>
                <a:spcPts val="0"/>
              </a:spcBef>
              <a:spcAft>
                <a:spcPts val="1000"/>
              </a:spcAft>
              <a:buFont typeface="Arial"/>
              <a:buChar char="•"/>
            </a:pPr>
            <a:r>
              <a:rPr sz="2200" b="0" dirty="0">
                <a:solidFill>
                  <a:srgbClr val="202020"/>
                </a:solidFill>
                <a:latin typeface="Calibri"/>
              </a:rPr>
              <a:t>Companies like Apple, Tesla and JPMorgan file reports (10-K and 10-Q) that are 100 to 300+ pages long, with big tables, management's summary and legal footnotes.</a:t>
            </a:r>
          </a:p>
          <a:p>
            <a:pPr marL="285750" indent="-285750" algn="l">
              <a:lnSpc>
                <a:spcPct val="108000"/>
              </a:lnSpc>
              <a:spcBef>
                <a:spcPts val="0"/>
              </a:spcBef>
              <a:spcAft>
                <a:spcPts val="1000"/>
              </a:spcAft>
              <a:buFont typeface="Arial"/>
              <a:buChar char="•"/>
            </a:pPr>
            <a:r>
              <a:rPr sz="2200" b="0" dirty="0">
                <a:solidFill>
                  <a:srgbClr val="202020"/>
                </a:solidFill>
                <a:latin typeface="Calibri"/>
              </a:rPr>
              <a:t>Reading them by hand takes hours, and AI chatbots often get the numbers wrong because they cut tables into pieces and lose which number belongs to which row, column and year.</a:t>
            </a:r>
          </a:p>
        </p:txBody>
      </p:sp>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Problem Statement </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CE164B1-01DD-BF3B-88E8-DF2DEDBFA9EB}"/>
              </a:ext>
            </a:extLst>
          </p:cNvPr>
          <p:cNvSpPr txBox="1"/>
          <p:nvPr/>
        </p:nvSpPr>
        <p:spPr>
          <a:xfrm>
            <a:off x="8619344" y="57036"/>
            <a:ext cx="3572656" cy="369332"/>
          </a:xfrm>
          <a:prstGeom prst="rect">
            <a:avLst/>
          </a:prstGeom>
          <a:noFill/>
        </p:spPr>
        <p:txBody>
          <a:bodyPr wrap="square" rtlCol="0">
            <a:spAutoFit/>
          </a:bodyPr>
          <a:lstStyle/>
          <a:p>
            <a:pPr algn="ctr"/>
            <a:r>
              <a:rPr lang="en-IN" b="1" dirty="0">
                <a:solidFill>
                  <a:schemeClr val="bg1"/>
                </a:solidFill>
              </a:rPr>
              <a:t>SEC EDGAR Forensic Audit System</a:t>
            </a:r>
          </a:p>
        </p:txBody>
      </p:sp>
      <p:sp>
        <p:nvSpPr>
          <p:cNvPr id="7" name="TextBox 6"/>
          <p:cNvSpPr txBox="1"/>
          <p:nvPr/>
        </p:nvSpPr>
        <p:spPr>
          <a:xfrm>
            <a:off x="411480" y="3520440"/>
            <a:ext cx="10607040" cy="365760"/>
          </a:xfrm>
          <a:prstGeom prst="rect">
            <a:avLst/>
          </a:prstGeom>
          <a:noFill/>
        </p:spPr>
        <p:txBody>
          <a:bodyPr wrap="square" lIns="73152" tIns="36576" rIns="73152" bIns="36576" anchor="ctr">
            <a:spAutoFit/>
          </a:bodyPr>
          <a:lstStyle/>
          <a:p>
            <a:pPr algn="l"/>
            <a:r>
              <a:rPr sz="1900" b="1">
                <a:solidFill>
                  <a:srgbClr val="1F4E79"/>
                </a:solidFill>
                <a:latin typeface="Calibri"/>
              </a:rPr>
              <a:t>What goes wrong with normal AI tools</a:t>
            </a:r>
          </a:p>
        </p:txBody>
      </p:sp>
      <p:sp>
        <p:nvSpPr>
          <p:cNvPr id="8" name="Rectangle 7"/>
          <p:cNvSpPr/>
          <p:nvPr/>
        </p:nvSpPr>
        <p:spPr>
          <a:xfrm>
            <a:off x="411480" y="3977639"/>
            <a:ext cx="3429000" cy="1691640"/>
          </a:xfrm>
          <a:prstGeom prst="rect">
            <a:avLst/>
          </a:prstGeom>
          <a:solidFill>
            <a:srgbClr val="FFFFFF"/>
          </a:solidFill>
          <a:ln w="22225">
            <a:solidFill>
              <a:srgbClr val="70AD4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000000"/>
                </a:solidFill>
                <a:latin typeface="Calibri"/>
              </a:rPr>
              <a:t>Wrong numbers</a:t>
            </a:r>
          </a:p>
          <a:p>
            <a:pPr algn="ctr"/>
            <a:r>
              <a:rPr sz="1600" b="0">
                <a:solidFill>
                  <a:srgbClr val="202020"/>
                </a:solidFill>
                <a:latin typeface="Calibri"/>
              </a:rPr>
              <a:t>Tables are cut into pieces, so a number loses its row, column and year</a:t>
            </a:r>
          </a:p>
        </p:txBody>
      </p:sp>
      <p:sp>
        <p:nvSpPr>
          <p:cNvPr id="9" name="Rectangle 8"/>
          <p:cNvSpPr/>
          <p:nvPr/>
        </p:nvSpPr>
        <p:spPr>
          <a:xfrm>
            <a:off x="4023360" y="3977639"/>
            <a:ext cx="3429000" cy="1691640"/>
          </a:xfrm>
          <a:prstGeom prst="rect">
            <a:avLst/>
          </a:prstGeom>
          <a:solidFill>
            <a:srgbClr val="FFFFFF"/>
          </a:solidFill>
          <a:ln w="22225">
            <a:solidFill>
              <a:srgbClr val="70AD4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000000"/>
                </a:solidFill>
                <a:latin typeface="Calibri"/>
              </a:rPr>
              <a:t>Quiet changes missed</a:t>
            </a:r>
          </a:p>
          <a:p>
            <a:pPr algn="ctr"/>
            <a:r>
              <a:rPr sz="1600" b="0">
                <a:solidFill>
                  <a:srgbClr val="202020"/>
                </a:solidFill>
                <a:latin typeface="Calibri"/>
              </a:rPr>
              <a:t>The same number is not compared across different reports</a:t>
            </a:r>
          </a:p>
        </p:txBody>
      </p:sp>
      <p:sp>
        <p:nvSpPr>
          <p:cNvPr id="10" name="Rectangle 9"/>
          <p:cNvSpPr/>
          <p:nvPr/>
        </p:nvSpPr>
        <p:spPr>
          <a:xfrm>
            <a:off x="7635240" y="3977639"/>
            <a:ext cx="3429000" cy="1691640"/>
          </a:xfrm>
          <a:prstGeom prst="rect">
            <a:avLst/>
          </a:prstGeom>
          <a:solidFill>
            <a:srgbClr val="FFFFFF"/>
          </a:solidFill>
          <a:ln w="22225">
            <a:solidFill>
              <a:srgbClr val="70AD4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000000"/>
                </a:solidFill>
                <a:latin typeface="Calibri"/>
              </a:rPr>
              <a:t>Hidden risks missed</a:t>
            </a:r>
          </a:p>
          <a:p>
            <a:pPr algn="ctr"/>
            <a:r>
              <a:rPr sz="1600" b="0">
                <a:solidFill>
                  <a:srgbClr val="202020"/>
                </a:solidFill>
                <a:latin typeface="Calibri"/>
              </a:rPr>
              <a:t>A positive summary is never checked against lawsuits and losses buried in footnotes</a:t>
            </a:r>
          </a:p>
        </p:txBody>
      </p:sp>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256032" y="1325880"/>
            <a:ext cx="11155680" cy="4480560"/>
          </a:xfrm>
        </p:spPr>
        <p:txBody>
          <a:bodyPr wrap="square" anchor="t">
            <a:noAutofit/>
          </a:bodyPr>
          <a:lstStyle/>
          <a:p>
            <a:pPr marL="285750" lvl="0" indent="-285750" algn="l">
              <a:lnSpc>
                <a:spcPct val="108000"/>
              </a:lnSpc>
              <a:spcBef>
                <a:spcPts val="0"/>
              </a:spcBef>
              <a:spcAft>
                <a:spcPts val="1400"/>
              </a:spcAft>
              <a:buFont typeface="Arial"/>
              <a:buChar char="•"/>
            </a:pPr>
            <a:r>
              <a:rPr sz="2200" b="0" dirty="0">
                <a:solidFill>
                  <a:srgbClr val="202020"/>
                </a:solidFill>
                <a:latin typeface="Calibri"/>
              </a:rPr>
              <a:t>Automate the processing of SEC filings (10-K and 10-Q) by pulling exact financial figures from the official XBRL data and splitting the report text into its standard sections: risk factors, MD&amp;A and footnotes.</a:t>
            </a:r>
          </a:p>
          <a:p>
            <a:pPr marL="285750" indent="-285750" algn="l">
              <a:lnSpc>
                <a:spcPct val="108000"/>
              </a:lnSpc>
              <a:spcBef>
                <a:spcPts val="0"/>
              </a:spcBef>
              <a:spcAft>
                <a:spcPts val="1400"/>
              </a:spcAft>
              <a:buFont typeface="Arial"/>
              <a:buChar char="•"/>
            </a:pPr>
            <a:r>
              <a:rPr sz="2200" b="0" dirty="0">
                <a:solidFill>
                  <a:srgbClr val="202020"/>
                </a:solidFill>
                <a:latin typeface="Calibri"/>
              </a:rPr>
              <a:t>Answer numeric questions with a direct database (SQL) lookup, so every number is exact and not guessed by an AI from a table.</a:t>
            </a:r>
          </a:p>
          <a:p>
            <a:pPr marL="285750" indent="-285750" algn="l">
              <a:lnSpc>
                <a:spcPct val="108000"/>
              </a:lnSpc>
              <a:spcBef>
                <a:spcPts val="0"/>
              </a:spcBef>
              <a:spcAft>
                <a:spcPts val="1400"/>
              </a:spcAft>
              <a:buFont typeface="Arial"/>
              <a:buChar char="•"/>
            </a:pPr>
            <a:r>
              <a:rPr sz="2200" b="0" dirty="0">
                <a:solidFill>
                  <a:srgbClr val="202020"/>
                </a:solidFill>
                <a:latin typeface="Calibri"/>
              </a:rPr>
              <a:t>Cross-check figures across multiple filings to catch restatements, where a company changes a number it reported earlier, and show the dollar and percentage difference.</a:t>
            </a:r>
          </a:p>
          <a:p>
            <a:pPr marL="285750" indent="-285750" algn="l">
              <a:lnSpc>
                <a:spcPct val="108000"/>
              </a:lnSpc>
              <a:spcBef>
                <a:spcPts val="0"/>
              </a:spcBef>
              <a:spcAft>
                <a:spcPts val="1400"/>
              </a:spcAft>
              <a:buFont typeface="Arial"/>
              <a:buChar char="•"/>
            </a:pPr>
            <a:r>
              <a:rPr sz="2200" b="0" dirty="0">
                <a:solidFill>
                  <a:srgbClr val="202020"/>
                </a:solidFill>
                <a:latin typeface="Calibri"/>
              </a:rPr>
              <a:t>Compare the MD&amp;A claims with the footnote disclosures, and give an explainable result of contradiction, qualification or none, with a source citation, to support human analysts.</a:t>
            </a: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452DD5-D934-4955-F39B-2109AC72692F}"/>
              </a:ext>
            </a:extLst>
          </p:cNvPr>
          <p:cNvSpPr txBox="1"/>
          <p:nvPr/>
        </p:nvSpPr>
        <p:spPr>
          <a:xfrm>
            <a:off x="8724275" y="57036"/>
            <a:ext cx="3467725" cy="369332"/>
          </a:xfrm>
          <a:prstGeom prst="rect">
            <a:avLst/>
          </a:prstGeom>
          <a:noFill/>
        </p:spPr>
        <p:txBody>
          <a:bodyPr wrap="square" rtlCol="0">
            <a:spAutoFit/>
          </a:bodyPr>
          <a:lstStyle/>
          <a:p>
            <a:pPr algn="ctr"/>
            <a:r>
              <a:rPr lang="en-IN" b="1" dirty="0">
                <a:solidFill>
                  <a:schemeClr val="bg1"/>
                </a:solidFill>
              </a:rPr>
              <a:t>SEC EDGAR Forensic Audit System</a:t>
            </a:r>
          </a:p>
        </p:txBody>
      </p: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a:xfrm>
            <a:off x="256032" y="1371600"/>
            <a:ext cx="11155680" cy="4206240"/>
          </a:xfrm>
        </p:spPr>
        <p:txBody>
          <a:bodyPr wrap="square" anchor="t">
            <a:noAutofit/>
          </a:bodyPr>
          <a:lstStyle/>
          <a:p>
            <a:pPr marL="0" indent="0" algn="l">
              <a:lnSpc>
                <a:spcPct val="108000"/>
              </a:lnSpc>
              <a:spcBef>
                <a:spcPts val="0"/>
              </a:spcBef>
              <a:spcAft>
                <a:spcPts val="1200"/>
              </a:spcAft>
              <a:buNone/>
            </a:pPr>
            <a:r>
              <a:rPr sz="2500" b="1">
                <a:solidFill>
                  <a:srgbClr val="1F4E79"/>
                </a:solidFill>
                <a:latin typeface="Calibri"/>
              </a:rPr>
              <a:t>Module 1: Zero-Hallucination Numeric Engine (DuckDB)</a:t>
            </a:r>
          </a:p>
          <a:p>
            <a:pPr marL="285750" indent="-285750" algn="l">
              <a:lnSpc>
                <a:spcPct val="108000"/>
              </a:lnSpc>
              <a:spcBef>
                <a:spcPts val="0"/>
              </a:spcBef>
              <a:spcAft>
                <a:spcPts val="1200"/>
              </a:spcAft>
              <a:buFont typeface="Arial"/>
              <a:buChar char="•"/>
            </a:pPr>
            <a:r>
              <a:rPr sz="2300" b="0">
                <a:solidFill>
                  <a:srgbClr val="202020"/>
                </a:solidFill>
                <a:latin typeface="Calibri"/>
              </a:rPr>
              <a:t>Loads XBRL financial facts from SEC EDGAR into an embedded DuckDB database</a:t>
            </a:r>
          </a:p>
          <a:p>
            <a:pPr marL="285750" indent="-285750" algn="l">
              <a:lnSpc>
                <a:spcPct val="108000"/>
              </a:lnSpc>
              <a:spcBef>
                <a:spcPts val="0"/>
              </a:spcBef>
              <a:spcAft>
                <a:spcPts val="1200"/>
              </a:spcAft>
              <a:buFont typeface="Arial"/>
              <a:buChar char="•"/>
            </a:pPr>
            <a:r>
              <a:rPr sz="2300" b="0">
                <a:solidFill>
                  <a:srgbClr val="202020"/>
                </a:solidFill>
                <a:latin typeface="Calibri"/>
              </a:rPr>
              <a:t>Answers number questions with a direct SQL lookup, so figures are exact and not guessed by AI</a:t>
            </a:r>
          </a:p>
          <a:p>
            <a:pPr marL="0" indent="0" algn="l">
              <a:lnSpc>
                <a:spcPct val="108000"/>
              </a:lnSpc>
              <a:spcBef>
                <a:spcPts val="0"/>
              </a:spcBef>
              <a:spcAft>
                <a:spcPts val="1200"/>
              </a:spcAft>
              <a:buNone/>
            </a:pPr>
            <a:r>
              <a:rPr sz="2500" b="1">
                <a:solidFill>
                  <a:srgbClr val="1F4E79"/>
                </a:solidFill>
                <a:latin typeface="Calibri"/>
              </a:rPr>
              <a:t>Module 2: Restatement &amp; Revision Detection</a:t>
            </a:r>
          </a:p>
          <a:p>
            <a:pPr marL="285750" indent="-285750" algn="l">
              <a:lnSpc>
                <a:spcPct val="108000"/>
              </a:lnSpc>
              <a:spcBef>
                <a:spcPts val="0"/>
              </a:spcBef>
              <a:spcAft>
                <a:spcPts val="1200"/>
              </a:spcAft>
              <a:buFont typeface="Arial"/>
              <a:buChar char="•"/>
            </a:pPr>
            <a:r>
              <a:rPr sz="2300" b="0">
                <a:solidFill>
                  <a:srgbClr val="202020"/>
                </a:solidFill>
                <a:latin typeface="Calibri"/>
              </a:rPr>
              <a:t>Compares the same figure across different filing dates for the same reporting period</a:t>
            </a:r>
          </a:p>
          <a:p>
            <a:pPr marL="285750" indent="-285750" algn="l">
              <a:lnSpc>
                <a:spcPct val="108000"/>
              </a:lnSpc>
              <a:spcBef>
                <a:spcPts val="0"/>
              </a:spcBef>
              <a:spcAft>
                <a:spcPts val="1200"/>
              </a:spcAft>
              <a:buFont typeface="Arial"/>
              <a:buChar char="•"/>
            </a:pPr>
            <a:r>
              <a:rPr sz="2300" b="0">
                <a:solidFill>
                  <a:srgbClr val="202020"/>
                </a:solidFill>
                <a:latin typeface="Calibri"/>
              </a:rPr>
              <a:t>Calculates the dollar change and percentage change when a company revises a number</a:t>
            </a: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Project Modules (1/2)</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6093893" y="57036"/>
            <a:ext cx="6098107" cy="646331"/>
          </a:xfrm>
          <a:prstGeom prst="rect">
            <a:avLst/>
          </a:prstGeom>
          <a:noFill/>
        </p:spPr>
        <p:txBody>
          <a:bodyPr wrap="square" rtlCol="0">
            <a:spAutoFit/>
          </a:bodyPr>
          <a:lstStyle/>
          <a:p>
            <a:pPr algn="r"/>
            <a:r>
              <a:rPr lang="en-IN" b="1" dirty="0">
                <a:solidFill>
                  <a:schemeClr val="bg1"/>
                </a:solidFill>
              </a:rPr>
              <a:t>SEC EDGAR Forensic Audit System</a:t>
            </a:r>
          </a:p>
          <a:p>
            <a:pPr algn="r"/>
            <a:endParaRPr lang="en-US" dirty="0"/>
          </a:p>
        </p:txBody>
      </p:sp>
    </p:spTree>
    <p:extLst>
      <p:ext uri="{BB962C8B-B14F-4D97-AF65-F5344CB8AC3E}">
        <p14:creationId xmlns:p14="http://schemas.microsoft.com/office/powerpoint/2010/main" val="3377586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063B6-5FCE-26A5-A685-8650014A16A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16BBD39-64DD-6C5C-F76B-5F9C3DB45373}"/>
              </a:ext>
            </a:extLst>
          </p:cNvPr>
          <p:cNvSpPr>
            <a:spLocks noGrp="1"/>
          </p:cNvSpPr>
          <p:nvPr>
            <p:ph type="body" sz="quarter" idx="13"/>
          </p:nvPr>
        </p:nvSpPr>
        <p:spPr>
          <a:xfrm>
            <a:off x="256032" y="1280160"/>
            <a:ext cx="11155680" cy="3154680"/>
          </a:xfrm>
        </p:spPr>
        <p:txBody>
          <a:bodyPr wrap="square" anchor="t">
            <a:noAutofit/>
          </a:bodyPr>
          <a:lstStyle/>
          <a:p>
            <a:pPr marL="0" indent="0" algn="l">
              <a:lnSpc>
                <a:spcPct val="108000"/>
              </a:lnSpc>
              <a:spcBef>
                <a:spcPts val="0"/>
              </a:spcBef>
              <a:spcAft>
                <a:spcPts val="600"/>
              </a:spcAft>
              <a:buNone/>
            </a:pPr>
            <a:r>
              <a:rPr sz="2100" b="1" dirty="0">
                <a:solidFill>
                  <a:srgbClr val="1F4E79"/>
                </a:solidFill>
                <a:latin typeface="Calibri"/>
              </a:rPr>
              <a:t>Module 3: Section-Aware Hybrid Search</a:t>
            </a:r>
          </a:p>
          <a:p>
            <a:pPr marL="285750" indent="-285750" algn="l">
              <a:lnSpc>
                <a:spcPct val="108000"/>
              </a:lnSpc>
              <a:spcBef>
                <a:spcPts val="0"/>
              </a:spcBef>
              <a:spcAft>
                <a:spcPts val="600"/>
              </a:spcAft>
              <a:buFont typeface="Arial"/>
              <a:buChar char="•"/>
            </a:pPr>
            <a:r>
              <a:rPr sz="1900" b="0" dirty="0">
                <a:solidFill>
                  <a:srgbClr val="202020"/>
                </a:solidFill>
                <a:latin typeface="Calibri"/>
              </a:rPr>
              <a:t>Splits filings into SEC sections (Item 1A, Item 7, Item 8) and searches them with </a:t>
            </a:r>
            <a:r>
              <a:rPr sz="1900" b="0" dirty="0" err="1">
                <a:solidFill>
                  <a:srgbClr val="202020"/>
                </a:solidFill>
                <a:latin typeface="Calibri"/>
              </a:rPr>
              <a:t>ChromaDB</a:t>
            </a:r>
            <a:r>
              <a:rPr sz="1900" b="0" dirty="0">
                <a:solidFill>
                  <a:srgbClr val="202020"/>
                </a:solidFill>
                <a:latin typeface="Calibri"/>
              </a:rPr>
              <a:t> vectors, BM25 keywords and </a:t>
            </a:r>
            <a:r>
              <a:rPr sz="1900" b="0" dirty="0" err="1">
                <a:solidFill>
                  <a:srgbClr val="202020"/>
                </a:solidFill>
                <a:latin typeface="Calibri"/>
              </a:rPr>
              <a:t>Flashrank</a:t>
            </a:r>
            <a:r>
              <a:rPr sz="1900" b="0" dirty="0">
                <a:solidFill>
                  <a:srgbClr val="202020"/>
                </a:solidFill>
                <a:latin typeface="Calibri"/>
              </a:rPr>
              <a:t> reranking</a:t>
            </a:r>
          </a:p>
          <a:p>
            <a:pPr marL="285750" indent="-285750" algn="l">
              <a:lnSpc>
                <a:spcPct val="108000"/>
              </a:lnSpc>
              <a:spcBef>
                <a:spcPts val="0"/>
              </a:spcBef>
              <a:spcAft>
                <a:spcPts val="600"/>
              </a:spcAft>
              <a:buFont typeface="Arial"/>
              <a:buChar char="•"/>
            </a:pPr>
            <a:r>
              <a:rPr sz="1900" b="0" dirty="0">
                <a:solidFill>
                  <a:srgbClr val="202020"/>
                </a:solidFill>
                <a:latin typeface="Calibri"/>
              </a:rPr>
              <a:t>Returns the most relevant passages with the section and filing they came from</a:t>
            </a:r>
          </a:p>
          <a:p>
            <a:pPr marL="0" indent="0" algn="l">
              <a:lnSpc>
                <a:spcPct val="108000"/>
              </a:lnSpc>
              <a:spcBef>
                <a:spcPts val="0"/>
              </a:spcBef>
              <a:spcAft>
                <a:spcPts val="600"/>
              </a:spcAft>
              <a:buNone/>
            </a:pPr>
            <a:r>
              <a:rPr sz="2100" b="1" dirty="0">
                <a:solidFill>
                  <a:srgbClr val="1F4E79"/>
                </a:solidFill>
                <a:latin typeface="Calibri"/>
              </a:rPr>
              <a:t>Module 4: Dual-Pass LLM Forensic Verifier</a:t>
            </a:r>
          </a:p>
          <a:p>
            <a:pPr marL="285750" indent="-285750" algn="l">
              <a:lnSpc>
                <a:spcPct val="108000"/>
              </a:lnSpc>
              <a:spcBef>
                <a:spcPts val="0"/>
              </a:spcBef>
              <a:spcAft>
                <a:spcPts val="600"/>
              </a:spcAft>
              <a:buFont typeface="Arial"/>
              <a:buChar char="•"/>
            </a:pPr>
            <a:r>
              <a:rPr sz="1900" b="0" dirty="0">
                <a:solidFill>
                  <a:srgbClr val="202020"/>
                </a:solidFill>
                <a:latin typeface="Calibri"/>
              </a:rPr>
              <a:t>Pass A retrieves MD&amp;A claims and Pass B retrieves footnote disclosures on the same topic</a:t>
            </a:r>
          </a:p>
          <a:p>
            <a:pPr marL="285750" indent="-285750" algn="l">
              <a:lnSpc>
                <a:spcPct val="108000"/>
              </a:lnSpc>
              <a:spcBef>
                <a:spcPts val="0"/>
              </a:spcBef>
              <a:spcAft>
                <a:spcPts val="600"/>
              </a:spcAft>
              <a:buFont typeface="Arial"/>
              <a:buChar char="•"/>
            </a:pPr>
            <a:r>
              <a:rPr sz="1900" b="0" dirty="0">
                <a:solidFill>
                  <a:srgbClr val="202020"/>
                </a:solidFill>
                <a:latin typeface="Calibri"/>
              </a:rPr>
              <a:t>Google Gemini compares them and returns Contradiction, Qualification or None, with a short explanation</a:t>
            </a:r>
          </a:p>
        </p:txBody>
      </p:sp>
      <p:sp>
        <p:nvSpPr>
          <p:cNvPr id="3" name="TextBox 2">
            <a:extLst>
              <a:ext uri="{FF2B5EF4-FFF2-40B4-BE49-F238E27FC236}">
                <a16:creationId xmlns:a16="http://schemas.microsoft.com/office/drawing/2014/main" id="{5BD55D70-5086-D685-BB03-3CE0B38BEBE9}"/>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Project Modules (2/2)</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8D82FA69-9DD2-9E3C-EE5B-186098EFFCA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914AB54-7A0D-15FC-3B0D-534714E466F3}"/>
              </a:ext>
            </a:extLst>
          </p:cNvPr>
          <p:cNvSpPr txBox="1"/>
          <p:nvPr/>
        </p:nvSpPr>
        <p:spPr>
          <a:xfrm>
            <a:off x="8724275" y="57036"/>
            <a:ext cx="3467725" cy="369332"/>
          </a:xfrm>
          <a:prstGeom prst="rect">
            <a:avLst/>
          </a:prstGeom>
          <a:noFill/>
        </p:spPr>
        <p:txBody>
          <a:bodyPr wrap="square" rtlCol="0">
            <a:spAutoFit/>
          </a:bodyPr>
          <a:lstStyle/>
          <a:p>
            <a:pPr algn="ctr"/>
            <a:r>
              <a:rPr lang="en-IN" b="1" dirty="0">
                <a:solidFill>
                  <a:schemeClr val="bg1"/>
                </a:solidFill>
              </a:rPr>
              <a:t>SEC EDGAR Forensic Audit System</a:t>
            </a:r>
          </a:p>
        </p:txBody>
      </p:sp>
      <p:sp>
        <p:nvSpPr>
          <p:cNvPr id="23" name="Rectangle 22"/>
          <p:cNvSpPr/>
          <p:nvPr/>
        </p:nvSpPr>
        <p:spPr>
          <a:xfrm>
            <a:off x="1371600" y="4526280"/>
            <a:ext cx="2743200" cy="566928"/>
          </a:xfrm>
          <a:prstGeom prst="rect">
            <a:avLst/>
          </a:prstGeom>
          <a:solidFill>
            <a:srgbClr val="FFFFFF"/>
          </a:solidFill>
          <a:ln w="22225">
            <a:solidFill>
              <a:srgbClr val="70AD4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000000"/>
                </a:solidFill>
                <a:latin typeface="Calibri"/>
              </a:rPr>
              <a:t>Pass A</a:t>
            </a:r>
          </a:p>
          <a:p>
            <a:pPr algn="ctr"/>
            <a:r>
              <a:rPr sz="1300" b="0">
                <a:solidFill>
                  <a:srgbClr val="202020"/>
                </a:solidFill>
                <a:latin typeface="Calibri"/>
              </a:rPr>
              <a:t>MD&amp;A claims</a:t>
            </a:r>
          </a:p>
        </p:txBody>
      </p:sp>
      <p:sp>
        <p:nvSpPr>
          <p:cNvPr id="24" name="Rectangle 23"/>
          <p:cNvSpPr/>
          <p:nvPr/>
        </p:nvSpPr>
        <p:spPr>
          <a:xfrm>
            <a:off x="1371600" y="5230368"/>
            <a:ext cx="2743200" cy="566928"/>
          </a:xfrm>
          <a:prstGeom prst="rect">
            <a:avLst/>
          </a:prstGeom>
          <a:solidFill>
            <a:srgbClr val="FFFFFF"/>
          </a:solidFill>
          <a:ln w="22225">
            <a:solidFill>
              <a:srgbClr val="70AD4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000000"/>
                </a:solidFill>
                <a:latin typeface="Calibri"/>
              </a:rPr>
              <a:t>Pass B</a:t>
            </a:r>
          </a:p>
          <a:p>
            <a:pPr algn="ctr"/>
            <a:r>
              <a:rPr sz="1300" b="0">
                <a:solidFill>
                  <a:srgbClr val="202020"/>
                </a:solidFill>
                <a:latin typeface="Calibri"/>
              </a:rPr>
              <a:t>Footnote disclosures</a:t>
            </a:r>
          </a:p>
        </p:txBody>
      </p:sp>
      <p:sp>
        <p:nvSpPr>
          <p:cNvPr id="25" name="Rectangle 24"/>
          <p:cNvSpPr/>
          <p:nvPr/>
        </p:nvSpPr>
        <p:spPr>
          <a:xfrm>
            <a:off x="5120640" y="4663440"/>
            <a:ext cx="2468880" cy="914400"/>
          </a:xfrm>
          <a:prstGeom prst="rect">
            <a:avLst/>
          </a:prstGeom>
          <a:solidFill>
            <a:srgbClr val="FFFFFF"/>
          </a:solidFill>
          <a:ln w="22225">
            <a:solidFill>
              <a:srgbClr val="70AD4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00000"/>
                </a:solidFill>
                <a:latin typeface="Calibri"/>
              </a:rPr>
              <a:t>Gemini LLM</a:t>
            </a:r>
          </a:p>
          <a:p>
            <a:pPr algn="ctr"/>
            <a:r>
              <a:rPr sz="1300" b="0">
                <a:solidFill>
                  <a:srgbClr val="202020"/>
                </a:solidFill>
                <a:latin typeface="Calibri"/>
              </a:rPr>
              <a:t>Compares both passages</a:t>
            </a:r>
          </a:p>
        </p:txBody>
      </p:sp>
      <p:sp>
        <p:nvSpPr>
          <p:cNvPr id="26" name="Rectangle 25"/>
          <p:cNvSpPr/>
          <p:nvPr/>
        </p:nvSpPr>
        <p:spPr>
          <a:xfrm>
            <a:off x="8595360" y="4663440"/>
            <a:ext cx="2743200" cy="914400"/>
          </a:xfrm>
          <a:prstGeom prst="rect">
            <a:avLst/>
          </a:prstGeom>
          <a:solidFill>
            <a:srgbClr val="FFFFFF"/>
          </a:solidFill>
          <a:ln w="22225">
            <a:solidFill>
              <a:srgbClr val="70AD4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00000"/>
                </a:solidFill>
                <a:latin typeface="Calibri"/>
              </a:rPr>
              <a:t>Result</a:t>
            </a:r>
          </a:p>
          <a:p>
            <a:pPr algn="ctr"/>
            <a:r>
              <a:rPr sz="1250" b="0">
                <a:solidFill>
                  <a:srgbClr val="202020"/>
                </a:solidFill>
                <a:latin typeface="Calibri"/>
              </a:rPr>
              <a:t>Contradiction / Qualification / None</a:t>
            </a:r>
          </a:p>
        </p:txBody>
      </p:sp>
      <p:cxnSp>
        <p:nvCxnSpPr>
          <p:cNvPr id="27" name="Connector 26"/>
          <p:cNvCxnSpPr/>
          <p:nvPr/>
        </p:nvCxnSpPr>
        <p:spPr>
          <a:xfrm>
            <a:off x="4114800" y="4809744"/>
            <a:ext cx="1005840" cy="146304"/>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4114800" y="5303520"/>
            <a:ext cx="1005840" cy="210312"/>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589520" y="5120640"/>
            <a:ext cx="1005840" cy="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00978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B15F4B8-EED0-F7BE-96C7-D7AAE989A251}"/>
              </a:ext>
            </a:extLst>
          </p:cNvPr>
          <p:cNvSpPr txBox="1"/>
          <p:nvPr/>
        </p:nvSpPr>
        <p:spPr>
          <a:xfrm>
            <a:off x="390907" y="445509"/>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356185" y="1134720"/>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C400048-B328-FC8C-7E58-0BA8D485860C}"/>
              </a:ext>
            </a:extLst>
          </p:cNvPr>
          <p:cNvSpPr txBox="1"/>
          <p:nvPr/>
        </p:nvSpPr>
        <p:spPr>
          <a:xfrm>
            <a:off x="8784237" y="14990"/>
            <a:ext cx="3997828" cy="646331"/>
          </a:xfrm>
          <a:prstGeom prst="rect">
            <a:avLst/>
          </a:prstGeom>
          <a:noFill/>
        </p:spPr>
        <p:txBody>
          <a:bodyPr wrap="square" rtlCol="0">
            <a:spAutoFit/>
          </a:bodyPr>
          <a:lstStyle/>
          <a:p>
            <a:r>
              <a:rPr lang="en-IN" b="1" dirty="0">
                <a:solidFill>
                  <a:schemeClr val="bg1"/>
                </a:solidFill>
              </a:rPr>
              <a:t>SEC EDGAR Forensic Audit System</a:t>
            </a:r>
          </a:p>
          <a:p>
            <a:endParaRPr lang="en-IN" dirty="0"/>
          </a:p>
        </p:txBody>
      </p:sp>
      <p:sp>
        <p:nvSpPr>
          <p:cNvPr id="17" name="Rectangle 16"/>
          <p:cNvSpPr/>
          <p:nvPr/>
        </p:nvSpPr>
        <p:spPr>
          <a:xfrm>
            <a:off x="457200" y="1371600"/>
            <a:ext cx="2971800" cy="1051560"/>
          </a:xfrm>
          <a:prstGeom prst="rect">
            <a:avLst/>
          </a:prstGeom>
          <a:solidFill>
            <a:srgbClr val="FFFFFF"/>
          </a:solidFill>
          <a:ln w="22225">
            <a:solidFill>
              <a:srgbClr val="70AD4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00000"/>
                </a:solidFill>
                <a:latin typeface="Calibri"/>
              </a:rPr>
              <a:t>1. Data Collection</a:t>
            </a:r>
          </a:p>
          <a:p>
            <a:pPr algn="ctr"/>
            <a:r>
              <a:rPr sz="1350" b="0">
                <a:solidFill>
                  <a:srgbClr val="202020"/>
                </a:solidFill>
                <a:latin typeface="Calibri"/>
              </a:rPr>
              <a:t>SEC EDGAR: XBRL facts and HTML filing text</a:t>
            </a:r>
          </a:p>
        </p:txBody>
      </p:sp>
      <p:sp>
        <p:nvSpPr>
          <p:cNvPr id="18" name="Rectangle 17"/>
          <p:cNvSpPr/>
          <p:nvPr/>
        </p:nvSpPr>
        <p:spPr>
          <a:xfrm>
            <a:off x="4206240" y="1371600"/>
            <a:ext cx="2971800" cy="1051560"/>
          </a:xfrm>
          <a:prstGeom prst="rect">
            <a:avLst/>
          </a:prstGeom>
          <a:solidFill>
            <a:srgbClr val="FFFFFF"/>
          </a:solidFill>
          <a:ln w="22225">
            <a:solidFill>
              <a:srgbClr val="70AD4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00000"/>
                </a:solidFill>
                <a:latin typeface="Calibri"/>
              </a:rPr>
              <a:t>2. Parsing &amp; Sectioning</a:t>
            </a:r>
          </a:p>
          <a:p>
            <a:pPr algn="ctr"/>
            <a:r>
              <a:rPr sz="1350" b="0">
                <a:solidFill>
                  <a:srgbClr val="202020"/>
                </a:solidFill>
                <a:latin typeface="Calibri"/>
              </a:rPr>
              <a:t>Split into Item 1A, Item 7 and Item 8</a:t>
            </a:r>
          </a:p>
        </p:txBody>
      </p:sp>
      <p:sp>
        <p:nvSpPr>
          <p:cNvPr id="19" name="Rectangle 18"/>
          <p:cNvSpPr/>
          <p:nvPr/>
        </p:nvSpPr>
        <p:spPr>
          <a:xfrm>
            <a:off x="7955279" y="1371600"/>
            <a:ext cx="2971800" cy="1051560"/>
          </a:xfrm>
          <a:prstGeom prst="rect">
            <a:avLst/>
          </a:prstGeom>
          <a:solidFill>
            <a:srgbClr val="FFFFFF"/>
          </a:solidFill>
          <a:ln w="22225">
            <a:solidFill>
              <a:srgbClr val="70AD4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00000"/>
                </a:solidFill>
                <a:latin typeface="Calibri"/>
              </a:rPr>
              <a:t>3. Storage &amp; Indexing</a:t>
            </a:r>
          </a:p>
          <a:p>
            <a:pPr algn="ctr"/>
            <a:r>
              <a:rPr sz="1350" b="0">
                <a:solidFill>
                  <a:srgbClr val="202020"/>
                </a:solidFill>
                <a:latin typeface="Calibri"/>
              </a:rPr>
              <a:t>DuckDB for numbers, ChromaDB and BM25 for text</a:t>
            </a:r>
          </a:p>
        </p:txBody>
      </p:sp>
      <p:sp>
        <p:nvSpPr>
          <p:cNvPr id="20" name="Rectangle 19"/>
          <p:cNvSpPr/>
          <p:nvPr/>
        </p:nvSpPr>
        <p:spPr>
          <a:xfrm>
            <a:off x="7955279" y="2880360"/>
            <a:ext cx="2971800" cy="1051560"/>
          </a:xfrm>
          <a:prstGeom prst="rect">
            <a:avLst/>
          </a:prstGeom>
          <a:solidFill>
            <a:srgbClr val="FFFFFF"/>
          </a:solidFill>
          <a:ln w="22225">
            <a:solidFill>
              <a:srgbClr val="70AD4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00000"/>
                </a:solidFill>
                <a:latin typeface="Calibri"/>
              </a:rPr>
              <a:t>4. Query Routing</a:t>
            </a:r>
          </a:p>
          <a:p>
            <a:pPr algn="ctr"/>
            <a:r>
              <a:rPr sz="1350" b="0">
                <a:solidFill>
                  <a:srgbClr val="202020"/>
                </a:solidFill>
                <a:latin typeface="Calibri"/>
              </a:rPr>
              <a:t>Numeric, narrative, restatement or contradiction</a:t>
            </a:r>
          </a:p>
        </p:txBody>
      </p:sp>
      <p:sp>
        <p:nvSpPr>
          <p:cNvPr id="21" name="Rectangle 20"/>
          <p:cNvSpPr/>
          <p:nvPr/>
        </p:nvSpPr>
        <p:spPr>
          <a:xfrm>
            <a:off x="7955279" y="4389120"/>
            <a:ext cx="2971800" cy="1051560"/>
          </a:xfrm>
          <a:prstGeom prst="rect">
            <a:avLst/>
          </a:prstGeom>
          <a:solidFill>
            <a:srgbClr val="FFFFFF"/>
          </a:solidFill>
          <a:ln w="22225">
            <a:solidFill>
              <a:srgbClr val="70AD4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00000"/>
                </a:solidFill>
                <a:latin typeface="Calibri"/>
              </a:rPr>
              <a:t>5. Retrieval &amp; Execution</a:t>
            </a:r>
          </a:p>
          <a:p>
            <a:pPr algn="ctr"/>
            <a:r>
              <a:rPr sz="1350" b="0">
                <a:solidFill>
                  <a:srgbClr val="202020"/>
                </a:solidFill>
                <a:latin typeface="Calibri"/>
              </a:rPr>
              <a:t>SQL lookup, or hybrid search with Flashrank reranking</a:t>
            </a:r>
          </a:p>
        </p:txBody>
      </p:sp>
      <p:sp>
        <p:nvSpPr>
          <p:cNvPr id="22" name="Rectangle 21"/>
          <p:cNvSpPr/>
          <p:nvPr/>
        </p:nvSpPr>
        <p:spPr>
          <a:xfrm>
            <a:off x="4206240" y="4389120"/>
            <a:ext cx="2971800" cy="1051560"/>
          </a:xfrm>
          <a:prstGeom prst="rect">
            <a:avLst/>
          </a:prstGeom>
          <a:solidFill>
            <a:srgbClr val="FFFFFF"/>
          </a:solidFill>
          <a:ln w="22225">
            <a:solidFill>
              <a:srgbClr val="70AD4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00000"/>
                </a:solidFill>
                <a:latin typeface="Calibri"/>
              </a:rPr>
              <a:t>6. Cross-Verification</a:t>
            </a:r>
          </a:p>
          <a:p>
            <a:pPr algn="ctr"/>
            <a:r>
              <a:rPr sz="1350" b="0">
                <a:solidFill>
                  <a:srgbClr val="202020"/>
                </a:solidFill>
                <a:latin typeface="Calibri"/>
              </a:rPr>
              <a:t>Restatement check, and MD&amp;A against footnotes with the LLM</a:t>
            </a:r>
          </a:p>
        </p:txBody>
      </p:sp>
      <p:sp>
        <p:nvSpPr>
          <p:cNvPr id="23" name="Rectangle 22"/>
          <p:cNvSpPr/>
          <p:nvPr/>
        </p:nvSpPr>
        <p:spPr>
          <a:xfrm>
            <a:off x="457200" y="4389120"/>
            <a:ext cx="2971800" cy="1051560"/>
          </a:xfrm>
          <a:prstGeom prst="rect">
            <a:avLst/>
          </a:prstGeom>
          <a:solidFill>
            <a:srgbClr val="FFFFFF"/>
          </a:solidFill>
          <a:ln w="22225">
            <a:solidFill>
              <a:srgbClr val="70AD4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00000"/>
                </a:solidFill>
                <a:latin typeface="Calibri"/>
              </a:rPr>
              <a:t>7. Cited Answer</a:t>
            </a:r>
          </a:p>
          <a:p>
            <a:pPr algn="ctr"/>
            <a:r>
              <a:rPr sz="1350" b="0">
                <a:solidFill>
                  <a:srgbClr val="202020"/>
                </a:solidFill>
                <a:latin typeface="Calibri"/>
              </a:rPr>
              <a:t>Contradiction, qualification or none, with the source</a:t>
            </a:r>
          </a:p>
        </p:txBody>
      </p:sp>
      <p:cxnSp>
        <p:nvCxnSpPr>
          <p:cNvPr id="24" name="Connector 23"/>
          <p:cNvCxnSpPr/>
          <p:nvPr/>
        </p:nvCxnSpPr>
        <p:spPr>
          <a:xfrm>
            <a:off x="3429000" y="1897380"/>
            <a:ext cx="777240" cy="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178040" y="1897380"/>
            <a:ext cx="777239" cy="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441180" y="2423160"/>
            <a:ext cx="0" cy="45720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441180" y="3931920"/>
            <a:ext cx="0" cy="45720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7178040" y="4914900"/>
            <a:ext cx="777239" cy="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3429000" y="4914900"/>
            <a:ext cx="777240" cy="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94876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B675-E694-7663-D55C-2461C40B8B8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D243BDD-B44E-04F0-FA93-336DD2FFA770}"/>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Approach/Algorithms/Tools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4963133-FFA1-7CF4-9FAD-E6A120EF423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EA3EC9D-D5AF-E54C-A3D0-5E42F32DC03B}"/>
              </a:ext>
            </a:extLst>
          </p:cNvPr>
          <p:cNvSpPr txBox="1"/>
          <p:nvPr/>
        </p:nvSpPr>
        <p:spPr>
          <a:xfrm>
            <a:off x="8424473" y="57036"/>
            <a:ext cx="3767528" cy="369332"/>
          </a:xfrm>
          <a:prstGeom prst="rect">
            <a:avLst/>
          </a:prstGeom>
          <a:noFill/>
        </p:spPr>
        <p:txBody>
          <a:bodyPr wrap="square" rtlCol="0">
            <a:spAutoFit/>
          </a:bodyPr>
          <a:lstStyle/>
          <a:p>
            <a:pPr algn="ctr"/>
            <a:r>
              <a:rPr lang="en-IN" b="1" dirty="0">
                <a:solidFill>
                  <a:schemeClr val="bg1"/>
                </a:solidFill>
              </a:rPr>
              <a:t>SEC EDGAR Forensic Audit System</a:t>
            </a:r>
          </a:p>
        </p:txBody>
      </p:sp>
      <p:graphicFrame>
        <p:nvGraphicFramePr>
          <p:cNvPr id="7" name="Table 6"/>
          <p:cNvGraphicFramePr>
            <a:graphicFrameLocks noGrp="1"/>
          </p:cNvGraphicFramePr>
          <p:nvPr/>
        </p:nvGraphicFramePr>
        <p:xfrm>
          <a:off x="548640" y="1298448"/>
          <a:ext cx="10607040" cy="4642104"/>
        </p:xfrm>
        <a:graphic>
          <a:graphicData uri="http://schemas.openxmlformats.org/drawingml/2006/table">
            <a:tbl>
              <a:tblPr>
                <a:tableStyleId>{5C22544A-7EE6-4342-B048-85BDC9FD1C3A}</a:tableStyleId>
              </a:tblPr>
              <a:tblGrid>
                <a:gridCol w="420624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tblGrid>
              <a:tr h="416052">
                <a:tc>
                  <a:txBody>
                    <a:bodyPr/>
                    <a:lstStyle/>
                    <a:p>
                      <a:pPr algn="l"/>
                      <a:r>
                        <a:rPr sz="1400" b="1">
                          <a:solidFill>
                            <a:srgbClr val="000000"/>
                          </a:solidFill>
                          <a:latin typeface="Calibri"/>
                        </a:rPr>
                        <a:t>Approach / Algorithm / Tool</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25B9ED"/>
                    </a:solidFill>
                  </a:tcPr>
                </a:tc>
                <a:tc>
                  <a:txBody>
                    <a:bodyPr/>
                    <a:lstStyle/>
                    <a:p>
                      <a:pPr algn="l"/>
                      <a:r>
                        <a:rPr sz="1400" b="1">
                          <a:solidFill>
                            <a:srgbClr val="000000"/>
                          </a:solidFill>
                          <a:latin typeface="Calibri"/>
                        </a:rPr>
                        <a:t>Role in SEC Forensic Audit System</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25B9ED"/>
                    </a:solidFill>
                  </a:tcPr>
                </a:tc>
                <a:extLst>
                  <a:ext uri="{0D108BD9-81ED-4DB2-BD59-A6C34878D82A}">
                    <a16:rowId xmlns:a16="http://schemas.microsoft.com/office/drawing/2014/main" val="10000"/>
                  </a:ext>
                </a:extLst>
              </a:tr>
              <a:tr h="416052">
                <a:tc>
                  <a:txBody>
                    <a:bodyPr/>
                    <a:lstStyle/>
                    <a:p>
                      <a:pPr algn="l"/>
                      <a:r>
                        <a:rPr sz="1400" b="1">
                          <a:solidFill>
                            <a:srgbClr val="202020"/>
                          </a:solidFill>
                          <a:latin typeface="Calibri"/>
                        </a:rPr>
                        <a:t>edgartools</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tc>
                  <a:txBody>
                    <a:bodyPr/>
                    <a:lstStyle/>
                    <a:p>
                      <a:pPr algn="l"/>
                      <a:r>
                        <a:rPr sz="1400" b="0">
                          <a:solidFill>
                            <a:srgbClr val="202020"/>
                          </a:solidFill>
                          <a:latin typeface="Calibri"/>
                        </a:rPr>
                        <a:t>Fetch XBRL facts and filing text from SEC EDGAR</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extLst>
                  <a:ext uri="{0D108BD9-81ED-4DB2-BD59-A6C34878D82A}">
                    <a16:rowId xmlns:a16="http://schemas.microsoft.com/office/drawing/2014/main" val="10001"/>
                  </a:ext>
                </a:extLst>
              </a:tr>
              <a:tr h="416052">
                <a:tc>
                  <a:txBody>
                    <a:bodyPr/>
                    <a:lstStyle/>
                    <a:p>
                      <a:pPr algn="l"/>
                      <a:r>
                        <a:rPr sz="1400" b="1">
                          <a:solidFill>
                            <a:srgbClr val="202020"/>
                          </a:solidFill>
                          <a:latin typeface="Calibri"/>
                        </a:rPr>
                        <a:t>BeautifulSoup4 + Regex Section Parsing</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tc>
                  <a:txBody>
                    <a:bodyPr/>
                    <a:lstStyle/>
                    <a:p>
                      <a:pPr algn="l"/>
                      <a:r>
                        <a:rPr sz="1400" b="0">
                          <a:solidFill>
                            <a:srgbClr val="202020"/>
                          </a:solidFill>
                          <a:latin typeface="Calibri"/>
                        </a:rPr>
                        <a:t>Convert HTML filings to text and split them into Item 1A, Item 7 and Item 8</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extLst>
                  <a:ext uri="{0D108BD9-81ED-4DB2-BD59-A6C34878D82A}">
                    <a16:rowId xmlns:a16="http://schemas.microsoft.com/office/drawing/2014/main" val="10002"/>
                  </a:ext>
                </a:extLst>
              </a:tr>
              <a:tr h="416052">
                <a:tc>
                  <a:txBody>
                    <a:bodyPr/>
                    <a:lstStyle/>
                    <a:p>
                      <a:pPr algn="l"/>
                      <a:r>
                        <a:rPr sz="1400" b="1">
                          <a:solidFill>
                            <a:srgbClr val="202020"/>
                          </a:solidFill>
                          <a:latin typeface="Calibri"/>
                        </a:rPr>
                        <a:t>DuckDB</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tc>
                  <a:txBody>
                    <a:bodyPr/>
                    <a:lstStyle/>
                    <a:p>
                      <a:pPr algn="l"/>
                      <a:r>
                        <a:rPr sz="1400" b="0">
                          <a:solidFill>
                            <a:srgbClr val="202020"/>
                          </a:solidFill>
                          <a:latin typeface="Calibri"/>
                        </a:rPr>
                        <a:t>Store XBRL financial facts and run exact SQL lookups</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extLst>
                  <a:ext uri="{0D108BD9-81ED-4DB2-BD59-A6C34878D82A}">
                    <a16:rowId xmlns:a16="http://schemas.microsoft.com/office/drawing/2014/main" val="10003"/>
                  </a:ext>
                </a:extLst>
              </a:tr>
              <a:tr h="416052">
                <a:tc>
                  <a:txBody>
                    <a:bodyPr/>
                    <a:lstStyle/>
                    <a:p>
                      <a:pPr algn="l"/>
                      <a:r>
                        <a:rPr sz="1400" b="1">
                          <a:solidFill>
                            <a:srgbClr val="202020"/>
                          </a:solidFill>
                          <a:latin typeface="Calibri"/>
                        </a:rPr>
                        <a:t>Period-Matched Restatement Check</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tc>
                  <a:txBody>
                    <a:bodyPr/>
                    <a:lstStyle/>
                    <a:p>
                      <a:pPr algn="l"/>
                      <a:r>
                        <a:rPr sz="1400" b="0">
                          <a:solidFill>
                            <a:srgbClr val="202020"/>
                          </a:solidFill>
                          <a:latin typeface="Calibri"/>
                        </a:rPr>
                        <a:t>Compare the same figure across filing dates, matching exact period start and end dates</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extLst>
                  <a:ext uri="{0D108BD9-81ED-4DB2-BD59-A6C34878D82A}">
                    <a16:rowId xmlns:a16="http://schemas.microsoft.com/office/drawing/2014/main" val="10004"/>
                  </a:ext>
                </a:extLst>
              </a:tr>
              <a:tr h="416052">
                <a:tc>
                  <a:txBody>
                    <a:bodyPr/>
                    <a:lstStyle/>
                    <a:p>
                      <a:pPr algn="l"/>
                      <a:r>
                        <a:rPr sz="1400" b="1">
                          <a:solidFill>
                            <a:srgbClr val="202020"/>
                          </a:solidFill>
                          <a:latin typeface="Calibri"/>
                        </a:rPr>
                        <a:t>Sentence-Aware Chunking</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tc>
                  <a:txBody>
                    <a:bodyPr/>
                    <a:lstStyle/>
                    <a:p>
                      <a:pPr algn="l"/>
                      <a:r>
                        <a:rPr sz="1400" b="0">
                          <a:solidFill>
                            <a:srgbClr val="202020"/>
                          </a:solidFill>
                          <a:latin typeface="Calibri"/>
                        </a:rPr>
                        <a:t>Break report text into 1,200-character chunks with 200 overlap</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extLst>
                  <a:ext uri="{0D108BD9-81ED-4DB2-BD59-A6C34878D82A}">
                    <a16:rowId xmlns:a16="http://schemas.microsoft.com/office/drawing/2014/main" val="10005"/>
                  </a:ext>
                </a:extLst>
              </a:tr>
              <a:tr h="416052">
                <a:tc>
                  <a:txBody>
                    <a:bodyPr/>
                    <a:lstStyle/>
                    <a:p>
                      <a:pPr algn="l"/>
                      <a:r>
                        <a:rPr sz="1400" b="1">
                          <a:solidFill>
                            <a:srgbClr val="202020"/>
                          </a:solidFill>
                          <a:latin typeface="Calibri"/>
                        </a:rPr>
                        <a:t>ChromaDB + BM25 Hybrid Search</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tc>
                  <a:txBody>
                    <a:bodyPr/>
                    <a:lstStyle/>
                    <a:p>
                      <a:pPr algn="l"/>
                      <a:r>
                        <a:rPr sz="1400" b="0">
                          <a:solidFill>
                            <a:srgbClr val="202020"/>
                          </a:solidFill>
                          <a:latin typeface="Calibri"/>
                        </a:rPr>
                        <a:t>Find passages by meaning (vectors) and by exact keywords</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extLst>
                  <a:ext uri="{0D108BD9-81ED-4DB2-BD59-A6C34878D82A}">
                    <a16:rowId xmlns:a16="http://schemas.microsoft.com/office/drawing/2014/main" val="10006"/>
                  </a:ext>
                </a:extLst>
              </a:tr>
              <a:tr h="416052">
                <a:tc>
                  <a:txBody>
                    <a:bodyPr/>
                    <a:lstStyle/>
                    <a:p>
                      <a:pPr algn="l"/>
                      <a:r>
                        <a:rPr sz="1400" b="1">
                          <a:solidFill>
                            <a:srgbClr val="202020"/>
                          </a:solidFill>
                          <a:latin typeface="Calibri"/>
                        </a:rPr>
                        <a:t>Flashrank</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tc>
                  <a:txBody>
                    <a:bodyPr/>
                    <a:lstStyle/>
                    <a:p>
                      <a:pPr algn="l"/>
                      <a:r>
                        <a:rPr sz="1400" b="0">
                          <a:solidFill>
                            <a:srgbClr val="202020"/>
                          </a:solidFill>
                          <a:latin typeface="Calibri"/>
                        </a:rPr>
                        <a:t>Rerank the combined results and keep the most relevant passages</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extLst>
                  <a:ext uri="{0D108BD9-81ED-4DB2-BD59-A6C34878D82A}">
                    <a16:rowId xmlns:a16="http://schemas.microsoft.com/office/drawing/2014/main" val="10007"/>
                  </a:ext>
                </a:extLst>
              </a:tr>
              <a:tr h="416052">
                <a:tc>
                  <a:txBody>
                    <a:bodyPr/>
                    <a:lstStyle/>
                    <a:p>
                      <a:pPr algn="l"/>
                      <a:r>
                        <a:rPr sz="1400" b="1">
                          <a:solidFill>
                            <a:srgbClr val="202020"/>
                          </a:solidFill>
                          <a:latin typeface="Calibri"/>
                        </a:rPr>
                        <a:t>Gemini LLM Verifier</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tc>
                  <a:txBody>
                    <a:bodyPr/>
                    <a:lstStyle/>
                    <a:p>
                      <a:pPr algn="l"/>
                      <a:r>
                        <a:rPr sz="1400" b="0">
                          <a:solidFill>
                            <a:srgbClr val="202020"/>
                          </a:solidFill>
                          <a:latin typeface="Calibri"/>
                        </a:rPr>
                        <a:t>Compare MD&amp;A claims with footnotes and return contradiction, qualification or none</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extLst>
                  <a:ext uri="{0D108BD9-81ED-4DB2-BD59-A6C34878D82A}">
                    <a16:rowId xmlns:a16="http://schemas.microsoft.com/office/drawing/2014/main" val="10008"/>
                  </a:ext>
                </a:extLst>
              </a:tr>
              <a:tr h="416052">
                <a:tc>
                  <a:txBody>
                    <a:bodyPr/>
                    <a:lstStyle/>
                    <a:p>
                      <a:pPr algn="l"/>
                      <a:r>
                        <a:rPr sz="1400" b="1">
                          <a:solidFill>
                            <a:srgbClr val="202020"/>
                          </a:solidFill>
                          <a:latin typeface="Calibri"/>
                        </a:rPr>
                        <a:t>Rule-Based Query Router</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tc>
                  <a:txBody>
                    <a:bodyPr/>
                    <a:lstStyle/>
                    <a:p>
                      <a:pPr algn="l"/>
                      <a:r>
                        <a:rPr sz="1400" b="0">
                          <a:solidFill>
                            <a:srgbClr val="202020"/>
                          </a:solidFill>
                          <a:latin typeface="Calibri"/>
                        </a:rPr>
                        <a:t>Read each question and send it to the right engine</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extLst>
                  <a:ext uri="{0D108BD9-81ED-4DB2-BD59-A6C34878D82A}">
                    <a16:rowId xmlns:a16="http://schemas.microsoft.com/office/drawing/2014/main" val="10009"/>
                  </a:ext>
                </a:extLst>
              </a:tr>
              <a:tr h="416052">
                <a:tc>
                  <a:txBody>
                    <a:bodyPr/>
                    <a:lstStyle/>
                    <a:p>
                      <a:pPr algn="l"/>
                      <a:r>
                        <a:rPr sz="1400" b="1">
                          <a:solidFill>
                            <a:srgbClr val="202020"/>
                          </a:solidFill>
                          <a:latin typeface="Calibri"/>
                        </a:rPr>
                        <a:t>Streamlit</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tc>
                  <a:txBody>
                    <a:bodyPr/>
                    <a:lstStyle/>
                    <a:p>
                      <a:pPr algn="l"/>
                      <a:r>
                        <a:rPr sz="1400" b="0">
                          <a:solidFill>
                            <a:srgbClr val="202020"/>
                          </a:solidFill>
                          <a:latin typeface="Calibri"/>
                        </a:rPr>
                        <a:t>Dashboard for asking questions and viewing cited answers</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07944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Findings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4F7A196-7B69-DD68-52A5-39CD9B799F7D}"/>
              </a:ext>
            </a:extLst>
          </p:cNvPr>
          <p:cNvSpPr txBox="1"/>
          <p:nvPr/>
        </p:nvSpPr>
        <p:spPr>
          <a:xfrm>
            <a:off x="8694295" y="57036"/>
            <a:ext cx="3497705" cy="369332"/>
          </a:xfrm>
          <a:prstGeom prst="rect">
            <a:avLst/>
          </a:prstGeom>
          <a:noFill/>
        </p:spPr>
        <p:txBody>
          <a:bodyPr wrap="square" rtlCol="0">
            <a:spAutoFit/>
          </a:bodyPr>
          <a:lstStyle/>
          <a:p>
            <a:pPr algn="ctr"/>
            <a:r>
              <a:rPr lang="en-IN" b="1" dirty="0">
                <a:solidFill>
                  <a:schemeClr val="bg1"/>
                </a:solidFill>
              </a:rPr>
              <a:t>SEC EDGAR Forensic Audit System</a:t>
            </a:r>
          </a:p>
        </p:txBody>
      </p:sp>
      <p:sp>
        <p:nvSpPr>
          <p:cNvPr id="8" name="Rectangle 3">
            <a:extLst>
              <a:ext uri="{FF2B5EF4-FFF2-40B4-BE49-F238E27FC236}">
                <a16:creationId xmlns:a16="http://schemas.microsoft.com/office/drawing/2014/main" id="{A61A54F4-3A1F-125F-F27F-4A1A40F3DCE5}"/>
              </a:ext>
            </a:extLst>
          </p:cNvPr>
          <p:cNvSpPr>
            <a:spLocks noGrp="1" noChangeArrowheads="1"/>
          </p:cNvSpPr>
          <p:nvPr>
            <p:ph type="body" sz="quarter" idx="13"/>
          </p:nvPr>
        </p:nvSpPr>
        <p:spPr bwMode="auto">
          <a:xfrm>
            <a:off x="256032" y="1371600"/>
            <a:ext cx="11155680" cy="4389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Autofit/>
          </a:bodyPr>
          <a:lstStyle/>
          <a:p>
            <a:pPr marL="285750" lvl="0" indent="-285750" algn="l">
              <a:lnSpc>
                <a:spcPct val="108000"/>
              </a:lnSpc>
              <a:spcBef>
                <a:spcPts val="0"/>
              </a:spcBef>
              <a:spcAft>
                <a:spcPts val="1600"/>
              </a:spcAft>
              <a:buFont typeface="Arial"/>
              <a:buChar char="•"/>
            </a:pPr>
            <a:r>
              <a:rPr sz="2400" b="0">
                <a:solidFill>
                  <a:srgbClr val="202020"/>
                </a:solidFill>
                <a:latin typeface="Calibri"/>
              </a:rPr>
              <a:t>Fixed-size chunking cuts tables, so numbers lose their row and column labels and the AI picks wrong values.</a:t>
            </a:r>
          </a:p>
          <a:p>
            <a:pPr marL="285750" indent="-285750" algn="l">
              <a:lnSpc>
                <a:spcPct val="108000"/>
              </a:lnSpc>
              <a:spcBef>
                <a:spcPts val="0"/>
              </a:spcBef>
              <a:spcAft>
                <a:spcPts val="1600"/>
              </a:spcAft>
              <a:buFont typeface="Arial"/>
              <a:buChar char="•"/>
            </a:pPr>
            <a:r>
              <a:rPr sz="2400" b="0">
                <a:solidFill>
                  <a:srgbClr val="202020"/>
                </a:solidFill>
                <a:latin typeface="Calibri"/>
              </a:rPr>
              <a:t>A direct database lookup removes this problem for numbers.</a:t>
            </a:r>
          </a:p>
          <a:p>
            <a:pPr marL="285750" indent="-285750" algn="l">
              <a:lnSpc>
                <a:spcPct val="108000"/>
              </a:lnSpc>
              <a:spcBef>
                <a:spcPts val="0"/>
              </a:spcBef>
              <a:spcAft>
                <a:spcPts val="1600"/>
              </a:spcAft>
              <a:buFont typeface="Arial"/>
              <a:buChar char="•"/>
            </a:pPr>
            <a:r>
              <a:rPr sz="2400" b="0">
                <a:solidFill>
                  <a:srgbClr val="202020"/>
                </a:solidFill>
                <a:latin typeface="Calibri"/>
              </a:rPr>
              <a:t>The system worked on technology, automotive and banking filings.</a:t>
            </a:r>
          </a:p>
          <a:p>
            <a:pPr marL="285750" indent="-285750" algn="l">
              <a:lnSpc>
                <a:spcPct val="108000"/>
              </a:lnSpc>
              <a:spcBef>
                <a:spcPts val="0"/>
              </a:spcBef>
              <a:spcAft>
                <a:spcPts val="1600"/>
              </a:spcAft>
              <a:buFont typeface="Arial"/>
              <a:buChar char="•"/>
            </a:pPr>
            <a:r>
              <a:rPr sz="2400" b="0">
                <a:solidFill>
                  <a:srgbClr val="202020"/>
                </a:solidFill>
                <a:latin typeface="Calibri"/>
              </a:rPr>
              <a:t>Restatement checks must match exact period dates. Without that, one quarter was compared with a full year and gave a false 233% change.</a:t>
            </a:r>
          </a:p>
          <a:p>
            <a:pPr marL="285750" indent="-285750" algn="l">
              <a:lnSpc>
                <a:spcPct val="108000"/>
              </a:lnSpc>
              <a:spcBef>
                <a:spcPts val="0"/>
              </a:spcBef>
              <a:spcAft>
                <a:spcPts val="1600"/>
              </a:spcAft>
              <a:buFont typeface="Arial"/>
              <a:buChar char="•"/>
            </a:pPr>
            <a:r>
              <a:rPr sz="2400" b="0">
                <a:solidFill>
                  <a:srgbClr val="202020"/>
                </a:solidFill>
                <a:latin typeface="Calibri"/>
              </a:rPr>
              <a:t>Keyword routing alone was not enough. Risk questions that mentioned a finance word were wrongly sent to SQL until I added an override list.</a:t>
            </a:r>
          </a:p>
        </p:txBody>
      </p:sp>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0BF71-D1FA-5F44-7C58-9AEC2F73D15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797F84C-84D0-1106-D2F4-94372F58DEEF}"/>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Results: DuckDB vs Naive RAG</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E7550197-CEFB-8FE5-36F8-FE12A143AB03}"/>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1F7BEFA-0945-DC54-CB92-0760FEA3EF89}"/>
              </a:ext>
            </a:extLst>
          </p:cNvPr>
          <p:cNvSpPr txBox="1"/>
          <p:nvPr/>
        </p:nvSpPr>
        <p:spPr>
          <a:xfrm>
            <a:off x="8664315" y="57036"/>
            <a:ext cx="3527685" cy="369332"/>
          </a:xfrm>
          <a:prstGeom prst="rect">
            <a:avLst/>
          </a:prstGeom>
          <a:noFill/>
        </p:spPr>
        <p:txBody>
          <a:bodyPr wrap="square" rtlCol="0">
            <a:spAutoFit/>
          </a:bodyPr>
          <a:lstStyle/>
          <a:p>
            <a:pPr algn="ctr"/>
            <a:r>
              <a:rPr lang="en-IN" b="1" dirty="0">
                <a:solidFill>
                  <a:schemeClr val="bg1"/>
                </a:solidFill>
              </a:rPr>
              <a:t>SEC EDGAR Forensic Audit System</a:t>
            </a:r>
          </a:p>
        </p:txBody>
      </p:sp>
      <p:sp>
        <p:nvSpPr>
          <p:cNvPr id="6" name="TextBox 5"/>
          <p:cNvSpPr txBox="1"/>
          <p:nvPr/>
        </p:nvSpPr>
        <p:spPr>
          <a:xfrm>
            <a:off x="411480" y="1207008"/>
            <a:ext cx="10515600" cy="365760"/>
          </a:xfrm>
          <a:prstGeom prst="rect">
            <a:avLst/>
          </a:prstGeom>
          <a:noFill/>
        </p:spPr>
        <p:txBody>
          <a:bodyPr wrap="square" lIns="73152" tIns="36576" rIns="73152" bIns="36576" anchor="ctr">
            <a:spAutoFit/>
          </a:bodyPr>
          <a:lstStyle/>
          <a:p>
            <a:pPr algn="l"/>
            <a:r>
              <a:rPr sz="1600" b="1">
                <a:solidFill>
                  <a:srgbClr val="1F4E79"/>
                </a:solidFill>
                <a:latin typeface="Calibri"/>
              </a:rPr>
              <a:t>Same 7 test queries on Apple and Tesla filings (values in $ millions)</a:t>
            </a:r>
          </a:p>
        </p:txBody>
      </p:sp>
      <p:graphicFrame>
        <p:nvGraphicFramePr>
          <p:cNvPr id="7" name="Table 6"/>
          <p:cNvGraphicFramePr>
            <a:graphicFrameLocks noGrp="1"/>
          </p:cNvGraphicFramePr>
          <p:nvPr/>
        </p:nvGraphicFramePr>
        <p:xfrm>
          <a:off x="411480" y="1627632"/>
          <a:ext cx="6446520" cy="3657600"/>
        </p:xfrm>
        <a:graphic>
          <a:graphicData uri="http://schemas.openxmlformats.org/drawingml/2006/table">
            <a:tbl>
              <a:tblPr>
                <a:tableStyleId>{5C22544A-7EE6-4342-B048-85BDC9FD1C3A}</a:tableStyleId>
              </a:tblPr>
              <a:tblGrid>
                <a:gridCol w="251460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457200">
                <a:tc>
                  <a:txBody>
                    <a:bodyPr/>
                    <a:lstStyle/>
                    <a:p>
                      <a:pPr algn="l"/>
                      <a:r>
                        <a:rPr sz="1300" b="1">
                          <a:solidFill>
                            <a:srgbClr val="000000"/>
                          </a:solidFill>
                          <a:latin typeface="Calibri"/>
                        </a:rPr>
                        <a:t>Query</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25B9ED"/>
                    </a:solidFill>
                  </a:tcPr>
                </a:tc>
                <a:tc>
                  <a:txBody>
                    <a:bodyPr/>
                    <a:lstStyle/>
                    <a:p>
                      <a:pPr algn="r"/>
                      <a:r>
                        <a:rPr sz="1300" b="1">
                          <a:solidFill>
                            <a:srgbClr val="000000"/>
                          </a:solidFill>
                          <a:latin typeface="Calibri"/>
                        </a:rPr>
                        <a:t>10-K value</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25B9ED"/>
                    </a:solidFill>
                  </a:tcPr>
                </a:tc>
                <a:tc>
                  <a:txBody>
                    <a:bodyPr/>
                    <a:lstStyle/>
                    <a:p>
                      <a:pPr algn="r"/>
                      <a:r>
                        <a:rPr sz="1300" b="1">
                          <a:solidFill>
                            <a:srgbClr val="000000"/>
                          </a:solidFill>
                          <a:latin typeface="Calibri"/>
                        </a:rPr>
                        <a:t>DuckDB</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25B9ED"/>
                    </a:solidFill>
                  </a:tcPr>
                </a:tc>
                <a:tc>
                  <a:txBody>
                    <a:bodyPr/>
                    <a:lstStyle/>
                    <a:p>
                      <a:pPr algn="r"/>
                      <a:r>
                        <a:rPr sz="1300" b="1">
                          <a:solidFill>
                            <a:srgbClr val="000000"/>
                          </a:solidFill>
                          <a:latin typeface="Calibri"/>
                        </a:rPr>
                        <a:t>Naive RAG</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25B9ED"/>
                    </a:solidFill>
                  </a:tcPr>
                </a:tc>
                <a:extLst>
                  <a:ext uri="{0D108BD9-81ED-4DB2-BD59-A6C34878D82A}">
                    <a16:rowId xmlns:a16="http://schemas.microsoft.com/office/drawing/2014/main" val="10000"/>
                  </a:ext>
                </a:extLst>
              </a:tr>
              <a:tr h="457200">
                <a:tc>
                  <a:txBody>
                    <a:bodyPr/>
                    <a:lstStyle/>
                    <a:p>
                      <a:pPr algn="l"/>
                      <a:r>
                        <a:rPr sz="1300" b="1">
                          <a:solidFill>
                            <a:srgbClr val="202020"/>
                          </a:solidFill>
                          <a:latin typeface="Calibri"/>
                        </a:rPr>
                        <a:t>AAPL FY2024 revenue</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tc>
                  <a:txBody>
                    <a:bodyPr/>
                    <a:lstStyle/>
                    <a:p>
                      <a:pPr algn="r"/>
                      <a:r>
                        <a:rPr sz="1300" b="0">
                          <a:solidFill>
                            <a:srgbClr val="202020"/>
                          </a:solidFill>
                          <a:latin typeface="Calibri"/>
                        </a:rPr>
                        <a:t>391,035</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tc>
                  <a:txBody>
                    <a:bodyPr/>
                    <a:lstStyle/>
                    <a:p>
                      <a:pPr algn="r"/>
                      <a:r>
                        <a:rPr sz="1300" b="1">
                          <a:solidFill>
                            <a:srgbClr val="2E7D32"/>
                          </a:solidFill>
                          <a:latin typeface="Calibri"/>
                        </a:rPr>
                        <a:t>391,035</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tc>
                  <a:txBody>
                    <a:bodyPr/>
                    <a:lstStyle/>
                    <a:p>
                      <a:pPr algn="r"/>
                      <a:r>
                        <a:rPr sz="1300" b="1">
                          <a:solidFill>
                            <a:srgbClr val="C0392B"/>
                          </a:solidFill>
                          <a:latin typeface="Calibri"/>
                        </a:rPr>
                        <a:t>416,161</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extLst>
                  <a:ext uri="{0D108BD9-81ED-4DB2-BD59-A6C34878D82A}">
                    <a16:rowId xmlns:a16="http://schemas.microsoft.com/office/drawing/2014/main" val="10001"/>
                  </a:ext>
                </a:extLst>
              </a:tr>
              <a:tr h="457200">
                <a:tc>
                  <a:txBody>
                    <a:bodyPr/>
                    <a:lstStyle/>
                    <a:p>
                      <a:pPr algn="l"/>
                      <a:r>
                        <a:rPr sz="1300" b="1">
                          <a:solidFill>
                            <a:srgbClr val="202020"/>
                          </a:solidFill>
                          <a:latin typeface="Calibri"/>
                        </a:rPr>
                        <a:t>AAPL FY2023 revenue</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tc>
                  <a:txBody>
                    <a:bodyPr/>
                    <a:lstStyle/>
                    <a:p>
                      <a:pPr algn="r"/>
                      <a:r>
                        <a:rPr sz="1300" b="0">
                          <a:solidFill>
                            <a:srgbClr val="202020"/>
                          </a:solidFill>
                          <a:latin typeface="Calibri"/>
                        </a:rPr>
                        <a:t>383,285</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tc>
                  <a:txBody>
                    <a:bodyPr/>
                    <a:lstStyle/>
                    <a:p>
                      <a:pPr algn="r"/>
                      <a:r>
                        <a:rPr sz="1300" b="1">
                          <a:solidFill>
                            <a:srgbClr val="2E7D32"/>
                          </a:solidFill>
                          <a:latin typeface="Calibri"/>
                        </a:rPr>
                        <a:t>383,285</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tc>
                  <a:txBody>
                    <a:bodyPr/>
                    <a:lstStyle/>
                    <a:p>
                      <a:pPr algn="r"/>
                      <a:r>
                        <a:rPr sz="1300" b="1">
                          <a:solidFill>
                            <a:srgbClr val="C0392B"/>
                          </a:solidFill>
                          <a:latin typeface="Calibri"/>
                        </a:rPr>
                        <a:t>416,161</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extLst>
                  <a:ext uri="{0D108BD9-81ED-4DB2-BD59-A6C34878D82A}">
                    <a16:rowId xmlns:a16="http://schemas.microsoft.com/office/drawing/2014/main" val="10002"/>
                  </a:ext>
                </a:extLst>
              </a:tr>
              <a:tr h="457200">
                <a:tc>
                  <a:txBody>
                    <a:bodyPr/>
                    <a:lstStyle/>
                    <a:p>
                      <a:pPr algn="l"/>
                      <a:r>
                        <a:rPr sz="1300" b="1">
                          <a:solidFill>
                            <a:srgbClr val="202020"/>
                          </a:solidFill>
                          <a:latin typeface="Calibri"/>
                        </a:rPr>
                        <a:t>AAPL FY2024 net income</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tc>
                  <a:txBody>
                    <a:bodyPr/>
                    <a:lstStyle/>
                    <a:p>
                      <a:pPr algn="r"/>
                      <a:r>
                        <a:rPr sz="1300" b="0">
                          <a:solidFill>
                            <a:srgbClr val="202020"/>
                          </a:solidFill>
                          <a:latin typeface="Calibri"/>
                        </a:rPr>
                        <a:t>93,736</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tc>
                  <a:txBody>
                    <a:bodyPr/>
                    <a:lstStyle/>
                    <a:p>
                      <a:pPr algn="r"/>
                      <a:r>
                        <a:rPr sz="1300" b="1">
                          <a:solidFill>
                            <a:srgbClr val="2E7D32"/>
                          </a:solidFill>
                          <a:latin typeface="Calibri"/>
                        </a:rPr>
                        <a:t>93,736</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tc>
                  <a:txBody>
                    <a:bodyPr/>
                    <a:lstStyle/>
                    <a:p>
                      <a:pPr algn="r"/>
                      <a:r>
                        <a:rPr sz="1300" b="1">
                          <a:solidFill>
                            <a:srgbClr val="C0392B"/>
                          </a:solidFill>
                          <a:latin typeface="Calibri"/>
                        </a:rPr>
                        <a:t>112,010</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extLst>
                  <a:ext uri="{0D108BD9-81ED-4DB2-BD59-A6C34878D82A}">
                    <a16:rowId xmlns:a16="http://schemas.microsoft.com/office/drawing/2014/main" val="10003"/>
                  </a:ext>
                </a:extLst>
              </a:tr>
              <a:tr h="457200">
                <a:tc>
                  <a:txBody>
                    <a:bodyPr/>
                    <a:lstStyle/>
                    <a:p>
                      <a:pPr algn="l"/>
                      <a:r>
                        <a:rPr sz="1300" b="1">
                          <a:solidFill>
                            <a:srgbClr val="202020"/>
                          </a:solidFill>
                          <a:latin typeface="Calibri"/>
                        </a:rPr>
                        <a:t>AAPL FY2024 total assets</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tc>
                  <a:txBody>
                    <a:bodyPr/>
                    <a:lstStyle/>
                    <a:p>
                      <a:pPr algn="r"/>
                      <a:r>
                        <a:rPr sz="1300" b="0">
                          <a:solidFill>
                            <a:srgbClr val="202020"/>
                          </a:solidFill>
                          <a:latin typeface="Calibri"/>
                        </a:rPr>
                        <a:t>364,980</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tc>
                  <a:txBody>
                    <a:bodyPr/>
                    <a:lstStyle/>
                    <a:p>
                      <a:pPr algn="r"/>
                      <a:r>
                        <a:rPr sz="1300" b="1">
                          <a:solidFill>
                            <a:srgbClr val="2E7D32"/>
                          </a:solidFill>
                          <a:latin typeface="Calibri"/>
                        </a:rPr>
                        <a:t>364,980</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tc>
                  <a:txBody>
                    <a:bodyPr/>
                    <a:lstStyle/>
                    <a:p>
                      <a:pPr algn="r"/>
                      <a:r>
                        <a:rPr sz="1300" b="1">
                          <a:solidFill>
                            <a:srgbClr val="C0392B"/>
                          </a:solidFill>
                          <a:latin typeface="Calibri"/>
                        </a:rPr>
                        <a:t>27,337</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extLst>
                  <a:ext uri="{0D108BD9-81ED-4DB2-BD59-A6C34878D82A}">
                    <a16:rowId xmlns:a16="http://schemas.microsoft.com/office/drawing/2014/main" val="10004"/>
                  </a:ext>
                </a:extLst>
              </a:tr>
              <a:tr h="457200">
                <a:tc>
                  <a:txBody>
                    <a:bodyPr/>
                    <a:lstStyle/>
                    <a:p>
                      <a:pPr algn="l"/>
                      <a:r>
                        <a:rPr sz="1300" b="1">
                          <a:solidFill>
                            <a:srgbClr val="202020"/>
                          </a:solidFill>
                          <a:latin typeface="Calibri"/>
                        </a:rPr>
                        <a:t>AAPL FY2024 operating income</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tc>
                  <a:txBody>
                    <a:bodyPr/>
                    <a:lstStyle/>
                    <a:p>
                      <a:pPr algn="r"/>
                      <a:r>
                        <a:rPr sz="1300" b="0">
                          <a:solidFill>
                            <a:srgbClr val="202020"/>
                          </a:solidFill>
                          <a:latin typeface="Calibri"/>
                        </a:rPr>
                        <a:t>123,216</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tc>
                  <a:txBody>
                    <a:bodyPr/>
                    <a:lstStyle/>
                    <a:p>
                      <a:pPr algn="r"/>
                      <a:r>
                        <a:rPr sz="1300" b="1">
                          <a:solidFill>
                            <a:srgbClr val="2E7D32"/>
                          </a:solidFill>
                          <a:latin typeface="Calibri"/>
                        </a:rPr>
                        <a:t>123,216</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tc>
                  <a:txBody>
                    <a:bodyPr/>
                    <a:lstStyle/>
                    <a:p>
                      <a:pPr algn="r"/>
                      <a:r>
                        <a:rPr sz="1300" b="1">
                          <a:solidFill>
                            <a:srgbClr val="C0392B"/>
                          </a:solidFill>
                          <a:latin typeface="Calibri"/>
                        </a:rPr>
                        <a:t>112,010</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extLst>
                  <a:ext uri="{0D108BD9-81ED-4DB2-BD59-A6C34878D82A}">
                    <a16:rowId xmlns:a16="http://schemas.microsoft.com/office/drawing/2014/main" val="10005"/>
                  </a:ext>
                </a:extLst>
              </a:tr>
              <a:tr h="457200">
                <a:tc>
                  <a:txBody>
                    <a:bodyPr/>
                    <a:lstStyle/>
                    <a:p>
                      <a:pPr algn="l"/>
                      <a:r>
                        <a:rPr sz="1300" b="1">
                          <a:solidFill>
                            <a:srgbClr val="202020"/>
                          </a:solidFill>
                          <a:latin typeface="Calibri"/>
                        </a:rPr>
                        <a:t>TSLA FY2025 total assets</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tc>
                  <a:txBody>
                    <a:bodyPr/>
                    <a:lstStyle/>
                    <a:p>
                      <a:pPr algn="r"/>
                      <a:r>
                        <a:rPr sz="1300" b="0">
                          <a:solidFill>
                            <a:srgbClr val="202020"/>
                          </a:solidFill>
                          <a:latin typeface="Calibri"/>
                        </a:rPr>
                        <a:t>137,806</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tc>
                  <a:txBody>
                    <a:bodyPr/>
                    <a:lstStyle/>
                    <a:p>
                      <a:pPr algn="r"/>
                      <a:r>
                        <a:rPr sz="1300" b="1">
                          <a:solidFill>
                            <a:srgbClr val="2E7D32"/>
                          </a:solidFill>
                          <a:latin typeface="Calibri"/>
                        </a:rPr>
                        <a:t>137,806</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tc>
                  <a:txBody>
                    <a:bodyPr/>
                    <a:lstStyle/>
                    <a:p>
                      <a:pPr algn="r"/>
                      <a:r>
                        <a:rPr sz="1300" b="1">
                          <a:solidFill>
                            <a:srgbClr val="C0392B"/>
                          </a:solidFill>
                          <a:latin typeface="Calibri"/>
                        </a:rPr>
                        <a:t>150,000,000</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extLst>
                  <a:ext uri="{0D108BD9-81ED-4DB2-BD59-A6C34878D82A}">
                    <a16:rowId xmlns:a16="http://schemas.microsoft.com/office/drawing/2014/main" val="10006"/>
                  </a:ext>
                </a:extLst>
              </a:tr>
              <a:tr h="457200">
                <a:tc>
                  <a:txBody>
                    <a:bodyPr/>
                    <a:lstStyle/>
                    <a:p>
                      <a:pPr algn="l"/>
                      <a:r>
                        <a:rPr sz="1300" b="1">
                          <a:solidFill>
                            <a:srgbClr val="202020"/>
                          </a:solidFill>
                          <a:latin typeface="Calibri"/>
                        </a:rPr>
                        <a:t>TSLA FY2025 net income</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tc>
                  <a:txBody>
                    <a:bodyPr/>
                    <a:lstStyle/>
                    <a:p>
                      <a:pPr algn="r"/>
                      <a:r>
                        <a:rPr sz="1300" b="0">
                          <a:solidFill>
                            <a:srgbClr val="202020"/>
                          </a:solidFill>
                          <a:latin typeface="Calibri"/>
                        </a:rPr>
                        <a:t>3,794</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tc>
                  <a:txBody>
                    <a:bodyPr/>
                    <a:lstStyle/>
                    <a:p>
                      <a:pPr algn="r"/>
                      <a:r>
                        <a:rPr sz="1300" b="1">
                          <a:solidFill>
                            <a:srgbClr val="2E7D32"/>
                          </a:solidFill>
                          <a:latin typeface="Calibri"/>
                        </a:rPr>
                        <a:t>3,794</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tc>
                  <a:txBody>
                    <a:bodyPr/>
                    <a:lstStyle/>
                    <a:p>
                      <a:pPr algn="r"/>
                      <a:r>
                        <a:rPr sz="1300" b="1">
                          <a:solidFill>
                            <a:srgbClr val="C0392B"/>
                          </a:solidFill>
                          <a:latin typeface="Calibri"/>
                        </a:rPr>
                        <a:t>58</a:t>
                      </a:r>
                    </a:p>
                  </a:txBody>
                  <a:tcPr marL="73152" marR="73152" marT="27432" marB="27432"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8" name="TextBox 7"/>
          <p:cNvSpPr txBox="1"/>
          <p:nvPr/>
        </p:nvSpPr>
        <p:spPr>
          <a:xfrm>
            <a:off x="411480" y="5349240"/>
            <a:ext cx="6492240" cy="457200"/>
          </a:xfrm>
          <a:prstGeom prst="rect">
            <a:avLst/>
          </a:prstGeom>
          <a:noFill/>
        </p:spPr>
        <p:txBody>
          <a:bodyPr wrap="square" lIns="73152" tIns="36576" rIns="73152" bIns="36576" anchor="t">
            <a:spAutoFit/>
          </a:bodyPr>
          <a:lstStyle/>
          <a:p>
            <a:pPr algn="l"/>
            <a:r>
              <a:rPr sz="1200" b="0">
                <a:solidFill>
                  <a:srgbClr val="202020"/>
                </a:solidFill>
                <a:latin typeface="Calibri"/>
              </a:rPr>
              <a:t>Green = matches the 10-K. Red = wrong value. Naive RAG values are shown as extracted from the text.</a:t>
            </a:r>
          </a:p>
        </p:txBody>
      </p:sp>
      <p:graphicFrame>
        <p:nvGraphicFramePr>
          <p:cNvPr id="9" name="Chart 8"/>
          <p:cNvGraphicFramePr>
            <a:graphicFrameLocks noGrp="1"/>
          </p:cNvGraphicFramePr>
          <p:nvPr/>
        </p:nvGraphicFramePr>
        <p:xfrm>
          <a:off x="7178040" y="1627632"/>
          <a:ext cx="4114800" cy="36576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7053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97F84C-84D0-1106-D2F4-94372F58DEEF}"/>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Results: Other Checks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E7550197-CEFB-8FE5-36F8-FE12A143AB03}"/>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1F7BEFA-0945-DC54-CB92-0760FEA3EF89}"/>
              </a:ext>
            </a:extLst>
          </p:cNvPr>
          <p:cNvSpPr txBox="1"/>
          <p:nvPr/>
        </p:nvSpPr>
        <p:spPr>
          <a:xfrm>
            <a:off x="8664315" y="57036"/>
            <a:ext cx="3527685" cy="369332"/>
          </a:xfrm>
          <a:prstGeom prst="rect">
            <a:avLst/>
          </a:prstGeom>
          <a:noFill/>
        </p:spPr>
        <p:txBody>
          <a:bodyPr wrap="square" rtlCol="0">
            <a:spAutoFit/>
          </a:bodyPr>
          <a:lstStyle/>
          <a:p>
            <a:pPr algn="ctr"/>
            <a:r>
              <a:rPr lang="en-IN" b="1" dirty="0">
                <a:solidFill>
                  <a:schemeClr val="bg1"/>
                </a:solidFill>
              </a:rPr>
              <a:t>SEC EDGAR Forensic Audit System</a:t>
            </a:r>
          </a:p>
        </p:txBody>
      </p:sp>
      <p:sp>
        <p:nvSpPr>
          <p:cNvPr id="6" name="Rectangle 5"/>
          <p:cNvSpPr/>
          <p:nvPr/>
        </p:nvSpPr>
        <p:spPr>
          <a:xfrm>
            <a:off x="411480" y="1417320"/>
            <a:ext cx="2514600" cy="2286000"/>
          </a:xfrm>
          <a:prstGeom prst="rect">
            <a:avLst/>
          </a:prstGeom>
          <a:solidFill>
            <a:srgbClr val="EAF6FD"/>
          </a:solidFill>
          <a:ln w="19050">
            <a:solidFill>
              <a:srgbClr val="25B9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1600200"/>
            <a:ext cx="2514600" cy="822960"/>
          </a:xfrm>
          <a:prstGeom prst="rect">
            <a:avLst/>
          </a:prstGeom>
          <a:noFill/>
        </p:spPr>
        <p:txBody>
          <a:bodyPr wrap="square" lIns="73152" tIns="36576" rIns="73152" bIns="36576" anchor="ctr">
            <a:spAutoFit/>
          </a:bodyPr>
          <a:lstStyle/>
          <a:p>
            <a:pPr algn="ctr"/>
            <a:r>
              <a:rPr sz="3600" b="1">
                <a:solidFill>
                  <a:srgbClr val="1F4E79"/>
                </a:solidFill>
                <a:latin typeface="Calibri"/>
              </a:rPr>
              <a:t>72,183</a:t>
            </a:r>
          </a:p>
        </p:txBody>
      </p:sp>
      <p:sp>
        <p:nvSpPr>
          <p:cNvPr id="8" name="TextBox 7"/>
          <p:cNvSpPr txBox="1"/>
          <p:nvPr/>
        </p:nvSpPr>
        <p:spPr>
          <a:xfrm>
            <a:off x="457200" y="2468880"/>
            <a:ext cx="2423160" cy="1143000"/>
          </a:xfrm>
          <a:prstGeom prst="rect">
            <a:avLst/>
          </a:prstGeom>
          <a:noFill/>
        </p:spPr>
        <p:txBody>
          <a:bodyPr wrap="square" lIns="73152" tIns="36576" rIns="73152" bIns="36576" anchor="t">
            <a:spAutoFit/>
          </a:bodyPr>
          <a:lstStyle/>
          <a:p>
            <a:pPr algn="ctr"/>
            <a:r>
              <a:rPr sz="1700" b="0">
                <a:solidFill>
                  <a:srgbClr val="202020"/>
                </a:solidFill>
                <a:latin typeface="Calibri"/>
              </a:rPr>
              <a:t>facts stored from Apple, Tesla and JPMorgan filings</a:t>
            </a:r>
          </a:p>
        </p:txBody>
      </p:sp>
      <p:sp>
        <p:nvSpPr>
          <p:cNvPr id="9" name="Rectangle 8"/>
          <p:cNvSpPr/>
          <p:nvPr/>
        </p:nvSpPr>
        <p:spPr>
          <a:xfrm>
            <a:off x="3108960" y="1417320"/>
            <a:ext cx="2514600" cy="2286000"/>
          </a:xfrm>
          <a:prstGeom prst="rect">
            <a:avLst/>
          </a:prstGeom>
          <a:solidFill>
            <a:srgbClr val="EAF6FD"/>
          </a:solidFill>
          <a:ln w="19050">
            <a:solidFill>
              <a:srgbClr val="25B9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108960" y="1600200"/>
            <a:ext cx="2514600" cy="822960"/>
          </a:xfrm>
          <a:prstGeom prst="rect">
            <a:avLst/>
          </a:prstGeom>
          <a:noFill/>
        </p:spPr>
        <p:txBody>
          <a:bodyPr wrap="square" lIns="73152" tIns="36576" rIns="73152" bIns="36576" anchor="ctr">
            <a:spAutoFit/>
          </a:bodyPr>
          <a:lstStyle/>
          <a:p>
            <a:pPr algn="ctr"/>
            <a:r>
              <a:rPr sz="3600" b="1">
                <a:solidFill>
                  <a:srgbClr val="1F4E79"/>
                </a:solidFill>
                <a:latin typeface="Calibri"/>
              </a:rPr>
              <a:t>$177,556M</a:t>
            </a:r>
          </a:p>
        </p:txBody>
      </p:sp>
      <p:sp>
        <p:nvSpPr>
          <p:cNvPr id="11" name="TextBox 10"/>
          <p:cNvSpPr txBox="1"/>
          <p:nvPr/>
        </p:nvSpPr>
        <p:spPr>
          <a:xfrm>
            <a:off x="3154680" y="2468880"/>
            <a:ext cx="2423160" cy="1143000"/>
          </a:xfrm>
          <a:prstGeom prst="rect">
            <a:avLst/>
          </a:prstGeom>
          <a:noFill/>
        </p:spPr>
        <p:txBody>
          <a:bodyPr wrap="square" lIns="73152" tIns="36576" rIns="73152" bIns="36576" anchor="t">
            <a:spAutoFit/>
          </a:bodyPr>
          <a:lstStyle/>
          <a:p>
            <a:pPr algn="ctr"/>
            <a:r>
              <a:rPr sz="1700" b="0">
                <a:solidFill>
                  <a:srgbClr val="202020"/>
                </a:solidFill>
                <a:latin typeface="Calibri"/>
              </a:rPr>
              <a:t>JPMorgan FY2024 revenue, same as in its 10-K</a:t>
            </a:r>
          </a:p>
        </p:txBody>
      </p:sp>
      <p:sp>
        <p:nvSpPr>
          <p:cNvPr id="12" name="Rectangle 11"/>
          <p:cNvSpPr/>
          <p:nvPr/>
        </p:nvSpPr>
        <p:spPr>
          <a:xfrm>
            <a:off x="5806440" y="1417320"/>
            <a:ext cx="2514600" cy="2286000"/>
          </a:xfrm>
          <a:prstGeom prst="rect">
            <a:avLst/>
          </a:prstGeom>
          <a:solidFill>
            <a:srgbClr val="EAF6FD"/>
          </a:solidFill>
          <a:ln w="19050">
            <a:solidFill>
              <a:srgbClr val="25B9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806440" y="1600200"/>
            <a:ext cx="2514600" cy="822960"/>
          </a:xfrm>
          <a:prstGeom prst="rect">
            <a:avLst/>
          </a:prstGeom>
          <a:noFill/>
        </p:spPr>
        <p:txBody>
          <a:bodyPr wrap="square" lIns="73152" tIns="36576" rIns="73152" bIns="36576" anchor="ctr">
            <a:spAutoFit/>
          </a:bodyPr>
          <a:lstStyle/>
          <a:p>
            <a:pPr algn="ctr"/>
            <a:r>
              <a:rPr sz="3600" b="1">
                <a:solidFill>
                  <a:srgbClr val="1F4E79"/>
                </a:solidFill>
                <a:latin typeface="Calibri"/>
              </a:rPr>
              <a:t>42</a:t>
            </a:r>
          </a:p>
        </p:txBody>
      </p:sp>
      <p:sp>
        <p:nvSpPr>
          <p:cNvPr id="14" name="TextBox 13"/>
          <p:cNvSpPr txBox="1"/>
          <p:nvPr/>
        </p:nvSpPr>
        <p:spPr>
          <a:xfrm>
            <a:off x="5852160" y="2468880"/>
            <a:ext cx="2423160" cy="1143000"/>
          </a:xfrm>
          <a:prstGeom prst="rect">
            <a:avLst/>
          </a:prstGeom>
          <a:noFill/>
        </p:spPr>
        <p:txBody>
          <a:bodyPr wrap="square" lIns="73152" tIns="36576" rIns="73152" bIns="36576" anchor="t">
            <a:spAutoFit/>
          </a:bodyPr>
          <a:lstStyle/>
          <a:p>
            <a:pPr algn="ctr"/>
            <a:r>
              <a:rPr sz="1700" b="0">
                <a:solidFill>
                  <a:srgbClr val="202020"/>
                </a:solidFill>
                <a:latin typeface="Calibri"/>
              </a:rPr>
              <a:t>automated tests passed, with 0 type-check errors</a:t>
            </a:r>
          </a:p>
        </p:txBody>
      </p:sp>
      <p:sp>
        <p:nvSpPr>
          <p:cNvPr id="15" name="Rectangle 14"/>
          <p:cNvSpPr/>
          <p:nvPr/>
        </p:nvSpPr>
        <p:spPr>
          <a:xfrm>
            <a:off x="8503920" y="1417320"/>
            <a:ext cx="2514600" cy="2286000"/>
          </a:xfrm>
          <a:prstGeom prst="rect">
            <a:avLst/>
          </a:prstGeom>
          <a:solidFill>
            <a:srgbClr val="EAF6FD"/>
          </a:solidFill>
          <a:ln w="19050">
            <a:solidFill>
              <a:srgbClr val="25B9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03920" y="1600200"/>
            <a:ext cx="2514600" cy="822960"/>
          </a:xfrm>
          <a:prstGeom prst="rect">
            <a:avLst/>
          </a:prstGeom>
          <a:noFill/>
        </p:spPr>
        <p:txBody>
          <a:bodyPr wrap="square" lIns="73152" tIns="36576" rIns="73152" bIns="36576" anchor="ctr">
            <a:spAutoFit/>
          </a:bodyPr>
          <a:lstStyle/>
          <a:p>
            <a:pPr algn="ctr"/>
            <a:r>
              <a:rPr sz="3600" b="1">
                <a:solidFill>
                  <a:srgbClr val="1F4E79"/>
                </a:solidFill>
                <a:latin typeface="Calibri"/>
              </a:rPr>
              <a:t>0</a:t>
            </a:r>
          </a:p>
        </p:txBody>
      </p:sp>
      <p:sp>
        <p:nvSpPr>
          <p:cNvPr id="17" name="TextBox 16"/>
          <p:cNvSpPr txBox="1"/>
          <p:nvPr/>
        </p:nvSpPr>
        <p:spPr>
          <a:xfrm>
            <a:off x="8549640" y="2468880"/>
            <a:ext cx="2423160" cy="1143000"/>
          </a:xfrm>
          <a:prstGeom prst="rect">
            <a:avLst/>
          </a:prstGeom>
          <a:noFill/>
        </p:spPr>
        <p:txBody>
          <a:bodyPr wrap="square" lIns="73152" tIns="36576" rIns="73152" bIns="36576" anchor="t">
            <a:spAutoFit/>
          </a:bodyPr>
          <a:lstStyle/>
          <a:p>
            <a:pPr algn="ctr"/>
            <a:r>
              <a:rPr sz="1700" b="0">
                <a:solidFill>
                  <a:srgbClr val="202020"/>
                </a:solidFill>
                <a:latin typeface="Calibri"/>
              </a:rPr>
              <a:t>false restatements for Tesla 2023 revenue after exact period matching</a:t>
            </a:r>
          </a:p>
        </p:txBody>
      </p:sp>
      <p:sp>
        <p:nvSpPr>
          <p:cNvPr id="18" name="Rectangle 17"/>
          <p:cNvSpPr/>
          <p:nvPr/>
        </p:nvSpPr>
        <p:spPr>
          <a:xfrm>
            <a:off x="411480" y="4023360"/>
            <a:ext cx="10607040" cy="1005840"/>
          </a:xfrm>
          <a:prstGeom prst="rect">
            <a:avLst/>
          </a:prstGeom>
          <a:solidFill>
            <a:srgbClr val="FFFFFF"/>
          </a:solidFill>
          <a:ln w="22225">
            <a:solidFill>
              <a:srgbClr val="70AD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4069080"/>
            <a:ext cx="10332720" cy="914400"/>
          </a:xfrm>
          <a:prstGeom prst="rect">
            <a:avLst/>
          </a:prstGeom>
          <a:noFill/>
        </p:spPr>
        <p:txBody>
          <a:bodyPr wrap="square" lIns="73152" tIns="36576" rIns="73152" bIns="36576" anchor="ctr">
            <a:spAutoFit/>
          </a:bodyPr>
          <a:lstStyle/>
          <a:p>
            <a:pPr algn="ctr"/>
            <a:r>
              <a:rPr sz="1800" b="1">
                <a:solidFill>
                  <a:srgbClr val="1F4E79"/>
                </a:solidFill>
                <a:latin typeface="Calibri"/>
              </a:rPr>
              <a:t>Gemini verifier</a:t>
            </a:r>
          </a:p>
          <a:p>
            <a:pPr algn="ctr"/>
            <a:r>
              <a:rPr sz="1800" b="0">
                <a:solidFill>
                  <a:srgbClr val="202020"/>
                </a:solidFill>
                <a:latin typeface="Calibri"/>
              </a:rPr>
              <a:t>Flagged a contradiction between MD&amp;A and footnotes, with a written explanation.</a:t>
            </a:r>
          </a:p>
        </p:txBody>
      </p:sp>
      <p:sp>
        <p:nvSpPr>
          <p:cNvPr id="20" name="TextBox 19"/>
          <p:cNvSpPr txBox="1"/>
          <p:nvPr/>
        </p:nvSpPr>
        <p:spPr>
          <a:xfrm>
            <a:off x="411480" y="5257800"/>
            <a:ext cx="10607040" cy="548640"/>
          </a:xfrm>
          <a:prstGeom prst="rect">
            <a:avLst/>
          </a:prstGeom>
          <a:noFill/>
        </p:spPr>
        <p:txBody>
          <a:bodyPr wrap="square" lIns="73152" tIns="36576" rIns="73152" bIns="36576" anchor="t">
            <a:spAutoFit/>
          </a:bodyPr>
          <a:lstStyle/>
          <a:p>
            <a:pPr algn="l"/>
            <a:r>
              <a:rPr sz="1700" b="0">
                <a:solidFill>
                  <a:srgbClr val="202020"/>
                </a:solidFill>
                <a:latin typeface="Calibri"/>
              </a:rPr>
              <a:t>Industries covered: technology (Apple), automotive (Tesla) and banking (JPMorgan).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5BBC5-46B5-0DF4-A2AC-5289D295735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7872131-A6C0-4ECF-9994-EA002B6EAD86}"/>
              </a:ext>
            </a:extLst>
          </p:cNvPr>
          <p:cNvSpPr>
            <a:spLocks noGrp="1"/>
          </p:cNvSpPr>
          <p:nvPr>
            <p:ph type="body" sz="quarter" idx="13"/>
          </p:nvPr>
        </p:nvSpPr>
        <p:spPr>
          <a:xfrm>
            <a:off x="256032" y="1325880"/>
            <a:ext cx="11155680" cy="4480560"/>
          </a:xfrm>
        </p:spPr>
        <p:txBody>
          <a:bodyPr wrap="square" anchor="t">
            <a:noAutofit/>
          </a:bodyPr>
          <a:lstStyle/>
          <a:p>
            <a:pPr marL="285750" indent="-285750" algn="l">
              <a:lnSpc>
                <a:spcPct val="108000"/>
              </a:lnSpc>
              <a:spcBef>
                <a:spcPts val="0"/>
              </a:spcBef>
              <a:spcAft>
                <a:spcPts val="1200"/>
              </a:spcAft>
              <a:buFont typeface="Arial"/>
              <a:buChar char="•"/>
            </a:pPr>
            <a:r>
              <a:rPr sz="2200" b="0">
                <a:solidFill>
                  <a:srgbClr val="202020"/>
                </a:solidFill>
                <a:latin typeface="Calibri"/>
              </a:rPr>
              <a:t>The SEC Forensic Audit System shows that splitting numbers and text into two tracks works.</a:t>
            </a:r>
          </a:p>
          <a:p>
            <a:pPr marL="285750" indent="-285750" algn="l">
              <a:lnSpc>
                <a:spcPct val="108000"/>
              </a:lnSpc>
              <a:spcBef>
                <a:spcPts val="0"/>
              </a:spcBef>
              <a:spcAft>
                <a:spcPts val="1200"/>
              </a:spcAft>
              <a:buFont typeface="Arial"/>
              <a:buChar char="•"/>
            </a:pPr>
            <a:r>
              <a:rPr sz="2200" b="0">
                <a:solidFill>
                  <a:srgbClr val="202020"/>
                </a:solidFill>
                <a:latin typeface="Calibri"/>
              </a:rPr>
              <a:t>Exact figures come from a SQL database built on XBRL data, so the AI never has to guess them.</a:t>
            </a:r>
          </a:p>
          <a:p>
            <a:pPr marL="285750" indent="-285750" algn="l">
              <a:lnSpc>
                <a:spcPct val="108000"/>
              </a:lnSpc>
              <a:spcBef>
                <a:spcPts val="0"/>
              </a:spcBef>
              <a:spcAft>
                <a:spcPts val="1200"/>
              </a:spcAft>
              <a:buFont typeface="Arial"/>
              <a:buChar char="•"/>
            </a:pPr>
            <a:r>
              <a:rPr sz="2200" b="0">
                <a:solidFill>
                  <a:srgbClr val="202020"/>
                </a:solidFill>
                <a:latin typeface="Calibri"/>
              </a:rPr>
              <a:t>In testing, this gave 7 of 7 correct answers, while the naive RAG baseline got 0 of 7 on the same queries.</a:t>
            </a:r>
          </a:p>
          <a:p>
            <a:pPr marL="285750" indent="-285750" algn="l">
              <a:lnSpc>
                <a:spcPct val="108000"/>
              </a:lnSpc>
              <a:spcBef>
                <a:spcPts val="0"/>
              </a:spcBef>
              <a:spcAft>
                <a:spcPts val="1200"/>
              </a:spcAft>
              <a:buFont typeface="Arial"/>
              <a:buChar char="•"/>
            </a:pPr>
            <a:r>
              <a:rPr sz="2200" b="0">
                <a:solidFill>
                  <a:srgbClr val="202020"/>
                </a:solidFill>
                <a:latin typeface="Calibri"/>
              </a:rPr>
              <a:t>Report text is searched with hybrid retrieval, and an LLM checks management's claims against the footnotes.</a:t>
            </a:r>
          </a:p>
          <a:p>
            <a:pPr marL="285750" indent="-285750" algn="l">
              <a:lnSpc>
                <a:spcPct val="108000"/>
              </a:lnSpc>
              <a:spcBef>
                <a:spcPts val="0"/>
              </a:spcBef>
              <a:spcAft>
                <a:spcPts val="1200"/>
              </a:spcAft>
              <a:buFont typeface="Arial"/>
              <a:buChar char="•"/>
            </a:pPr>
            <a:r>
              <a:rPr sz="2200" b="0">
                <a:solidFill>
                  <a:srgbClr val="202020"/>
                </a:solidFill>
                <a:latin typeface="Calibri"/>
              </a:rPr>
              <a:t>This helps analysts find possible hidden risks faster, with a source for every answer.</a:t>
            </a:r>
          </a:p>
          <a:p>
            <a:pPr marL="285750" indent="-285750" algn="l">
              <a:lnSpc>
                <a:spcPct val="108000"/>
              </a:lnSpc>
              <a:spcBef>
                <a:spcPts val="0"/>
              </a:spcBef>
              <a:spcAft>
                <a:spcPts val="1200"/>
              </a:spcAft>
              <a:buFont typeface="Arial"/>
              <a:buChar char="•"/>
            </a:pPr>
            <a:r>
              <a:rPr sz="2200" b="0">
                <a:solidFill>
                  <a:srgbClr val="202020"/>
                </a:solidFill>
                <a:latin typeface="Calibri"/>
              </a:rPr>
              <a:t>This is a working prototype, tested on three companies and a small query set. It has not yet been reviewed by a financial expert.</a:t>
            </a:r>
          </a:p>
        </p:txBody>
      </p:sp>
      <p:sp>
        <p:nvSpPr>
          <p:cNvPr id="3" name="TextBox 2">
            <a:extLst>
              <a:ext uri="{FF2B5EF4-FFF2-40B4-BE49-F238E27FC236}">
                <a16:creationId xmlns:a16="http://schemas.microsoft.com/office/drawing/2014/main" id="{DBEA9949-295E-B2C7-8E3A-639B0AD48F51}"/>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Conclusion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C3477A6-BED1-8211-5527-9030F1E8694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B5AC1E1-8B68-1019-1B7A-0CF7BDC8B3EC}"/>
              </a:ext>
            </a:extLst>
          </p:cNvPr>
          <p:cNvSpPr txBox="1"/>
          <p:nvPr/>
        </p:nvSpPr>
        <p:spPr>
          <a:xfrm>
            <a:off x="8739266" y="57036"/>
            <a:ext cx="3452734" cy="369332"/>
          </a:xfrm>
          <a:prstGeom prst="rect">
            <a:avLst/>
          </a:prstGeom>
          <a:noFill/>
        </p:spPr>
        <p:txBody>
          <a:bodyPr wrap="square" rtlCol="0">
            <a:spAutoFit/>
          </a:bodyPr>
          <a:lstStyle/>
          <a:p>
            <a:pPr algn="ctr"/>
            <a:r>
              <a:rPr lang="en-IN" b="1" dirty="0">
                <a:solidFill>
                  <a:schemeClr val="bg1"/>
                </a:solidFill>
              </a:rPr>
              <a:t>SEC EDGAR Forensic Audit System</a:t>
            </a:r>
          </a:p>
        </p:txBody>
      </p:sp>
    </p:spTree>
    <p:extLst>
      <p:ext uri="{BB962C8B-B14F-4D97-AF65-F5344CB8AC3E}">
        <p14:creationId xmlns:p14="http://schemas.microsoft.com/office/powerpoint/2010/main" val="2198371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730E3-7BE9-3214-CF48-E41EE1B6E3F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F675624-38FF-0D57-E648-CD4278AE5112}"/>
              </a:ext>
            </a:extLst>
          </p:cNvPr>
          <p:cNvSpPr txBox="1"/>
          <p:nvPr/>
        </p:nvSpPr>
        <p:spPr>
          <a:xfrm>
            <a:off x="255996" y="502545"/>
            <a:ext cx="10624338" cy="646331"/>
          </a:xfrm>
          <a:prstGeom prst="rect">
            <a:avLst/>
          </a:prstGeom>
          <a:noFill/>
        </p:spPr>
        <p:txBody>
          <a:bodyPr wrap="square" rtlCol="0">
            <a:spAutoFit/>
          </a:bodyPr>
          <a:lstStyle/>
          <a:p>
            <a:pPr lvl="0">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Future</a:t>
            </a:r>
            <a:r>
              <a:rPr lang="en-US" sz="3600" b="1" dirty="0">
                <a:solidFill>
                  <a:srgbClr val="5B9BD5">
                    <a:lumMod val="50000"/>
                  </a:srgbClr>
                </a:solidFill>
                <a:latin typeface="Calibri" panose="020F0502020204030204"/>
              </a:rPr>
              <a:t> Scope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0F50D939-6F8A-9753-E41E-804894B4279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F014030-219C-1B60-E0F6-790E041D82C7}"/>
              </a:ext>
            </a:extLst>
          </p:cNvPr>
          <p:cNvSpPr txBox="1"/>
          <p:nvPr/>
        </p:nvSpPr>
        <p:spPr>
          <a:xfrm>
            <a:off x="8574374" y="57036"/>
            <a:ext cx="3617626" cy="369332"/>
          </a:xfrm>
          <a:prstGeom prst="rect">
            <a:avLst/>
          </a:prstGeom>
          <a:noFill/>
        </p:spPr>
        <p:txBody>
          <a:bodyPr wrap="square" rtlCol="0">
            <a:spAutoFit/>
          </a:bodyPr>
          <a:lstStyle/>
          <a:p>
            <a:pPr algn="ctr"/>
            <a:r>
              <a:rPr lang="en-IN" b="1" dirty="0">
                <a:solidFill>
                  <a:schemeClr val="bg1"/>
                </a:solidFill>
              </a:rPr>
              <a:t>SEC EDGAR Forensic Audit System</a:t>
            </a:r>
          </a:p>
        </p:txBody>
      </p:sp>
      <p:sp>
        <p:nvSpPr>
          <p:cNvPr id="8" name="Rectangle 3">
            <a:extLst>
              <a:ext uri="{FF2B5EF4-FFF2-40B4-BE49-F238E27FC236}">
                <a16:creationId xmlns:a16="http://schemas.microsoft.com/office/drawing/2014/main" id="{DE22CAC0-D8EF-F945-C0D7-1ABEEF9000DD}"/>
              </a:ext>
            </a:extLst>
          </p:cNvPr>
          <p:cNvSpPr>
            <a:spLocks noGrp="1" noChangeArrowheads="1"/>
          </p:cNvSpPr>
          <p:nvPr>
            <p:ph type="body" sz="quarter" idx="13"/>
          </p:nvPr>
        </p:nvSpPr>
        <p:spPr bwMode="auto">
          <a:xfrm>
            <a:off x="256032" y="1280160"/>
            <a:ext cx="11155680" cy="3017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Autofit/>
          </a:bodyPr>
          <a:lstStyle/>
          <a:p>
            <a:pPr marL="285750" lvl="0" indent="-285750" algn="l">
              <a:lnSpc>
                <a:spcPct val="108000"/>
              </a:lnSpc>
              <a:spcBef>
                <a:spcPts val="0"/>
              </a:spcBef>
              <a:spcAft>
                <a:spcPts val="700"/>
              </a:spcAft>
              <a:buFont typeface="Arial"/>
              <a:buChar char="•"/>
            </a:pPr>
            <a:r>
              <a:rPr sz="1900" b="1">
                <a:solidFill>
                  <a:srgbClr val="1F4E79"/>
                </a:solidFill>
                <a:latin typeface="Calibri"/>
              </a:rPr>
              <a:t>Extend to SEBI IPO review. </a:t>
            </a:r>
            <a:r>
              <a:rPr sz="1900" b="0">
                <a:solidFill>
                  <a:srgbClr val="202020"/>
                </a:solidFill>
                <a:latin typeface="Calibri"/>
              </a:rPr>
              <a:t>Companies launching an IPO in India must submit long documents, such as the Draft Red Herring Prospectus (DRHP), and a SEBI analyst has to read them to understand the company.</a:t>
            </a:r>
          </a:p>
          <a:p>
            <a:pPr marL="285750" indent="-285750" algn="l">
              <a:lnSpc>
                <a:spcPct val="108000"/>
              </a:lnSpc>
              <a:spcBef>
                <a:spcPts val="0"/>
              </a:spcBef>
              <a:spcAft>
                <a:spcPts val="700"/>
              </a:spcAft>
              <a:buFont typeface="Arial"/>
              <a:buChar char="•"/>
            </a:pPr>
            <a:r>
              <a:rPr sz="1900" b="1">
                <a:solidFill>
                  <a:srgbClr val="1F4E79"/>
                </a:solidFill>
                <a:latin typeface="Calibri"/>
              </a:rPr>
              <a:t>Manual PDF upload. </a:t>
            </a:r>
            <a:r>
              <a:rPr sz="1900" b="0">
                <a:solidFill>
                  <a:srgbClr val="202020"/>
                </a:solidFill>
                <a:latin typeface="Calibri"/>
              </a:rPr>
              <a:t>The analyst uploads the document and the system pulls out the key information: financials, risk factors, litigation and promoter details.</a:t>
            </a:r>
          </a:p>
          <a:p>
            <a:pPr marL="285750" indent="-285750" algn="l">
              <a:lnSpc>
                <a:spcPct val="108000"/>
              </a:lnSpc>
              <a:spcBef>
                <a:spcPts val="0"/>
              </a:spcBef>
              <a:spcAft>
                <a:spcPts val="700"/>
              </a:spcAft>
              <a:buFont typeface="Arial"/>
              <a:buChar char="•"/>
            </a:pPr>
            <a:r>
              <a:rPr sz="1900" b="1">
                <a:solidFill>
                  <a:srgbClr val="1F4E79"/>
                </a:solidFill>
                <a:latin typeface="Calibri"/>
              </a:rPr>
              <a:t>Claim check. </a:t>
            </a:r>
            <a:r>
              <a:rPr sz="1900" b="0">
                <a:solidFill>
                  <a:srgbClr val="202020"/>
                </a:solidFill>
                <a:latin typeface="Calibri"/>
              </a:rPr>
              <a:t>It would also compare management's claims with the disclosures in the same document, as it does now for 10-K and 10-Q filings, with a source page for every finding.</a:t>
            </a:r>
          </a:p>
        </p:txBody>
      </p:sp>
      <p:sp>
        <p:nvSpPr>
          <p:cNvPr id="9" name="TextBox 8"/>
          <p:cNvSpPr txBox="1"/>
          <p:nvPr/>
        </p:nvSpPr>
        <p:spPr>
          <a:xfrm>
            <a:off x="411480" y="3977639"/>
            <a:ext cx="10607040" cy="365760"/>
          </a:xfrm>
          <a:prstGeom prst="rect">
            <a:avLst/>
          </a:prstGeom>
          <a:noFill/>
        </p:spPr>
        <p:txBody>
          <a:bodyPr wrap="square" lIns="73152" tIns="36576" rIns="73152" bIns="36576" anchor="ctr">
            <a:spAutoFit/>
          </a:bodyPr>
          <a:lstStyle/>
          <a:p>
            <a:pPr algn="l"/>
            <a:r>
              <a:rPr sz="1600" b="1">
                <a:solidFill>
                  <a:srgbClr val="1F4E79"/>
                </a:solidFill>
                <a:latin typeface="Calibri"/>
              </a:rPr>
              <a:t>Possible SEBI IPO workflow</a:t>
            </a:r>
          </a:p>
        </p:txBody>
      </p:sp>
      <p:sp>
        <p:nvSpPr>
          <p:cNvPr id="10" name="Rectangle 9"/>
          <p:cNvSpPr/>
          <p:nvPr/>
        </p:nvSpPr>
        <p:spPr>
          <a:xfrm>
            <a:off x="411480" y="4389120"/>
            <a:ext cx="1920240" cy="1188720"/>
          </a:xfrm>
          <a:prstGeom prst="rect">
            <a:avLst/>
          </a:prstGeom>
          <a:solidFill>
            <a:srgbClr val="FFFFFF"/>
          </a:solidFill>
          <a:ln w="22225">
            <a:solidFill>
              <a:srgbClr val="70AD4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000000"/>
                </a:solidFill>
                <a:latin typeface="Calibri"/>
              </a:rPr>
              <a:t>Upload</a:t>
            </a:r>
          </a:p>
          <a:p>
            <a:pPr algn="ctr"/>
            <a:r>
              <a:rPr sz="1200" b="0">
                <a:solidFill>
                  <a:srgbClr val="202020"/>
                </a:solidFill>
                <a:latin typeface="Calibri"/>
              </a:rPr>
              <a:t>IPO document (DRHP PDF)</a:t>
            </a:r>
          </a:p>
        </p:txBody>
      </p:sp>
      <p:cxnSp>
        <p:nvCxnSpPr>
          <p:cNvPr id="11" name="Connector 10"/>
          <p:cNvCxnSpPr/>
          <p:nvPr/>
        </p:nvCxnSpPr>
        <p:spPr>
          <a:xfrm>
            <a:off x="2331720" y="4983480"/>
            <a:ext cx="251460" cy="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2583180" y="4389120"/>
            <a:ext cx="1920240" cy="1188720"/>
          </a:xfrm>
          <a:prstGeom prst="rect">
            <a:avLst/>
          </a:prstGeom>
          <a:solidFill>
            <a:srgbClr val="FFFFFF"/>
          </a:solidFill>
          <a:ln w="22225">
            <a:solidFill>
              <a:srgbClr val="70AD4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000000"/>
                </a:solidFill>
                <a:latin typeface="Calibri"/>
              </a:rPr>
              <a:t>Extract</a:t>
            </a:r>
          </a:p>
          <a:p>
            <a:pPr algn="ctr"/>
            <a:r>
              <a:rPr sz="1200" b="0">
                <a:solidFill>
                  <a:srgbClr val="202020"/>
                </a:solidFill>
                <a:latin typeface="Calibri"/>
              </a:rPr>
              <a:t>Text and tables from the PDF</a:t>
            </a:r>
          </a:p>
        </p:txBody>
      </p:sp>
      <p:cxnSp>
        <p:nvCxnSpPr>
          <p:cNvPr id="13" name="Connector 12"/>
          <p:cNvCxnSpPr/>
          <p:nvPr/>
        </p:nvCxnSpPr>
        <p:spPr>
          <a:xfrm>
            <a:off x="4503420" y="4983480"/>
            <a:ext cx="251460" cy="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754880" y="4389120"/>
            <a:ext cx="1920240" cy="1188720"/>
          </a:xfrm>
          <a:prstGeom prst="rect">
            <a:avLst/>
          </a:prstGeom>
          <a:solidFill>
            <a:srgbClr val="FFFFFF"/>
          </a:solidFill>
          <a:ln w="22225">
            <a:solidFill>
              <a:srgbClr val="70AD4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000000"/>
                </a:solidFill>
                <a:latin typeface="Calibri"/>
              </a:rPr>
              <a:t>Pull key info</a:t>
            </a:r>
          </a:p>
          <a:p>
            <a:pPr algn="ctr"/>
            <a:r>
              <a:rPr sz="1200" b="0">
                <a:solidFill>
                  <a:srgbClr val="202020"/>
                </a:solidFill>
                <a:latin typeface="Calibri"/>
              </a:rPr>
              <a:t>Financials, risk factors, litigation, promoters</a:t>
            </a:r>
          </a:p>
        </p:txBody>
      </p:sp>
      <p:cxnSp>
        <p:nvCxnSpPr>
          <p:cNvPr id="15" name="Connector 14"/>
          <p:cNvCxnSpPr/>
          <p:nvPr/>
        </p:nvCxnSpPr>
        <p:spPr>
          <a:xfrm>
            <a:off x="6675120" y="4983480"/>
            <a:ext cx="251460" cy="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6926580" y="4389120"/>
            <a:ext cx="1920240" cy="1188720"/>
          </a:xfrm>
          <a:prstGeom prst="rect">
            <a:avLst/>
          </a:prstGeom>
          <a:solidFill>
            <a:srgbClr val="FFFFFF"/>
          </a:solidFill>
          <a:ln w="22225">
            <a:solidFill>
              <a:srgbClr val="70AD4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000000"/>
                </a:solidFill>
                <a:latin typeface="Calibri"/>
              </a:rPr>
              <a:t>Compare</a:t>
            </a:r>
          </a:p>
          <a:p>
            <a:pPr algn="ctr"/>
            <a:r>
              <a:rPr sz="1200" b="0">
                <a:solidFill>
                  <a:srgbClr val="202020"/>
                </a:solidFill>
                <a:latin typeface="Calibri"/>
              </a:rPr>
              <a:t>Management claims vs disclosures</a:t>
            </a:r>
          </a:p>
        </p:txBody>
      </p:sp>
      <p:cxnSp>
        <p:nvCxnSpPr>
          <p:cNvPr id="17" name="Connector 16"/>
          <p:cNvCxnSpPr/>
          <p:nvPr/>
        </p:nvCxnSpPr>
        <p:spPr>
          <a:xfrm>
            <a:off x="8846820" y="4983480"/>
            <a:ext cx="251460" cy="0"/>
          </a:xfrm>
          <a:prstGeom prst="line">
            <a:avLst/>
          </a:prstGeom>
          <a:ln w="190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9098280" y="4389120"/>
            <a:ext cx="1920240" cy="1188720"/>
          </a:xfrm>
          <a:prstGeom prst="rect">
            <a:avLst/>
          </a:prstGeom>
          <a:solidFill>
            <a:srgbClr val="FFFFFF"/>
          </a:solidFill>
          <a:ln w="22225">
            <a:solidFill>
              <a:srgbClr val="70AD4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000000"/>
                </a:solidFill>
                <a:latin typeface="Calibri"/>
              </a:rPr>
              <a:t>Findings</a:t>
            </a:r>
          </a:p>
          <a:p>
            <a:pPr algn="ctr"/>
            <a:r>
              <a:rPr sz="1200" b="0">
                <a:solidFill>
                  <a:srgbClr val="202020"/>
                </a:solidFill>
                <a:latin typeface="Calibri"/>
              </a:rPr>
              <a:t>With the source page</a:t>
            </a:r>
          </a:p>
        </p:txBody>
      </p:sp>
    </p:spTree>
    <p:extLst>
      <p:ext uri="{BB962C8B-B14F-4D97-AF65-F5344CB8AC3E}">
        <p14:creationId xmlns:p14="http://schemas.microsoft.com/office/powerpoint/2010/main" val="157405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C1BA9-EED8-0553-15DB-7AC5ADC07E0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1E11D5E-73A6-DACE-A314-51CBCF3D39FA}"/>
              </a:ext>
            </a:extLst>
          </p:cNvPr>
          <p:cNvSpPr>
            <a:spLocks noGrp="1"/>
          </p:cNvSpPr>
          <p:nvPr>
            <p:ph type="body" sz="quarter" idx="13"/>
          </p:nvPr>
        </p:nvSpPr>
        <p:spPr>
          <a:xfrm>
            <a:off x="256032" y="1325880"/>
            <a:ext cx="11155680" cy="4480560"/>
          </a:xfrm>
        </p:spPr>
        <p:txBody>
          <a:bodyPr wrap="square" anchor="t">
            <a:noAutofit/>
          </a:bodyPr>
          <a:lstStyle/>
          <a:p>
            <a:pPr marL="285750" indent="-285750" algn="l">
              <a:lnSpc>
                <a:spcPct val="108000"/>
              </a:lnSpc>
              <a:spcBef>
                <a:spcPts val="0"/>
              </a:spcBef>
              <a:spcAft>
                <a:spcPts val="900"/>
              </a:spcAft>
              <a:buFont typeface="Arial"/>
              <a:buChar char="•"/>
            </a:pPr>
            <a:r>
              <a:rPr sz="1800" b="0" dirty="0">
                <a:solidFill>
                  <a:srgbClr val="202020"/>
                </a:solidFill>
                <a:latin typeface="Calibri"/>
              </a:rPr>
              <a:t>Financial Report Chunking for Effective Retrieval Augmented Generation. arXiv:2402.05131.</a:t>
            </a:r>
            <a:endParaRPr lang="en-US" sz="2400" b="0" dirty="0">
              <a:solidFill>
                <a:srgbClr val="5583D1"/>
              </a:solidFill>
            </a:endParaRPr>
          </a:p>
          <a:p>
            <a:pPr marL="285750" indent="-285750" algn="l">
              <a:lnSpc>
                <a:spcPct val="108000"/>
              </a:lnSpc>
              <a:spcBef>
                <a:spcPts val="0"/>
              </a:spcBef>
              <a:spcAft>
                <a:spcPts val="900"/>
              </a:spcAft>
              <a:buFont typeface="Arial"/>
              <a:buChar char="•"/>
            </a:pPr>
            <a:r>
              <a:rPr sz="1800" b="0" dirty="0">
                <a:solidFill>
                  <a:srgbClr val="202020"/>
                </a:solidFill>
                <a:latin typeface="Calibri"/>
              </a:rPr>
              <a:t>Empirical Evaluation of PDF Parsing and Chunking for Financial Question Answering with RAG. arXiv:2604.12047.</a:t>
            </a:r>
          </a:p>
          <a:p>
            <a:pPr marL="285750" indent="-285750" algn="l">
              <a:lnSpc>
                <a:spcPct val="108000"/>
              </a:lnSpc>
              <a:spcBef>
                <a:spcPts val="0"/>
              </a:spcBef>
              <a:spcAft>
                <a:spcPts val="900"/>
              </a:spcAft>
              <a:buFont typeface="Arial"/>
              <a:buChar char="•"/>
            </a:pPr>
            <a:r>
              <a:rPr sz="1800" b="0" dirty="0" err="1">
                <a:solidFill>
                  <a:srgbClr val="202020"/>
                </a:solidFill>
                <a:latin typeface="Calibri"/>
              </a:rPr>
              <a:t>FinTagging</a:t>
            </a:r>
            <a:r>
              <a:rPr sz="1800" b="0" dirty="0">
                <a:solidFill>
                  <a:srgbClr val="202020"/>
                </a:solidFill>
                <a:latin typeface="Calibri"/>
              </a:rPr>
              <a:t>: Benchmarking LLMs for Extracting and Structuring Financial Information. arXiv:2505.20650.</a:t>
            </a:r>
          </a:p>
          <a:p>
            <a:pPr marL="285750" indent="-285750" algn="l">
              <a:lnSpc>
                <a:spcPct val="108000"/>
              </a:lnSpc>
              <a:spcBef>
                <a:spcPts val="0"/>
              </a:spcBef>
              <a:spcAft>
                <a:spcPts val="900"/>
              </a:spcAft>
              <a:buFont typeface="Arial"/>
              <a:buChar char="•"/>
            </a:pPr>
            <a:r>
              <a:rPr sz="1800" b="0" dirty="0">
                <a:solidFill>
                  <a:srgbClr val="202020"/>
                </a:solidFill>
                <a:latin typeface="Calibri"/>
              </a:rPr>
              <a:t>K-</a:t>
            </a:r>
            <a:r>
              <a:rPr sz="1800" b="0" dirty="0" err="1">
                <a:solidFill>
                  <a:srgbClr val="202020"/>
                </a:solidFill>
                <a:latin typeface="Calibri"/>
              </a:rPr>
              <a:t>FinHallu</a:t>
            </a:r>
            <a:r>
              <a:rPr sz="1800" b="0" dirty="0">
                <a:solidFill>
                  <a:srgbClr val="202020"/>
                </a:solidFill>
                <a:latin typeface="Calibri"/>
              </a:rPr>
              <a:t>: A Hallucination Detection Benchmark for Multi-Turn RAG in Korean Finance. arXiv:2605.29523.</a:t>
            </a:r>
          </a:p>
          <a:p>
            <a:pPr marL="285750" indent="-285750" algn="l">
              <a:lnSpc>
                <a:spcPct val="108000"/>
              </a:lnSpc>
              <a:spcBef>
                <a:spcPts val="0"/>
              </a:spcBef>
              <a:spcAft>
                <a:spcPts val="900"/>
              </a:spcAft>
              <a:buFont typeface="Arial"/>
              <a:buChar char="•"/>
            </a:pPr>
            <a:r>
              <a:rPr sz="1800" b="0" dirty="0" err="1">
                <a:solidFill>
                  <a:srgbClr val="202020"/>
                </a:solidFill>
                <a:latin typeface="Calibri"/>
              </a:rPr>
              <a:t>MimirRAG</a:t>
            </a:r>
            <a:r>
              <a:rPr sz="1800" b="0" dirty="0">
                <a:solidFill>
                  <a:srgbClr val="202020"/>
                </a:solidFill>
                <a:latin typeface="Calibri"/>
              </a:rPr>
              <a:t>: A Multi-Agent RAG Framework for Financial Data Retrieval with Metadata Integration. arXiv:2605.25030.</a:t>
            </a:r>
          </a:p>
          <a:p>
            <a:pPr marL="285750" indent="-285750" algn="l">
              <a:lnSpc>
                <a:spcPct val="108000"/>
              </a:lnSpc>
              <a:spcBef>
                <a:spcPts val="0"/>
              </a:spcBef>
              <a:spcAft>
                <a:spcPts val="900"/>
              </a:spcAft>
              <a:buFont typeface="Arial"/>
              <a:buChar char="•"/>
            </a:pPr>
            <a:r>
              <a:rPr sz="1800" b="0" dirty="0">
                <a:solidFill>
                  <a:srgbClr val="202020"/>
                </a:solidFill>
                <a:latin typeface="Calibri"/>
              </a:rPr>
              <a:t>Red Hat Developer. Stop chunking tables: How we built an agentic </a:t>
            </a:r>
            <a:r>
              <a:rPr sz="1800" b="0" dirty="0" err="1">
                <a:solidFill>
                  <a:srgbClr val="202020"/>
                </a:solidFill>
                <a:latin typeface="Calibri"/>
              </a:rPr>
              <a:t>GraphRAG</a:t>
            </a:r>
            <a:r>
              <a:rPr sz="1800" b="0" dirty="0">
                <a:solidFill>
                  <a:srgbClr val="202020"/>
                </a:solidFill>
                <a:latin typeface="Calibri"/>
              </a:rPr>
              <a:t> for financial disclosures with </a:t>
            </a:r>
            <a:r>
              <a:rPr sz="1800" b="0" dirty="0" err="1">
                <a:solidFill>
                  <a:srgbClr val="202020"/>
                </a:solidFill>
                <a:latin typeface="Calibri"/>
              </a:rPr>
              <a:t>Docling</a:t>
            </a:r>
            <a:r>
              <a:rPr sz="1800" b="0" dirty="0">
                <a:solidFill>
                  <a:srgbClr val="202020"/>
                </a:solidFill>
                <a:latin typeface="Calibri"/>
              </a:rPr>
              <a:t>. July 2026.</a:t>
            </a:r>
          </a:p>
          <a:p>
            <a:pPr marL="285750" indent="-285750" algn="l">
              <a:lnSpc>
                <a:spcPct val="108000"/>
              </a:lnSpc>
              <a:spcBef>
                <a:spcPts val="0"/>
              </a:spcBef>
              <a:spcAft>
                <a:spcPts val="900"/>
              </a:spcAft>
              <a:buFont typeface="Arial"/>
              <a:buChar char="•"/>
            </a:pPr>
            <a:r>
              <a:rPr sz="1800" b="0" dirty="0">
                <a:solidFill>
                  <a:srgbClr val="202020"/>
                </a:solidFill>
                <a:latin typeface="Calibri"/>
              </a:rPr>
              <a:t>U.S. Securities and Exchange Commission. EDGAR database. https://www.sec.gov/edgar</a:t>
            </a:r>
          </a:p>
          <a:p>
            <a:pPr marL="285750" indent="-285750" algn="l">
              <a:lnSpc>
                <a:spcPct val="108000"/>
              </a:lnSpc>
              <a:spcBef>
                <a:spcPts val="0"/>
              </a:spcBef>
              <a:spcAft>
                <a:spcPts val="900"/>
              </a:spcAft>
              <a:buFont typeface="Arial"/>
              <a:buChar char="•"/>
            </a:pPr>
            <a:r>
              <a:rPr sz="1800" b="0" dirty="0" err="1">
                <a:solidFill>
                  <a:srgbClr val="202020"/>
                </a:solidFill>
                <a:latin typeface="Calibri"/>
              </a:rPr>
              <a:t>DuckDB</a:t>
            </a:r>
            <a:r>
              <a:rPr sz="1800" b="0" dirty="0">
                <a:solidFill>
                  <a:srgbClr val="202020"/>
                </a:solidFill>
                <a:latin typeface="Calibri"/>
              </a:rPr>
              <a:t> documentation. https://duckdb.org/docs</a:t>
            </a:r>
          </a:p>
        </p:txBody>
      </p:sp>
      <p:sp>
        <p:nvSpPr>
          <p:cNvPr id="3" name="TextBox 2">
            <a:extLst>
              <a:ext uri="{FF2B5EF4-FFF2-40B4-BE49-F238E27FC236}">
                <a16:creationId xmlns:a16="http://schemas.microsoft.com/office/drawing/2014/main" id="{776CD0F3-77A2-E482-9F59-462941CA9EFC}"/>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References</a:t>
            </a:r>
          </a:p>
        </p:txBody>
      </p:sp>
      <p:cxnSp>
        <p:nvCxnSpPr>
          <p:cNvPr id="5" name="Straight Connector 4">
            <a:extLst>
              <a:ext uri="{FF2B5EF4-FFF2-40B4-BE49-F238E27FC236}">
                <a16:creationId xmlns:a16="http://schemas.microsoft.com/office/drawing/2014/main" id="{0EF328B9-B5B2-A4C8-C436-49616B481A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9E96C34-B06E-814D-72EC-EF1F6BBFAAF7}"/>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SEC EDGAR Forensic Audit System</a:t>
            </a:r>
          </a:p>
          <a:p>
            <a:pPr algn="r"/>
            <a:endParaRPr lang="en-US" dirty="0"/>
          </a:p>
        </p:txBody>
      </p:sp>
    </p:spTree>
    <p:extLst>
      <p:ext uri="{BB962C8B-B14F-4D97-AF65-F5344CB8AC3E}">
        <p14:creationId xmlns:p14="http://schemas.microsoft.com/office/powerpoint/2010/main" val="1659890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391</TotalTime>
  <Words>1614</Words>
  <Application>Microsoft Office PowerPoint</Application>
  <PresentationFormat>Widescreen</PresentationFormat>
  <Paragraphs>195</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(Body)</vt:lpstr>
      <vt:lpstr>Frutiger 45 bold</vt:lpstr>
      <vt:lpstr>Frutiger LT Pro 45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Kishan Patel</cp:lastModifiedBy>
  <cp:revision>18</cp:revision>
  <dcterms:created xsi:type="dcterms:W3CDTF">2024-05-13T10:33:11Z</dcterms:created>
  <dcterms:modified xsi:type="dcterms:W3CDTF">2026-10-12T04:42:06Z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