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4" r:id="rId5"/>
    <p:sldId id="2147470495" r:id="rId6"/>
    <p:sldId id="2147470496" r:id="rId7"/>
    <p:sldId id="214747049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10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7246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Project Title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algn="ctr"/>
            <a:r>
              <a:rPr lang="en-IN" sz="3600" b="1" dirty="0">
                <a:solidFill>
                  <a:schemeClr val="bg1"/>
                </a:solidFill>
              </a:rPr>
              <a:t>SEC EDGAR Forensic Audit System</a:t>
            </a:r>
          </a:p>
          <a:p>
            <a:pPr algn="ctr"/>
            <a:r>
              <a:rPr lang="en-IN" sz="3600" dirty="0">
                <a:solidFill>
                  <a:schemeClr val="bg1"/>
                </a:solidFill>
              </a:rPr>
              <a:t>A Dual-Pipeline Architecture for Zero-Hallucination Financial Auditing</a:t>
            </a:r>
          </a:p>
          <a:p>
            <a:pPr algn="ct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Name: Kishan Patel</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62094"/>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0624338" cy="4516836"/>
          </a:xfrm>
        </p:spPr>
        <p:txBody>
          <a:bodyPr/>
          <a:lstStyle/>
          <a:p>
            <a:pPr algn="just">
              <a:lnSpc>
                <a:spcPct val="100000"/>
              </a:lnSpc>
            </a:pPr>
            <a:r>
              <a:rPr lang="en-US" sz="2400" b="0" dirty="0">
                <a:solidFill>
                  <a:schemeClr val="tx1"/>
                </a:solidFill>
                <a:latin typeface="Calibri(Body)"/>
              </a:rPr>
              <a:t>Public companies like Apple, Tesla, and JPMorgan must file detailed financial reports (10-K, 10-Q) with the SEC every quarter and year — often running 100 to 300+ pages of tables, summaries, and legal fine print, which investors and analysts rely on for major decisions despite the hours it takes to read manually.</a:t>
            </a:r>
          </a:p>
          <a:p>
            <a:pPr algn="just">
              <a:lnSpc>
                <a:spcPct val="100000"/>
              </a:lnSpc>
            </a:pPr>
            <a:r>
              <a:rPr lang="en-US" sz="2400" b="0" dirty="0">
                <a:solidFill>
                  <a:schemeClr val="tx1"/>
                </a:solidFill>
                <a:latin typeface="Calibri(Body)"/>
              </a:rPr>
              <a:t>AI chatbots are increasingly used to speed this up, but they have two big problems: they often get financial numbers wrong when reading complex tables, and they tend to miss hidden risks buried in the fine print, picking up only the cheerful executive summary instead.</a:t>
            </a:r>
          </a:p>
          <a:p>
            <a:pPr algn="just">
              <a:lnSpc>
                <a:spcPct val="100000"/>
              </a:lnSpc>
            </a:pPr>
            <a:r>
              <a:rPr lang="en-US" sz="2400" b="0" dirty="0">
                <a:solidFill>
                  <a:schemeClr val="tx1"/>
                </a:solidFill>
                <a:latin typeface="Calibri(Body)"/>
              </a:rPr>
              <a:t>This project builds a smarter system that pulls numbers accurately every time and actively cross-checks what a company says against what it admits in the fine print turning a slow, error-prone manual process into something fast and trustworthy.</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8784236" y="57036"/>
            <a:ext cx="3407764" cy="369332"/>
          </a:xfrm>
          <a:prstGeom prst="rect">
            <a:avLst/>
          </a:prstGeom>
          <a:noFill/>
        </p:spPr>
        <p:txBody>
          <a:bodyPr wrap="square" rtlCol="0">
            <a:spAutoFit/>
          </a:bodyPr>
          <a:lstStyle/>
          <a:p>
            <a:pPr algn="ctr"/>
            <a:r>
              <a:rPr lang="en-IN" b="1" dirty="0">
                <a:solidFill>
                  <a:schemeClr val="bg1"/>
                </a:solidFill>
              </a:rPr>
              <a:t>SEC EDGAR Forensic Audit System</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algn="just"/>
            <a:r>
              <a:rPr lang="en-US" b="0" dirty="0">
                <a:solidFill>
                  <a:schemeClr val="tx1"/>
                </a:solidFill>
                <a:latin typeface="Calibri(Body)"/>
              </a:rPr>
              <a:t>Build a reliable AI system that reads SEC financial filings and answers questions accurately pulling exact numbers instead of letting AI guess from tables, and tracking figures across multiple filings to catch when a company quietly changes a previously reported number.</a:t>
            </a:r>
          </a:p>
          <a:p>
            <a:pPr algn="just"/>
            <a:r>
              <a:rPr lang="en-US" b="0" dirty="0">
                <a:solidFill>
                  <a:schemeClr val="tx1"/>
                </a:solidFill>
                <a:latin typeface="Calibri(Body)"/>
              </a:rPr>
              <a:t>Automatically compare a company's optimistic executive summary against its footnote disclosures to flag hidden risks or contradictions, and prove the system actually works through real, verifiable testing rather than just claiming it does.</a:t>
            </a:r>
            <a:endParaRPr lang="en-US" b="0" dirty="0">
              <a:solidFill>
                <a:schemeClr val="tx1"/>
              </a:solidFill>
              <a:effectLst/>
              <a:latin typeface="Calibri(Body)"/>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8169639" y="57036"/>
            <a:ext cx="4022361" cy="369332"/>
          </a:xfrm>
          <a:prstGeom prst="rect">
            <a:avLst/>
          </a:prstGeom>
          <a:noFill/>
        </p:spPr>
        <p:txBody>
          <a:bodyPr wrap="square" rtlCol="0">
            <a:spAutoFit/>
          </a:bodyPr>
          <a:lstStyle/>
          <a:p>
            <a:pPr algn="ctr"/>
            <a:r>
              <a:rPr lang="en-IN" b="1" dirty="0">
                <a:solidFill>
                  <a:schemeClr val="bg1"/>
                </a:solidFill>
              </a:rPr>
              <a:t>SEC EDGAR Forensic Audit System</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142989"/>
          </a:xfrm>
        </p:spPr>
        <p:txBody>
          <a:bodyPr/>
          <a:lstStyle/>
          <a:p>
            <a:pPr algn="just">
              <a:lnSpc>
                <a:spcPct val="100000"/>
              </a:lnSpc>
            </a:pPr>
            <a:r>
              <a:rPr lang="en-US" b="0" dirty="0">
                <a:solidFill>
                  <a:schemeClr val="tx1"/>
                </a:solidFill>
                <a:latin typeface="Calibri(Body)"/>
              </a:rPr>
              <a:t>Covers analysis of SEC filings (10-K and 10-Q) for a set of public companies across different industries technology, automotive, and banking to ensure the system works across varied reporting styles.</a:t>
            </a:r>
          </a:p>
          <a:p>
            <a:pPr algn="just">
              <a:lnSpc>
                <a:spcPct val="100000"/>
              </a:lnSpc>
            </a:pPr>
            <a:r>
              <a:rPr lang="en-US" b="0" dirty="0">
                <a:solidFill>
                  <a:schemeClr val="tx1"/>
                </a:solidFill>
                <a:latin typeface="Calibri(Body)"/>
              </a:rPr>
              <a:t>Focuses on three core capabilities: accurate numeric lookup, narrative/risk-factor search, and contradiction detection between executive summaries and footnotes.</a:t>
            </a:r>
          </a:p>
          <a:p>
            <a:pPr algn="just">
              <a:lnSpc>
                <a:spcPct val="100000"/>
              </a:lnSpc>
            </a:pPr>
            <a:r>
              <a:rPr lang="en-US" b="0" dirty="0">
                <a:solidFill>
                  <a:schemeClr val="tx1"/>
                </a:solidFill>
                <a:latin typeface="Calibri(Body)"/>
              </a:rPr>
              <a:t>Delivered as a working prototype with an interactive dashboard, intended for research and analyst assistance not as a certified financial advisory tool or a production-scale commercial product.</a:t>
            </a: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8784236" y="57036"/>
            <a:ext cx="3407764" cy="369332"/>
          </a:xfrm>
          <a:prstGeom prst="rect">
            <a:avLst/>
          </a:prstGeom>
          <a:noFill/>
        </p:spPr>
        <p:txBody>
          <a:bodyPr wrap="square" rtlCol="0">
            <a:spAutoFit/>
          </a:bodyPr>
          <a:lstStyle/>
          <a:p>
            <a:pPr algn="ctr"/>
            <a:r>
              <a:rPr lang="en-IN" b="1" dirty="0">
                <a:solidFill>
                  <a:schemeClr val="bg1"/>
                </a:solidFill>
              </a:rPr>
              <a:t>SEC EDGAR Forensic Audit System</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433ECB-8EAD-0AB5-1D66-62BCF658AA2C}"/>
              </a:ext>
            </a:extLst>
          </p:cNvPr>
          <p:cNvSpPr>
            <a:spLocks noGrp="1"/>
          </p:cNvSpPr>
          <p:nvPr>
            <p:ph type="body" sz="quarter" idx="13"/>
          </p:nvPr>
        </p:nvSpPr>
        <p:spPr>
          <a:xfrm>
            <a:off x="255995" y="1271219"/>
            <a:ext cx="11593497" cy="5016459"/>
          </a:xfrm>
        </p:spPr>
        <p:txBody>
          <a:bodyPr/>
          <a:lstStyle/>
          <a:p>
            <a:pPr marL="0" indent="0" algn="just">
              <a:lnSpc>
                <a:spcPct val="150000"/>
              </a:lnSpc>
              <a:buNone/>
            </a:pPr>
            <a:r>
              <a:rPr lang="en-US" dirty="0">
                <a:solidFill>
                  <a:schemeClr val="tx1"/>
                </a:solidFill>
                <a:latin typeface="Calibri(Body)"/>
              </a:rPr>
              <a:t>Source</a:t>
            </a:r>
            <a:r>
              <a:rPr lang="en-US" b="0" dirty="0">
                <a:solidFill>
                  <a:schemeClr val="tx1"/>
                </a:solidFill>
                <a:latin typeface="Calibri(Body)"/>
              </a:rPr>
              <a:t>: U.S. SEC EDGAR (Electronic Data Gathering, Analysis, and Retrieval system) the official, free, public database where all U.S. publicly traded companies are legally required to file their financial reports</a:t>
            </a:r>
            <a:r>
              <a:rPr lang="en-US" b="0" dirty="0">
                <a:latin typeface="Calibri(Body)"/>
              </a:rPr>
              <a:t>..</a:t>
            </a:r>
          </a:p>
          <a:p>
            <a:pPr algn="just"/>
            <a:r>
              <a:rPr lang="en-US" b="0" dirty="0">
                <a:solidFill>
                  <a:schemeClr val="tx1"/>
                </a:solidFill>
                <a:latin typeface="Calibri(Body)"/>
              </a:rPr>
              <a:t>Two types of data were collected for each company: </a:t>
            </a:r>
          </a:p>
          <a:p>
            <a:pPr lvl="1" algn="just"/>
            <a:r>
              <a:rPr lang="en-US" sz="2800" b="1" dirty="0">
                <a:latin typeface="Calibri(Body)"/>
              </a:rPr>
              <a:t>XBRL Financial Facts </a:t>
            </a:r>
            <a:r>
              <a:rPr lang="en-US" sz="2800" dirty="0">
                <a:latin typeface="Calibri(Body)"/>
              </a:rPr>
              <a:t>(structured, machine-readable JSON) :exact numbers like revenue, net income, and assets, already tagged by the company itself in a standardized format.</a:t>
            </a:r>
          </a:p>
          <a:p>
            <a:pPr lvl="1" algn="just"/>
            <a:r>
              <a:rPr lang="en-US" sz="2800" b="1" dirty="0">
                <a:latin typeface="Calibri(Body)"/>
              </a:rPr>
              <a:t>Raw Filing Documents </a:t>
            </a:r>
            <a:r>
              <a:rPr lang="en-US" sz="2800" dirty="0">
                <a:latin typeface="Calibri(Body)"/>
              </a:rPr>
              <a:t>(HTML) : the full text of the report, later split into sections like the executive summary, footnotes, and risk factors.</a:t>
            </a:r>
          </a:p>
          <a:p>
            <a:pPr marL="0" indent="0" algn="just">
              <a:lnSpc>
                <a:spcPct val="150000"/>
              </a:lnSpc>
              <a:buNone/>
            </a:pPr>
            <a:endParaRPr lang="en-US" b="0" dirty="0">
              <a:solidFill>
                <a:srgbClr val="5583D1"/>
              </a:solidFill>
              <a:latin typeface="Calibri(Body)"/>
            </a:endParaRPr>
          </a:p>
        </p:txBody>
      </p:sp>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err="1">
                <a:ln>
                  <a:noFill/>
                </a:ln>
                <a:solidFill>
                  <a:srgbClr val="5B9BD5">
                    <a:lumMod val="50000"/>
                  </a:srgbClr>
                </a:solidFill>
                <a:effectLst/>
                <a:uLnTx/>
                <a:uFillTx/>
                <a:latin typeface="Calibri" panose="020F0502020204030204"/>
                <a:ea typeface="+mn-ea"/>
                <a:cs typeface="+mn-cs"/>
              </a:rPr>
              <a:t>DataSet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4F4041-8131-3536-FDDF-513CA3ABA637}"/>
              </a:ext>
            </a:extLst>
          </p:cNvPr>
          <p:cNvSpPr txBox="1"/>
          <p:nvPr/>
        </p:nvSpPr>
        <p:spPr>
          <a:xfrm>
            <a:off x="8649325" y="57036"/>
            <a:ext cx="3542675" cy="369332"/>
          </a:xfrm>
          <a:prstGeom prst="rect">
            <a:avLst/>
          </a:prstGeom>
          <a:noFill/>
        </p:spPr>
        <p:txBody>
          <a:bodyPr wrap="square" rtlCol="0">
            <a:spAutoFit/>
          </a:bodyPr>
          <a:lstStyle/>
          <a:p>
            <a:pPr algn="ctr"/>
            <a:r>
              <a:rPr lang="en-IN" b="1" dirty="0">
                <a:solidFill>
                  <a:schemeClr val="bg1"/>
                </a:solidFill>
              </a:rPr>
              <a:t>SEC EDGAR Forensic Audit System</a:t>
            </a:r>
          </a:p>
        </p:txBody>
      </p:sp>
    </p:spTree>
    <p:extLst>
      <p:ext uri="{BB962C8B-B14F-4D97-AF65-F5344CB8AC3E}">
        <p14:creationId xmlns:p14="http://schemas.microsoft.com/office/powerpoint/2010/main" val="86076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Technical Stack</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ADF6DB-6CFE-DDC5-997C-E84EE1A9470D}"/>
              </a:ext>
            </a:extLst>
          </p:cNvPr>
          <p:cNvSpPr txBox="1"/>
          <p:nvPr/>
        </p:nvSpPr>
        <p:spPr>
          <a:xfrm>
            <a:off x="8529403" y="57036"/>
            <a:ext cx="3662597" cy="369332"/>
          </a:xfrm>
          <a:prstGeom prst="rect">
            <a:avLst/>
          </a:prstGeom>
          <a:noFill/>
        </p:spPr>
        <p:txBody>
          <a:bodyPr wrap="square" rtlCol="0">
            <a:spAutoFit/>
          </a:bodyPr>
          <a:lstStyle/>
          <a:p>
            <a:pPr algn="ctr"/>
            <a:r>
              <a:rPr lang="en-IN" b="1" dirty="0">
                <a:solidFill>
                  <a:schemeClr val="bg1"/>
                </a:solidFill>
              </a:rPr>
              <a:t>SEC EDGAR Forensic Audit System</a:t>
            </a:r>
          </a:p>
        </p:txBody>
      </p:sp>
      <p:graphicFrame>
        <p:nvGraphicFramePr>
          <p:cNvPr id="6" name="Table 5">
            <a:extLst>
              <a:ext uri="{FF2B5EF4-FFF2-40B4-BE49-F238E27FC236}">
                <a16:creationId xmlns:a16="http://schemas.microsoft.com/office/drawing/2014/main" id="{FEE94DEB-7425-C317-F5E8-2DFB1C51D280}"/>
              </a:ext>
            </a:extLst>
          </p:cNvPr>
          <p:cNvGraphicFramePr>
            <a:graphicFrameLocks noGrp="1"/>
          </p:cNvGraphicFramePr>
          <p:nvPr>
            <p:extLst>
              <p:ext uri="{D42A27DB-BD31-4B8C-83A1-F6EECF244321}">
                <p14:modId xmlns:p14="http://schemas.microsoft.com/office/powerpoint/2010/main" val="3633347295"/>
              </p:ext>
            </p:extLst>
          </p:nvPr>
        </p:nvGraphicFramePr>
        <p:xfrm>
          <a:off x="1313322" y="1321413"/>
          <a:ext cx="8292591" cy="5103062"/>
        </p:xfrm>
        <a:graphic>
          <a:graphicData uri="http://schemas.openxmlformats.org/drawingml/2006/table">
            <a:tbl>
              <a:tblPr>
                <a:tableStyleId>{2D5ABB26-0587-4C30-8999-92F81FD0307C}</a:tableStyleId>
              </a:tblPr>
              <a:tblGrid>
                <a:gridCol w="1420452">
                  <a:extLst>
                    <a:ext uri="{9D8B030D-6E8A-4147-A177-3AD203B41FA5}">
                      <a16:colId xmlns:a16="http://schemas.microsoft.com/office/drawing/2014/main" val="1387061293"/>
                    </a:ext>
                  </a:extLst>
                </a:gridCol>
                <a:gridCol w="2488676">
                  <a:extLst>
                    <a:ext uri="{9D8B030D-6E8A-4147-A177-3AD203B41FA5}">
                      <a16:colId xmlns:a16="http://schemas.microsoft.com/office/drawing/2014/main" val="3006909893"/>
                    </a:ext>
                  </a:extLst>
                </a:gridCol>
                <a:gridCol w="4383463">
                  <a:extLst>
                    <a:ext uri="{9D8B030D-6E8A-4147-A177-3AD203B41FA5}">
                      <a16:colId xmlns:a16="http://schemas.microsoft.com/office/drawing/2014/main" val="895563812"/>
                    </a:ext>
                  </a:extLst>
                </a:gridCol>
              </a:tblGrid>
              <a:tr h="346662">
                <a:tc>
                  <a:txBody>
                    <a:bodyPr/>
                    <a:lstStyle/>
                    <a:p>
                      <a:pPr>
                        <a:buNone/>
                      </a:pPr>
                      <a:r>
                        <a:rPr lang="en-US" sz="1400" b="1" dirty="0"/>
                        <a:t>Layer</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b="1" dirty="0"/>
                        <a:t>Technology</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b="1" dirty="0"/>
                        <a:t>What It Does</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7921649"/>
                  </a:ext>
                </a:extLst>
              </a:tr>
              <a:tr h="461960">
                <a:tc>
                  <a:txBody>
                    <a:bodyPr/>
                    <a:lstStyle/>
                    <a:p>
                      <a:pPr>
                        <a:buNone/>
                      </a:pPr>
                      <a:r>
                        <a:rPr lang="en-US" sz="1400" dirty="0"/>
                        <a:t>Data Source</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SEC EDGAR API (via edgartools)</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Fetches official financial filings and structured data directly from the government database</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99061"/>
                  </a:ext>
                </a:extLst>
              </a:tr>
              <a:tr h="461960">
                <a:tc>
                  <a:txBody>
                    <a:bodyPr/>
                    <a:lstStyle/>
                    <a:p>
                      <a:pPr>
                        <a:buNone/>
                      </a:pPr>
                      <a:r>
                        <a:rPr lang="en-US" sz="1400" dirty="0"/>
                        <a:t>Document Parsing</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BeautifulSoup4</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Splits raw filing text into meaningful sections — executive summary, footnotes, risk factors</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4198648"/>
                  </a:ext>
                </a:extLst>
              </a:tr>
              <a:tr h="461960">
                <a:tc>
                  <a:txBody>
                    <a:bodyPr/>
                    <a:lstStyle/>
                    <a:p>
                      <a:pPr>
                        <a:buNone/>
                      </a:pPr>
                      <a:r>
                        <a:rPr lang="en-US" sz="1400" dirty="0"/>
                        <a:t>Numeric Database</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err="1"/>
                        <a:t>DuckDB</a:t>
                      </a:r>
                      <a:endParaRPr lang="en-US" sz="1400" dirty="0"/>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Stores exact financial numbers for instant, error-free lookups — no AI guessing involved</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9280142"/>
                  </a:ext>
                </a:extLst>
              </a:tr>
              <a:tr h="461960">
                <a:tc>
                  <a:txBody>
                    <a:bodyPr/>
                    <a:lstStyle/>
                    <a:p>
                      <a:pPr>
                        <a:buNone/>
                      </a:pPr>
                      <a:r>
                        <a:rPr lang="en-US" sz="1400" dirty="0"/>
                        <a:t>Semantic Search</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err="1"/>
                        <a:t>ChromaDB</a:t>
                      </a:r>
                      <a:r>
                        <a:rPr lang="en-US" sz="1400" dirty="0"/>
                        <a:t> + sentence-transformers</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Understands the meaning behind a question to find relevant passages in the report text</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003699"/>
                  </a:ext>
                </a:extLst>
              </a:tr>
              <a:tr h="461960">
                <a:tc>
                  <a:txBody>
                    <a:bodyPr/>
                    <a:lstStyle/>
                    <a:p>
                      <a:pPr>
                        <a:buNone/>
                      </a:pPr>
                      <a:r>
                        <a:rPr lang="en-US" sz="1400" dirty="0"/>
                        <a:t>Keyword Search</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BM25</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Catches exact accounting terms and phrases that meaning-based search might miss</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854988"/>
                  </a:ext>
                </a:extLst>
              </a:tr>
              <a:tr h="461960">
                <a:tc>
                  <a:txBody>
                    <a:bodyPr/>
                    <a:lstStyle/>
                    <a:p>
                      <a:pPr>
                        <a:buNone/>
                      </a:pPr>
                      <a:r>
                        <a:rPr lang="en-US" sz="1400"/>
                        <a:t>Reranking</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Flashrank</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Picks the best, most relevant results from combined search methods</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1007572"/>
                  </a:ext>
                </a:extLst>
              </a:tr>
              <a:tr h="461960">
                <a:tc>
                  <a:txBody>
                    <a:bodyPr/>
                    <a:lstStyle/>
                    <a:p>
                      <a:pPr>
                        <a:buNone/>
                      </a:pPr>
                      <a:r>
                        <a:rPr lang="en-US" sz="1400"/>
                        <a:t>AI Reasoning</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Google Gemini (gemini-flash-latest)</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Compares a company's narrative claims against footnote disclosures to spot contradictions</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750626"/>
                  </a:ext>
                </a:extLst>
              </a:tr>
              <a:tr h="461960">
                <a:tc>
                  <a:txBody>
                    <a:bodyPr/>
                    <a:lstStyle/>
                    <a:p>
                      <a:pPr>
                        <a:buNone/>
                      </a:pPr>
                      <a:r>
                        <a:rPr lang="en-US" sz="1400"/>
                        <a:t>Query Routing</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Custom Python logic</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Automatically decides whether a question needs a number, a text search, or a contradiction check</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0807457"/>
                  </a:ext>
                </a:extLst>
              </a:tr>
              <a:tr h="461960">
                <a:tc>
                  <a:txBody>
                    <a:bodyPr/>
                    <a:lstStyle/>
                    <a:p>
                      <a:pPr>
                        <a:buNone/>
                      </a:pPr>
                      <a:r>
                        <a:rPr lang="en-US" sz="1400" dirty="0"/>
                        <a:t>Web Interface</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Streamlit</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Interactive dashboard where users can ask questions and see cited answers</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6716141"/>
                  </a:ext>
                </a:extLst>
              </a:tr>
              <a:tr h="461960">
                <a:tc>
                  <a:txBody>
                    <a:bodyPr/>
                    <a:lstStyle/>
                    <a:p>
                      <a:pPr>
                        <a:buNone/>
                      </a:pPr>
                      <a:r>
                        <a:rPr lang="en-US" sz="1400"/>
                        <a:t>Testing</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t>Pytest, RAGAS</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Verifies the system's accuracy through real, repeatable tests</a:t>
                      </a:r>
                    </a:p>
                  </a:txBody>
                  <a:tcPr marL="48921" marR="48921" marT="24460" marB="244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6309535"/>
                  </a:ext>
                </a:extLst>
              </a:tr>
            </a:tbl>
          </a:graphicData>
        </a:graphic>
      </p:graphicFrame>
    </p:spTree>
    <p:extLst>
      <p:ext uri="{BB962C8B-B14F-4D97-AF65-F5344CB8AC3E}">
        <p14:creationId xmlns:p14="http://schemas.microsoft.com/office/powerpoint/2010/main" val="4084703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357505"/>
            <a:ext cx="5648783" cy="4142989"/>
          </a:xfrm>
        </p:spPr>
        <p:txBody>
          <a:bodyPr/>
          <a:lstStyle/>
          <a:p>
            <a:pPr algn="just"/>
            <a:r>
              <a:rPr lang="en-US" sz="2400" b="0" dirty="0">
                <a:solidFill>
                  <a:schemeClr val="tx1"/>
                </a:solidFill>
                <a:latin typeface="Calibri (Body)"/>
              </a:rPr>
              <a:t>A working system that answers questions about SEC financial filings accurately giving exact numbers every time and flagging hidden risks in the fine print, tested and proven on real filings from Apple, Tesla, and JPMorgan.</a:t>
            </a:r>
          </a:p>
          <a:p>
            <a:pPr algn="just"/>
            <a:r>
              <a:rPr lang="en-US" sz="2400" b="0" dirty="0">
                <a:solidFill>
                  <a:schemeClr val="tx1"/>
                </a:solidFill>
                <a:latin typeface="Calibri (Body)"/>
              </a:rPr>
              <a:t>Clear proof that the approach actually works better than a standard AI method shown through a fair, side-by-side test where the standard approach failed and this system got every number right.</a:t>
            </a: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Flowchart &amp; Outcomes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8574374" y="57036"/>
            <a:ext cx="3617626" cy="369332"/>
          </a:xfrm>
          <a:prstGeom prst="rect">
            <a:avLst/>
          </a:prstGeom>
          <a:noFill/>
        </p:spPr>
        <p:txBody>
          <a:bodyPr wrap="square" rtlCol="0">
            <a:spAutoFit/>
          </a:bodyPr>
          <a:lstStyle/>
          <a:p>
            <a:pPr algn="ctr"/>
            <a:r>
              <a:rPr lang="en-IN" b="1" dirty="0">
                <a:solidFill>
                  <a:schemeClr val="bg1"/>
                </a:solidFill>
              </a:rPr>
              <a:t>SEC EDGAR Forensic Audit System</a:t>
            </a:r>
          </a:p>
        </p:txBody>
      </p:sp>
      <p:pic>
        <p:nvPicPr>
          <p:cNvPr id="9" name="Picture 8">
            <a:extLst>
              <a:ext uri="{FF2B5EF4-FFF2-40B4-BE49-F238E27FC236}">
                <a16:creationId xmlns:a16="http://schemas.microsoft.com/office/drawing/2014/main" id="{013F1AB6-3814-85B8-6255-D6022075A54F}"/>
              </a:ext>
            </a:extLst>
          </p:cNvPr>
          <p:cNvPicPr>
            <a:picLocks noChangeAspect="1"/>
          </p:cNvPicPr>
          <p:nvPr/>
        </p:nvPicPr>
        <p:blipFill>
          <a:blip r:embed="rId2"/>
          <a:stretch>
            <a:fillRect/>
          </a:stretch>
        </p:blipFill>
        <p:spPr>
          <a:xfrm>
            <a:off x="5984930" y="1191756"/>
            <a:ext cx="6098107" cy="4016088"/>
          </a:xfrm>
          <a:prstGeom prst="rect">
            <a:avLst/>
          </a:prstGeom>
        </p:spPr>
      </p:pic>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756</Words>
  <Application>Microsoft Office PowerPoint</Application>
  <PresentationFormat>Widescreen</PresentationFormat>
  <Paragraphs>74</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(Body)</vt:lpstr>
      <vt:lpstr>Calibri(Body)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Kishan Patel</cp:lastModifiedBy>
  <cp:revision>13</cp:revision>
  <dcterms:created xsi:type="dcterms:W3CDTF">2024-05-13T10:33:11Z</dcterms:created>
  <dcterms:modified xsi:type="dcterms:W3CDTF">2026-10-05T07:52:14Z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